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theme/theme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</p:sldIdLst>
  <p:sldSz cx="16374330" cy="9357542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>
</p:presentationPr>
</file>

<file path=ppt/tableStyles.xml><?xml version="1.0" encoding="utf-8"?>
<a:tblStyleLst xmlns:a="http://schemas.openxmlformats.org/drawingml/2006/main" def="{5C22544A-7EE6-4342-B048-85BDC9FD1C3A}">
</a:tblStyleLst>
</file>

<file path=ppt/_rels/presentation.xml.rels>&#65279;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.xml"/><Relationship Id="rId2" Type="http://schemas.openxmlformats.org/officeDocument/2006/relationships/theme" Target="theme/theme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/Relationships>
</file>

<file path=ppt/slideLayouts/_rels/slideLayout.xml.rels>&#65279;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.xml"/></Relationships>
</file>

<file path=ppt/slideLayouts/slideLayout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Relationship Id="rId2" Type="http://schemas.openxmlformats.org/officeDocument/2006/relationships/theme" Target="../theme/theme.xml"/></Relationships>
</file>

<file path=ppt/slideMasters/slid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.jpeg"/><Relationship Id="rId1" Type="http://schemas.openxmlformats.org/officeDocument/2006/relationships/slideLayout" Target="../slideLayouts/slideLayout.xml"/></Relationships>
</file>

<file path=ppt/slides/_rels/slide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.jpeg"/><Relationship Id="rId1" Type="http://schemas.openxmlformats.org/officeDocument/2006/relationships/slideLayout" Target="../slideLayouts/slideLayout.xml"/></Relationships>
</file>

<file path=ppt/slides/_rels/slide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.jpeg"/><Relationship Id="rId1" Type="http://schemas.openxmlformats.org/officeDocument/2006/relationships/slideLayout" Target="../slideLayouts/slideLayout.xml"/></Relationships>
</file>

<file path=ppt/slides/_rels/slide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.jpeg"/><Relationship Id="rId1" Type="http://schemas.openxmlformats.org/officeDocument/2006/relationships/slideLayout" Target="../slideLayouts/slideLayout.xml"/></Relationships>
</file>

<file path=ppt/slides/_rels/slide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.jpeg"/><Relationship Id="rPictId1" Type="http://schemas.openxmlformats.org/officeDocument/2006/relationships/image" Target="../media/image6.jpeg"/><Relationship Id="rPictId2" Type="http://schemas.openxmlformats.org/officeDocument/2006/relationships/image" Target="../media/image7.jpeg"/><Relationship Id="rPictId3" Type="http://schemas.openxmlformats.org/officeDocument/2006/relationships/image" Target="../media/image8.jpeg"/><Relationship Id="rPictId4" Type="http://schemas.openxmlformats.org/officeDocument/2006/relationships/image" Target="../media/image9.jpeg"/><Relationship Id="rId1" Type="http://schemas.openxmlformats.org/officeDocument/2006/relationships/slideLayout" Target="../slideLayouts/slideLayout.xml"/></Relationships>
</file>

<file path=ppt/slides/_rels/slide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.jpeg"/><Relationship Id="rPictId1" Type="http://schemas.openxmlformats.org/officeDocument/2006/relationships/image" Target="../media/image11.jpeg"/><Relationship Id="rPictId2" Type="http://schemas.openxmlformats.org/officeDocument/2006/relationships/image" Target="../media/image12.jpeg"/><Relationship Id="rPictId3" Type="http://schemas.openxmlformats.org/officeDocument/2006/relationships/image" Target="../media/image13.jpeg"/><Relationship Id="rId1" Type="http://schemas.openxmlformats.org/officeDocument/2006/relationships/slideLayout" Target="../slideLayouts/slideLayout.xml"/></Relationships>
</file>

<file path=ppt/slides/_rels/slide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4.jpeg"/><Relationship Id="rId1" Type="http://schemas.openxmlformats.org/officeDocument/2006/relationships/slideLayout" Target="../slideLayouts/slideLayout.xml"/></Relationships>
</file>

<file path=ppt/slides/_rels/slide1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5.jpeg"/><Relationship Id="rId1" Type="http://schemas.openxmlformats.org/officeDocument/2006/relationships/slideLayout" Target="../slideLayouts/slideLayout.xml"/></Relationships>
</file>

<file path=ppt/slides/_rels/slide1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6.jpeg"/><Relationship Id="rId1" Type="http://schemas.openxmlformats.org/officeDocument/2006/relationships/slideLayout" Target="../slideLayouts/slideLayout.xml"/></Relationships>
</file>

<file path=ppt/slides/_rels/slide1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7.jpeg"/><Relationship Id="rId1" Type="http://schemas.openxmlformats.org/officeDocument/2006/relationships/slideLayout" Target="../slideLayouts/slideLayout.xml"/></Relationships>
</file>

<file path=ppt/slides/_rels/slide1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8.jpeg"/><Relationship Id="rId1" Type="http://schemas.openxmlformats.org/officeDocument/2006/relationships/slideLayout" Target="../slideLayouts/slideLayout.xml"/></Relationships>
</file>

<file path=ppt/slides/_rels/slide1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9.jpeg"/><Relationship Id="rPictId1" Type="http://schemas.openxmlformats.org/officeDocument/2006/relationships/image" Target="../media/image20.jpeg"/><Relationship Id="rId1" Type="http://schemas.openxmlformats.org/officeDocument/2006/relationships/slideLayout" Target="../slideLayouts/slideLayout.xml"/></Relationships>
</file>

<file path=ppt/slides/_rels/slide1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1.jpeg"/><Relationship Id="rId1" Type="http://schemas.openxmlformats.org/officeDocument/2006/relationships/slideLayout" Target="../slideLayouts/slideLayout.xml"/></Relationships>
</file>

<file path=ppt/slides/_rels/slide1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2.jpeg"/><Relationship Id="rId1" Type="http://schemas.openxmlformats.org/officeDocument/2006/relationships/slideLayout" Target="../slideLayouts/slideLayout.xml"/></Relationships>
</file>

<file path=ppt/slides/_rels/slide1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3.jpeg"/><Relationship Id="rId1" Type="http://schemas.openxmlformats.org/officeDocument/2006/relationships/slideLayout" Target="../slideLayouts/slideLayout.xml"/></Relationships>
</file>

<file path=ppt/slides/_rels/slide1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4.jpeg"/><Relationship Id="rId1" Type="http://schemas.openxmlformats.org/officeDocument/2006/relationships/slideLayout" Target="../slideLayouts/slideLayout.xml"/></Relationships>
</file>

<file path=ppt/slides/_rels/slide2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5.jpeg"/><Relationship Id="rPictId1" Type="http://schemas.openxmlformats.org/officeDocument/2006/relationships/image" Target="../media/image26.jpeg"/><Relationship Id="rPictId2" Type="http://schemas.openxmlformats.org/officeDocument/2006/relationships/image" Target="../media/image27.jpeg"/><Relationship Id="rId1" Type="http://schemas.openxmlformats.org/officeDocument/2006/relationships/slideLayout" Target="../slideLayouts/slideLayout.xml"/></Relationships>
</file>

<file path=ppt/slides/_rels/slide2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8.jpeg"/><Relationship Id="rId1" Type="http://schemas.openxmlformats.org/officeDocument/2006/relationships/slideLayout" Target="../slideLayouts/slideLayout.xml"/></Relationships>
</file>

<file path=ppt/slides/_rels/slide2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29.jpeg"/><Relationship Id="rId1" Type="http://schemas.openxmlformats.org/officeDocument/2006/relationships/slideLayout" Target="../slideLayouts/slideLayout.xml"/></Relationships>
</file>

<file path=ppt/slides/_rels/slide2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0.jpeg"/><Relationship Id="rId1" Type="http://schemas.openxmlformats.org/officeDocument/2006/relationships/slideLayout" Target="../slideLayouts/slideLayout.xml"/></Relationships>
</file>

<file path=ppt/slides/_rels/slide2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1.jpeg"/><Relationship Id="rPictId1" Type="http://schemas.openxmlformats.org/officeDocument/2006/relationships/image" Target="../media/image32.jpeg"/><Relationship Id="rId1" Type="http://schemas.openxmlformats.org/officeDocument/2006/relationships/slideLayout" Target="../slideLayouts/slideLayout.xml"/></Relationships>
</file>

<file path=ppt/slides/_rels/slide2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3.jpeg"/><Relationship Id="rPictId1" Type="http://schemas.openxmlformats.org/officeDocument/2006/relationships/image" Target="../media/image34.jpeg"/><Relationship Id="rId1" Type="http://schemas.openxmlformats.org/officeDocument/2006/relationships/slideLayout" Target="../slideLayouts/slideLayout.xml"/><Relationship Id="rLinkId0" Type="http://schemas.openxmlformats.org/officeDocument/2006/relationships/hyperlink" Target="http://www.apcjones.com/arrows/%23" TargetMode="External"/></Relationships>
</file>

<file path=ppt/slides/_rels/slide2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5.jpeg"/><Relationship Id="rId1" Type="http://schemas.openxmlformats.org/officeDocument/2006/relationships/slideLayout" Target="../slideLayouts/slideLayout.xml"/></Relationships>
</file>

<file path=ppt/slides/_rels/slide2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36.jpeg"/><Relationship Id="rPictId1" Type="http://schemas.openxmlformats.org/officeDocument/2006/relationships/image" Target="../media/image37.jpeg"/><Relationship Id="rPictId2" Type="http://schemas.openxmlformats.org/officeDocument/2006/relationships/image" Target="../media/image38.jpeg"/><Relationship Id="rPictId3" Type="http://schemas.openxmlformats.org/officeDocument/2006/relationships/image" Target="../media/image39.jpeg"/><Relationship Id="rPictId4" Type="http://schemas.openxmlformats.org/officeDocument/2006/relationships/image" Target="../media/image40.jpeg"/><Relationship Id="rId1" Type="http://schemas.openxmlformats.org/officeDocument/2006/relationships/slideLayout" Target="../slideLayouts/slideLayout.xml"/></Relationships>
</file>

<file path=ppt/slides/_rels/slide2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1.jpeg"/><Relationship Id="rPictId1" Type="http://schemas.openxmlformats.org/officeDocument/2006/relationships/image" Target="../media/image42.jpeg"/><Relationship Id="rPictId2" Type="http://schemas.openxmlformats.org/officeDocument/2006/relationships/image" Target="../media/image43.jpeg"/><Relationship Id="rPictId3" Type="http://schemas.openxmlformats.org/officeDocument/2006/relationships/image" Target="../media/image44.jpeg"/><Relationship Id="rPictId4" Type="http://schemas.openxmlformats.org/officeDocument/2006/relationships/image" Target="../media/image45.jpeg"/><Relationship Id="rId1" Type="http://schemas.openxmlformats.org/officeDocument/2006/relationships/slideLayout" Target="../slideLayouts/slideLayout.xml"/></Relationships>
</file>

<file path=ppt/slides/_rels/slide2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6.jpeg"/><Relationship Id="rId1" Type="http://schemas.openxmlformats.org/officeDocument/2006/relationships/slideLayout" Target="../slideLayouts/slideLayout.xml"/></Relationships>
</file>

<file path=ppt/slides/_rels/slide3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7.jpeg"/><Relationship Id="rId1" Type="http://schemas.openxmlformats.org/officeDocument/2006/relationships/slideLayout" Target="../slideLayouts/slideLayout.xml"/></Relationships>
</file>

<file path=ppt/slides/_rels/slide3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48.jpeg"/><Relationship Id="rPictId1" Type="http://schemas.openxmlformats.org/officeDocument/2006/relationships/image" Target="../media/image49.jpeg"/><Relationship Id="rPictId2" Type="http://schemas.openxmlformats.org/officeDocument/2006/relationships/image" Target="../media/image50.jpeg"/><Relationship Id="rPictId3" Type="http://schemas.openxmlformats.org/officeDocument/2006/relationships/image" Target="../media/image51.jpeg"/><Relationship Id="rId1" Type="http://schemas.openxmlformats.org/officeDocument/2006/relationships/slideLayout" Target="../slideLayouts/slideLayout.xml"/></Relationships>
</file>

<file path=ppt/slides/_rels/slide3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2.jpeg"/><Relationship Id="rPictId1" Type="http://schemas.openxmlformats.org/officeDocument/2006/relationships/image" Target="../media/image53.jpeg"/><Relationship Id="rPictId2" Type="http://schemas.openxmlformats.org/officeDocument/2006/relationships/image" Target="../media/image54.jpeg"/><Relationship Id="rId1" Type="http://schemas.openxmlformats.org/officeDocument/2006/relationships/slideLayout" Target="../slideLayouts/slideLayout.xml"/></Relationships>
</file>

<file path=ppt/slides/_rels/slide3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5.jpeg"/><Relationship Id="rId1" Type="http://schemas.openxmlformats.org/officeDocument/2006/relationships/slideLayout" Target="../slideLayouts/slideLayout.xml"/></Relationships>
</file>

<file path=ppt/slides/_rels/slide3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6.jpeg"/><Relationship Id="rId1" Type="http://schemas.openxmlformats.org/officeDocument/2006/relationships/slideLayout" Target="../slideLayouts/slideLayout.xml"/></Relationships>
</file>

<file path=ppt/slides/_rels/slide3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7.jpeg"/><Relationship Id="rId1" Type="http://schemas.openxmlformats.org/officeDocument/2006/relationships/slideLayout" Target="../slideLayouts/slideLayout.xml"/></Relationships>
</file>

<file path=ppt/slides/_rels/slide3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8.jpeg"/><Relationship Id="rId1" Type="http://schemas.openxmlformats.org/officeDocument/2006/relationships/slideLayout" Target="../slideLayouts/slideLayout.xml"/></Relationships>
</file>

<file path=ppt/slides/_rels/slide3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59.jpeg"/><Relationship Id="rId1" Type="http://schemas.openxmlformats.org/officeDocument/2006/relationships/slideLayout" Target="../slideLayouts/slideLayout.xml"/></Relationships>
</file>

<file path=ppt/slides/_rels/slide3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0.jpeg"/><Relationship Id="rId1" Type="http://schemas.openxmlformats.org/officeDocument/2006/relationships/slideLayout" Target="../slideLayouts/slideLayout.xml"/></Relationships>
</file>

<file path=ppt/slides/_rels/slide3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1.jpeg"/><Relationship Id="rId1" Type="http://schemas.openxmlformats.org/officeDocument/2006/relationships/slideLayout" Target="../slideLayouts/slideLayout.xml"/></Relationships>
</file>

<file path=ppt/slides/_rels/slide4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2.jpeg"/><Relationship Id="rId1" Type="http://schemas.openxmlformats.org/officeDocument/2006/relationships/slideLayout" Target="../slideLayouts/slideLayout.xml"/></Relationships>
</file>

<file path=ppt/slides/_rels/slide4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3.jpeg"/><Relationship Id="rId1" Type="http://schemas.openxmlformats.org/officeDocument/2006/relationships/slideLayout" Target="../slideLayouts/slideLayout.xml"/></Relationships>
</file>

<file path=ppt/slides/_rels/slide4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4.jpeg"/><Relationship Id="rId1" Type="http://schemas.openxmlformats.org/officeDocument/2006/relationships/slideLayout" Target="../slideLayouts/slideLayout.xml"/></Relationships>
</file>

<file path=ppt/slides/_rels/slide4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5.jpeg"/><Relationship Id="rId1" Type="http://schemas.openxmlformats.org/officeDocument/2006/relationships/slideLayout" Target="../slideLayouts/slideLayout.xml"/></Relationships>
</file>

<file path=ppt/slides/_rels/slide4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6.jpeg"/><Relationship Id="rId1" Type="http://schemas.openxmlformats.org/officeDocument/2006/relationships/slideLayout" Target="../slideLayouts/slideLayout.xml"/></Relationships>
</file>

<file path=ppt/slides/_rels/slide4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7.jpeg"/><Relationship Id="rId1" Type="http://schemas.openxmlformats.org/officeDocument/2006/relationships/slideLayout" Target="../slideLayouts/slideLayout.xml"/></Relationships>
</file>

<file path=ppt/slides/_rels/slide4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8.jpeg"/><Relationship Id="rId1" Type="http://schemas.openxmlformats.org/officeDocument/2006/relationships/slideLayout" Target="../slideLayouts/slideLayout.xml"/></Relationships>
</file>

<file path=ppt/slides/_rels/slide4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69.jpeg"/><Relationship Id="rId1" Type="http://schemas.openxmlformats.org/officeDocument/2006/relationships/slideLayout" Target="../slideLayouts/slideLayout.xml"/></Relationships>
</file>

<file path=ppt/slides/_rels/slide4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0.jpeg"/><Relationship Id="rId1" Type="http://schemas.openxmlformats.org/officeDocument/2006/relationships/slideLayout" Target="../slideLayouts/slideLayout.xml"/></Relationships>
</file>

<file path=ppt/slides/_rels/slide4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1.jpeg"/><Relationship Id="rId1" Type="http://schemas.openxmlformats.org/officeDocument/2006/relationships/slideLayout" Target="../slideLayouts/slideLayout.xml"/></Relationships>
</file>

<file path=ppt/slides/_rels/slide50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5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2.jpeg"/><Relationship Id="rId1" Type="http://schemas.openxmlformats.org/officeDocument/2006/relationships/slideLayout" Target="../slideLayouts/slideLayout.xml"/></Relationships>
</file>

<file path=ppt/slides/_rels/slide5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3.jpeg"/><Relationship Id="rId1" Type="http://schemas.openxmlformats.org/officeDocument/2006/relationships/slideLayout" Target="../slideLayouts/slideLayout.xml"/></Relationships>
</file>

<file path=ppt/slides/_rels/slide53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5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4.jpeg"/><Relationship Id="rPictId1" Type="http://schemas.openxmlformats.org/officeDocument/2006/relationships/image" Target="../media/image75.jpeg"/><Relationship Id="rId1" Type="http://schemas.openxmlformats.org/officeDocument/2006/relationships/slideLayout" Target="../slideLayouts/slideLayout.xml"/></Relationships>
</file>

<file path=ppt/slides/_rels/slide55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5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6.jpeg"/><Relationship Id="rId1" Type="http://schemas.openxmlformats.org/officeDocument/2006/relationships/slideLayout" Target="../slideLayouts/slideLayout.xml"/></Relationships>
</file>

<file path=ppt/slides/_rels/slide5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7.jpeg"/><Relationship Id="rPictId1" Type="http://schemas.openxmlformats.org/officeDocument/2006/relationships/image" Target="../media/image78.jpeg"/><Relationship Id="rId1" Type="http://schemas.openxmlformats.org/officeDocument/2006/relationships/slideLayout" Target="../slideLayouts/slideLayout.xml"/></Relationships>
</file>

<file path=ppt/slides/_rels/slide5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79.jpeg"/><Relationship Id="rId1" Type="http://schemas.openxmlformats.org/officeDocument/2006/relationships/slideLayout" Target="../slideLayouts/slideLayout.xml"/></Relationships>
</file>

<file path=ppt/slides/_rels/slide5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0.jpeg"/><Relationship Id="rId1" Type="http://schemas.openxmlformats.org/officeDocument/2006/relationships/slideLayout" Target="../slideLayouts/slideLayout.xml"/></Relationships>
</file>

<file path=ppt/slides/_rels/slide6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1.jpeg"/><Relationship Id="rPictId1" Type="http://schemas.openxmlformats.org/officeDocument/2006/relationships/image" Target="../media/image82.jpeg"/><Relationship Id="rId1" Type="http://schemas.openxmlformats.org/officeDocument/2006/relationships/slideLayout" Target="../slideLayouts/slideLayout.xml"/></Relationships>
</file>

<file path=ppt/slides/_rels/slide6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3.jpeg"/><Relationship Id="rPictId1" Type="http://schemas.openxmlformats.org/officeDocument/2006/relationships/image" Target="../media/image84.jpeg"/><Relationship Id="rPictId2" Type="http://schemas.openxmlformats.org/officeDocument/2006/relationships/image" Target="../media/image85.jpeg"/><Relationship Id="rId1" Type="http://schemas.openxmlformats.org/officeDocument/2006/relationships/slideLayout" Target="../slideLayouts/slideLayout.xml"/></Relationships>
</file>

<file path=ppt/slides/_rels/slide6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6.jpeg"/><Relationship Id="rId1" Type="http://schemas.openxmlformats.org/officeDocument/2006/relationships/slideLayout" Target="../slideLayouts/slideLayout.xml"/></Relationships>
</file>

<file path=ppt/slides/_rels/slide6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7.jpeg"/><Relationship Id="rId1" Type="http://schemas.openxmlformats.org/officeDocument/2006/relationships/slideLayout" Target="../slideLayouts/slideLayout.xml"/></Relationships>
</file>

<file path=ppt/slides/_rels/slide64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88.png"/><Relationship Id="rPictId1" Type="http://schemas.openxmlformats.org/officeDocument/2006/relationships/image" Target="../media/image89.png"/><Relationship Id="rPictId2" Type="http://schemas.openxmlformats.org/officeDocument/2006/relationships/image" Target="../media/image90.jpeg"/><Relationship Id="rPictId3" Type="http://schemas.openxmlformats.org/officeDocument/2006/relationships/image" Target="../media/image91.png"/><Relationship Id="rPictId4" Type="http://schemas.openxmlformats.org/officeDocument/2006/relationships/image" Target="../media/image92.jpeg"/><Relationship Id="rPictId5" Type="http://schemas.openxmlformats.org/officeDocument/2006/relationships/image" Target="../media/image93.jpeg"/><Relationship Id="rPictId6" Type="http://schemas.openxmlformats.org/officeDocument/2006/relationships/image" Target="../media/image94.jpeg"/><Relationship Id="rPictId7" Type="http://schemas.openxmlformats.org/officeDocument/2006/relationships/image" Target="../media/image95.jpeg"/><Relationship Id="rId1" Type="http://schemas.openxmlformats.org/officeDocument/2006/relationships/slideLayout" Target="../slideLayouts/slideLayout.xml"/></Relationships>
</file>

<file path=ppt/slides/_rels/slide65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96.jpeg"/><Relationship Id="rPictId1" Type="http://schemas.openxmlformats.org/officeDocument/2006/relationships/image" Target="../media/image97.png"/><Relationship Id="rPictId2" Type="http://schemas.openxmlformats.org/officeDocument/2006/relationships/image" Target="../media/image98.jpeg"/><Relationship Id="rId1" Type="http://schemas.openxmlformats.org/officeDocument/2006/relationships/slideLayout" Target="../slideLayouts/slideLayout.xml"/></Relationships>
</file>

<file path=ppt/slides/_rels/slide66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99.jpeg"/><Relationship Id="rPictId1" Type="http://schemas.openxmlformats.org/officeDocument/2006/relationships/image" Target="../media/image100.png"/><Relationship Id="rPictId2" Type="http://schemas.openxmlformats.org/officeDocument/2006/relationships/image" Target="../media/image101.jpeg"/><Relationship Id="rId1" Type="http://schemas.openxmlformats.org/officeDocument/2006/relationships/slideLayout" Target="../slideLayouts/slideLayout.xml"/></Relationships>
</file>

<file path=ppt/slides/_rels/slide67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2.png"/><Relationship Id="rPictId1" Type="http://schemas.openxmlformats.org/officeDocument/2006/relationships/image" Target="../media/image103.jpeg"/><Relationship Id="rId1" Type="http://schemas.openxmlformats.org/officeDocument/2006/relationships/slideLayout" Target="../slideLayouts/slideLayout.xml"/></Relationships>
</file>

<file path=ppt/slides/_rels/slide68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4.jpeg"/><Relationship Id="rId1" Type="http://schemas.openxmlformats.org/officeDocument/2006/relationships/slideLayout" Target="../slideLayouts/slideLayout.xml"/></Relationships>
</file>

<file path=ppt/slides/_rels/slide69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5.jpeg"/><Relationship Id="rId1" Type="http://schemas.openxmlformats.org/officeDocument/2006/relationships/slideLayout" Target="../slideLayouts/slideLayout.xml"/></Relationships>
</file>

<file path=ppt/slides/_rels/slide70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6.jpeg"/><Relationship Id="rPictId1" Type="http://schemas.openxmlformats.org/officeDocument/2006/relationships/image" Target="../media/image107.jpeg"/><Relationship Id="rPictId2" Type="http://schemas.openxmlformats.org/officeDocument/2006/relationships/image" Target="../media/image108.jpeg"/><Relationship Id="rId1" Type="http://schemas.openxmlformats.org/officeDocument/2006/relationships/slideLayout" Target="../slideLayouts/slideLayout.xml"/></Relationships>
</file>

<file path=ppt/slides/_rels/slide71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09.jpeg"/><Relationship Id="rId1" Type="http://schemas.openxmlformats.org/officeDocument/2006/relationships/slideLayout" Target="../slideLayouts/slideLayout.xml"/></Relationships>
</file>

<file path=ppt/slides/_rels/slide72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10.jpeg"/><Relationship Id="rPictId1" Type="http://schemas.openxmlformats.org/officeDocument/2006/relationships/image" Target="../media/image111.jpeg"/><Relationship Id="rId1" Type="http://schemas.openxmlformats.org/officeDocument/2006/relationships/slideLayout" Target="../slideLayouts/slideLayout.xml"/></Relationships>
</file>

<file path=ppt/slides/_rels/slide73.xml.rels>&#65279;<?xml version="1.0" encoding="UTF-8" standalone="yes"?>
<Relationships xmlns="http://schemas.openxmlformats.org/package/2006/relationships"><Relationship Id="rPictId0" Type="http://schemas.openxmlformats.org/officeDocument/2006/relationships/image" Target="../media/image112.jpeg"/><Relationship Id="rId1" Type="http://schemas.openxmlformats.org/officeDocument/2006/relationships/slideLayout" Target="../slideLayouts/slide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169008" y="3676764"/>
            <a:ext cx="10392402" cy="1760356"/>
          </a:xfrm>
          <a:prstGeom prst="rect">
            <a:avLst/>
          </a:prstGeom>
          <a:solidFill>
            <a:srgbClr val="95A1D2"/>
          </a:solidFill>
        </p:spPr>
        <p:txBody>
          <a:bodyPr lIns="0" tIns="0" rIns="0" bIns="0">
            <a:noAutofit/>
          </a:bodyPr>
          <a:p>
            <a:pPr indent="0">
              <a:spcAft>
                <a:spcPts val="2100"/>
              </a:spcAft>
            </a:pPr>
            <a:r>
              <a:rPr lang="en-US" b="1" sz="7600" spc="-50">
                <a:solidFill>
                  <a:srgbClr val="FFFFFF"/>
                </a:solidFill>
                <a:latin typeface="Tahoma"/>
              </a:rPr>
              <a:t>Graph Data Modeling</a:t>
            </a:r>
          </a:p>
          <a:p>
            <a:pPr indent="0"/>
            <a:r>
              <a:rPr lang="en-US" sz="4200">
                <a:solidFill>
                  <a:srgbClr val="FFFFFF"/>
                </a:solidFill>
                <a:latin typeface="Arial"/>
              </a:rPr>
              <a:t>Tips and Tricks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877056" y="0"/>
            <a:ext cx="6092952" cy="9144000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377952" y="7269480"/>
            <a:ext cx="2072640" cy="1517904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7104"/>
              </a:lnSpc>
            </a:pPr>
            <a:r>
              <a:rPr lang="en-US" b="1" sz="5000" spc="-100">
                <a:solidFill>
                  <a:srgbClr val="FFFFFF"/>
                </a:solidFill>
                <a:latin typeface="Arial"/>
              </a:rPr>
              <a:t>About Me !</a:t>
            </a:r>
          </a:p>
        </p:txBody>
      </p:sp>
      <p:sp>
        <p:nvSpPr>
          <p:cNvPr id="4" name=""/>
          <p:cNvSpPr/>
          <p:nvPr/>
        </p:nvSpPr>
        <p:spPr>
          <a:xfrm>
            <a:off x="10271760" y="1161288"/>
            <a:ext cx="3870960" cy="8534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Max De Marzi</a:t>
            </a:r>
          </a:p>
          <a:p>
            <a:pPr indent="0">
              <a:spcAft>
                <a:spcPts val="6720"/>
              </a:spcAft>
            </a:pPr>
            <a:r>
              <a:rPr lang="en-US" sz="3200">
                <a:solidFill>
                  <a:srgbClr val="5C5B52"/>
                </a:solidFill>
                <a:latin typeface="Arial"/>
              </a:rPr>
              <a:t>Neo4j Field Engineer</a:t>
            </a:r>
          </a:p>
        </p:txBody>
      </p:sp>
      <p:sp>
        <p:nvSpPr>
          <p:cNvPr id="5" name=""/>
          <p:cNvSpPr/>
          <p:nvPr/>
        </p:nvSpPr>
        <p:spPr>
          <a:xfrm>
            <a:off x="10177272" y="3154680"/>
            <a:ext cx="5269992" cy="48188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Bef>
                <a:spcPts val="6720"/>
              </a:spcBef>
              <a:spcAft>
                <a:spcPts val="105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maxdemarzi.com</a:t>
            </a:r>
          </a:p>
          <a:p>
            <a:pPr indent="0">
              <a:spcAft>
                <a:spcPts val="5250"/>
              </a:spcAft>
            </a:pPr>
            <a:r>
              <a:rPr lang="en-US" sz="3000">
                <a:solidFill>
                  <a:srgbClr val="5C5B52"/>
                </a:solidFill>
                <a:latin typeface="Arial"/>
              </a:rPr>
              <a:t>About 160 blog posts</a:t>
            </a:r>
          </a:p>
          <a:p>
            <a:pPr indent="0">
              <a:spcAft>
                <a:spcPts val="525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@maxdemarzi</a:t>
            </a:r>
          </a:p>
          <a:p>
            <a:pPr indent="0">
              <a:spcAft>
                <a:spcPts val="273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github.com/maxdemarzi</a:t>
            </a:r>
          </a:p>
          <a:p>
            <a:pPr indent="0"/>
            <a:r>
              <a:rPr lang="en-US" sz="3000">
                <a:solidFill>
                  <a:srgbClr val="5C5B52"/>
                </a:solidFill>
                <a:latin typeface="Arial"/>
              </a:rPr>
              <a:t>About 200 public repositories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136904" y="1243584"/>
            <a:ext cx="11893296" cy="65867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3780"/>
              </a:spcAft>
            </a:pPr>
            <a:r>
              <a:rPr lang="en-US" b="1" sz="5800">
                <a:latin typeface="Tahoma"/>
              </a:rPr>
              <a:t>Agenda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Property Graph Data Model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The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most important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Slide about Neo4j </a:t>
            </a:r>
            <a:r>
              <a:rPr lang="en-US" b="1" sz="3100">
                <a:solidFill>
                  <a:srgbClr val="BD0F06"/>
                </a:solidFill>
                <a:latin typeface="Arial"/>
              </a:rPr>
              <a:t>you will ever see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Basics of Modeling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Modeling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Acting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Modeling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Flights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Modeling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Twitter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Modeling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Forms</a:t>
            </a:r>
          </a:p>
          <a:p>
            <a:pPr algn="just" indent="0">
              <a:lnSpc>
                <a:spcPts val="53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•    Modeling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Chains</a:t>
            </a:r>
          </a:p>
        </p:txBody>
      </p:sp>
      <p:sp>
        <p:nvSpPr>
          <p:cNvPr id="3" name=""/>
          <p:cNvSpPr/>
          <p:nvPr/>
        </p:nvSpPr>
        <p:spPr>
          <a:xfrm>
            <a:off x="15163800" y="8385048"/>
            <a:ext cx="841248" cy="2926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neozj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0"/>
            <a:ext cx="16254984" cy="9144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7455408" y="2859024"/>
            <a:ext cx="8537448" cy="588873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792480" y="237744"/>
            <a:ext cx="15124176" cy="929640"/>
          </a:xfrm>
          <a:prstGeom prst="rect">
            <a:avLst/>
          </a:prstGeom>
          <a:solidFill>
            <a:srgbClr val="6FBEDB"/>
          </a:solidFill>
        </p:spPr>
        <p:txBody>
          <a:bodyPr lIns="0" tIns="0" rIns="0" bIns="0" wrap="none">
            <a:noAutofit/>
          </a:bodyPr>
          <a:p>
            <a:pPr marL="134620" indent="0">
              <a:spcAft>
                <a:spcPts val="4620"/>
              </a:spcAft>
            </a:pPr>
            <a:r>
              <a:rPr lang="en-US" b="1" sz="5800">
                <a:solidFill>
                  <a:srgbClr val="FFFFFF"/>
                </a:solidFill>
                <a:latin typeface="Tahoma"/>
              </a:rPr>
              <a:t>Property Graph Model </a:t>
            </a:r>
            <a:r>
              <a:rPr lang="en-US" b="1" sz="7600" spc="-50">
                <a:solidFill>
                  <a:srgbClr val="FFFFFF"/>
                </a:solidFill>
                <a:latin typeface="Tahoma"/>
              </a:rPr>
              <a:t>Components</a:t>
            </a:r>
          </a:p>
        </p:txBody>
      </p:sp>
      <p:sp>
        <p:nvSpPr>
          <p:cNvPr id="4" name=""/>
          <p:cNvSpPr/>
          <p:nvPr/>
        </p:nvSpPr>
        <p:spPr>
          <a:xfrm>
            <a:off x="7327392" y="1807464"/>
            <a:ext cx="1539240" cy="219456"/>
          </a:xfrm>
          <a:prstGeom prst="rect">
            <a:avLst/>
          </a:prstGeom>
          <a:solidFill>
            <a:srgbClr val="6FBEDB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2000">
                <a:solidFill>
                  <a:srgbClr val="FFFFFF"/>
                </a:solidFill>
                <a:latin typeface="Arial"/>
              </a:rPr>
              <a:t>name:"Dan"</a:t>
            </a:r>
          </a:p>
        </p:txBody>
      </p:sp>
      <p:sp>
        <p:nvSpPr>
          <p:cNvPr id="5" name=""/>
          <p:cNvSpPr/>
          <p:nvPr/>
        </p:nvSpPr>
        <p:spPr>
          <a:xfrm>
            <a:off x="7315200" y="2139696"/>
            <a:ext cx="8351520" cy="627888"/>
          </a:xfrm>
          <a:prstGeom prst="rect">
            <a:avLst/>
          </a:prstGeom>
          <a:solidFill>
            <a:srgbClr val="70C6BB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2736"/>
              </a:lnSpc>
            </a:pPr>
            <a:r>
              <a:rPr lang="en-US" b="1" sz="2000">
                <a:solidFill>
                  <a:srgbClr val="FFFFFF"/>
                </a:solidFill>
                <a:latin typeface="Arial"/>
              </a:rPr>
              <a:t>born: May 29, 1970    name:"Ann"</a:t>
            </a:r>
          </a:p>
          <a:p>
            <a:pPr algn="just" indent="0">
              <a:lnSpc>
                <a:spcPts val="2736"/>
              </a:lnSpc>
            </a:pPr>
            <a:r>
              <a:rPr lang="en-US" b="1" sz="2000">
                <a:solidFill>
                  <a:srgbClr val="FFFFFF"/>
                </a:solidFill>
                <a:latin typeface="Arial"/>
              </a:rPr>
              <a:t>twitter:"@dan"    born: Dec 5, 1975</a:t>
            </a:r>
          </a:p>
        </p:txBody>
      </p:sp>
      <p:sp>
        <p:nvSpPr>
          <p:cNvPr id="6" name=""/>
          <p:cNvSpPr/>
          <p:nvPr/>
        </p:nvSpPr>
        <p:spPr>
          <a:xfrm>
            <a:off x="883920" y="3020568"/>
            <a:ext cx="6504432" cy="3654552"/>
          </a:xfrm>
          <a:prstGeom prst="rect">
            <a:avLst/>
          </a:prstGeom>
          <a:solidFill>
            <a:srgbClr val="6FBEDB"/>
          </a:solidFill>
        </p:spPr>
        <p:txBody>
          <a:bodyPr lIns="0" tIns="0" rIns="0" bIns="0">
            <a:noAutofit/>
          </a:bodyPr>
          <a:p>
            <a:pPr algn="just" indent="0">
              <a:spcBef>
                <a:spcPts val="1470"/>
              </a:spcBef>
              <a:spcAft>
                <a:spcPts val="1470"/>
              </a:spcAft>
            </a:pPr>
            <a:r>
              <a:rPr lang="en-US" b="1" sz="3100">
                <a:solidFill>
                  <a:srgbClr val="FFFFFF"/>
                </a:solidFill>
                <a:latin typeface="Arial"/>
              </a:rPr>
              <a:t>Nodes</a:t>
            </a:r>
          </a:p>
          <a:p>
            <a:pPr algn="just" indent="0">
              <a:spcAft>
                <a:spcPts val="1050"/>
              </a:spcAft>
            </a:pPr>
            <a:r>
              <a:rPr lang="en-US" b="1" sz="3300">
                <a:solidFill>
                  <a:srgbClr val="FFFFFF"/>
                </a:solidFill>
                <a:latin typeface="Calibri"/>
              </a:rPr>
              <a:t>•    Can have </a:t>
            </a:r>
            <a:r>
              <a:rPr lang="en-US" b="1" i="1" sz="3300">
                <a:solidFill>
                  <a:srgbClr val="FFFFFF"/>
                </a:solidFill>
                <a:latin typeface="Calibri"/>
              </a:rPr>
              <a:t>Labels</a:t>
            </a:r>
          </a:p>
          <a:p>
            <a:pPr algn="just" indent="0">
              <a:spcAft>
                <a:spcPts val="3150"/>
              </a:spcAft>
            </a:pPr>
            <a:r>
              <a:rPr lang="en-US" b="1" sz="3300">
                <a:solidFill>
                  <a:srgbClr val="FFFFFF"/>
                </a:solidFill>
                <a:latin typeface="Calibri"/>
              </a:rPr>
              <a:t>•    Can have </a:t>
            </a:r>
            <a:r>
              <a:rPr lang="en-US" b="1" i="1" sz="3300">
                <a:solidFill>
                  <a:srgbClr val="FFFFFF"/>
                </a:solidFill>
                <a:latin typeface="Calibri"/>
              </a:rPr>
              <a:t>Properties</a:t>
            </a:r>
          </a:p>
          <a:p>
            <a:pPr algn="just" indent="0">
              <a:spcAft>
                <a:spcPts val="1470"/>
              </a:spcAft>
            </a:pPr>
            <a:r>
              <a:rPr lang="en-US" b="1" sz="3100">
                <a:solidFill>
                  <a:srgbClr val="FFFFFF"/>
                </a:solidFill>
                <a:latin typeface="Arial"/>
              </a:rPr>
              <a:t>Relationships</a:t>
            </a:r>
          </a:p>
          <a:p>
            <a:pPr algn="just" indent="0">
              <a:spcAft>
                <a:spcPts val="1050"/>
              </a:spcAft>
            </a:pPr>
            <a:r>
              <a:rPr lang="en-US" b="1" sz="3300">
                <a:solidFill>
                  <a:srgbClr val="FFFFFF"/>
                </a:solidFill>
                <a:latin typeface="Calibri"/>
              </a:rPr>
              <a:t>•    Relate nodes by </a:t>
            </a:r>
            <a:r>
              <a:rPr lang="en-US" b="1" i="1" sz="3300">
                <a:solidFill>
                  <a:srgbClr val="FFFFFF"/>
                </a:solidFill>
                <a:latin typeface="Calibri"/>
              </a:rPr>
              <a:t>type</a:t>
            </a:r>
            <a:r>
              <a:rPr lang="en-US" b="1" sz="3300">
                <a:solidFill>
                  <a:srgbClr val="FFFFFF"/>
                </a:solidFill>
                <a:latin typeface="Calibri"/>
              </a:rPr>
              <a:t> and </a:t>
            </a:r>
            <a:r>
              <a:rPr lang="en-US" b="1" i="1" sz="3300">
                <a:solidFill>
                  <a:srgbClr val="FFFFFF"/>
                </a:solidFill>
                <a:latin typeface="Calibri"/>
              </a:rPr>
              <a:t>direction</a:t>
            </a:r>
          </a:p>
          <a:p>
            <a:pPr algn="just" indent="0"/>
            <a:r>
              <a:rPr lang="en-US" b="1" sz="3300">
                <a:solidFill>
                  <a:srgbClr val="FFFFFF"/>
                </a:solidFill>
                <a:latin typeface="Calibri"/>
              </a:rPr>
              <a:t>•    Can have </a:t>
            </a:r>
            <a:r>
              <a:rPr lang="en-US" b="1" i="1" sz="3300">
                <a:solidFill>
                  <a:srgbClr val="FFFFFF"/>
                </a:solidFill>
                <a:latin typeface="Calibri"/>
              </a:rPr>
              <a:t>Properties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344168" y="1402080"/>
            <a:ext cx="12835128" cy="763219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67512" y="557784"/>
            <a:ext cx="10680192" cy="731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What you (probably) already know: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731264" y="88392"/>
            <a:ext cx="2977896" cy="198729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740408" y="3593592"/>
            <a:ext cx="2974848" cy="1993392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5053584" y="6083808"/>
            <a:ext cx="1490472" cy="195681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6687312" y="73152"/>
            <a:ext cx="7857744" cy="5498592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>
          <a:blip r:embed="rPictId4"/>
          <a:stretch>
            <a:fillRect/>
          </a:stretch>
        </p:blipFill>
        <p:spPr>
          <a:xfrm>
            <a:off x="8369808" y="6065520"/>
            <a:ext cx="2983992" cy="1996440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2276856" y="2093976"/>
            <a:ext cx="1807464" cy="4541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2040"/>
              </a:lnSpc>
            </a:pPr>
            <a:r>
              <a:rPr lang="en-US" b="1" sz="1300">
                <a:latin typeface="Arial"/>
              </a:rPr>
              <a:t>SELECT &lt;auswahl&gt; FROM tabelleA A</a:t>
            </a:r>
          </a:p>
        </p:txBody>
      </p:sp>
      <p:sp>
        <p:nvSpPr>
          <p:cNvPr id="8" name=""/>
          <p:cNvSpPr/>
          <p:nvPr/>
        </p:nvSpPr>
        <p:spPr>
          <a:xfrm>
            <a:off x="2279904" y="2612136"/>
            <a:ext cx="1987296" cy="4876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2016"/>
              </a:lnSpc>
            </a:pPr>
            <a:r>
              <a:rPr lang="en-US" b="1" sz="1300">
                <a:latin typeface="Arial"/>
              </a:rPr>
              <a:t>LEFT JOIN tabelleB B ON A.key = B.key</a:t>
            </a:r>
          </a:p>
        </p:txBody>
      </p:sp>
      <p:sp>
        <p:nvSpPr>
          <p:cNvPr id="9" name=""/>
          <p:cNvSpPr/>
          <p:nvPr/>
        </p:nvSpPr>
        <p:spPr>
          <a:xfrm>
            <a:off x="2292096" y="5614416"/>
            <a:ext cx="1807464" cy="1981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latin typeface="Arial"/>
              </a:rPr>
              <a:t>SELECT &lt;auswahl&gt;</a:t>
            </a:r>
          </a:p>
        </p:txBody>
      </p:sp>
      <p:sp>
        <p:nvSpPr>
          <p:cNvPr id="10" name=""/>
          <p:cNvSpPr/>
          <p:nvPr/>
        </p:nvSpPr>
        <p:spPr>
          <a:xfrm>
            <a:off x="2261616" y="5858256"/>
            <a:ext cx="2103120" cy="10119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FROM tabelleA A LEFT JOIN tabelleB B ON A.key = B.key WHERE B.key IS NULL</a:t>
            </a:r>
          </a:p>
        </p:txBody>
      </p:sp>
      <p:sp>
        <p:nvSpPr>
          <p:cNvPr id="11" name=""/>
          <p:cNvSpPr/>
          <p:nvPr/>
        </p:nvSpPr>
        <p:spPr>
          <a:xfrm>
            <a:off x="3063240" y="7519416"/>
            <a:ext cx="1767840" cy="4145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SELECT &lt;auswahl&gt;</a:t>
            </a:r>
          </a:p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FROM tabelleA A </a:t>
            </a:r>
          </a:p>
        </p:txBody>
      </p:sp>
      <p:sp>
        <p:nvSpPr>
          <p:cNvPr id="12" name=""/>
          <p:cNvSpPr/>
          <p:nvPr/>
        </p:nvSpPr>
        <p:spPr>
          <a:xfrm>
            <a:off x="3069336" y="8037576"/>
            <a:ext cx="2651760" cy="1554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FULL OUTER JOIN tabelleB B</a:t>
            </a:r>
          </a:p>
        </p:txBody>
      </p:sp>
      <p:sp>
        <p:nvSpPr>
          <p:cNvPr id="13" name=""/>
          <p:cNvSpPr/>
          <p:nvPr/>
        </p:nvSpPr>
        <p:spPr>
          <a:xfrm>
            <a:off x="3041904" y="8275320"/>
            <a:ext cx="1776984" cy="2316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latin typeface="Arial"/>
              </a:rPr>
              <a:t>ON A.key = B.key</a:t>
            </a:r>
          </a:p>
        </p:txBody>
      </p:sp>
      <p:sp>
        <p:nvSpPr>
          <p:cNvPr id="14" name=""/>
          <p:cNvSpPr/>
          <p:nvPr/>
        </p:nvSpPr>
        <p:spPr>
          <a:xfrm>
            <a:off x="12146280" y="5586984"/>
            <a:ext cx="1807464" cy="1950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latin typeface="Arial"/>
              </a:rPr>
              <a:t>SELECT &lt;auswahl&gt;</a:t>
            </a:r>
          </a:p>
        </p:txBody>
      </p:sp>
      <p:sp>
        <p:nvSpPr>
          <p:cNvPr id="15" name=""/>
          <p:cNvSpPr/>
          <p:nvPr/>
        </p:nvSpPr>
        <p:spPr>
          <a:xfrm>
            <a:off x="12149328" y="5846064"/>
            <a:ext cx="2185416" cy="10058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FROM tabelleA A RIGHT JOIN tabelleB B ON A.key = B.key WHERE A.key IS NULL</a:t>
            </a:r>
          </a:p>
        </p:txBody>
      </p:sp>
      <p:sp>
        <p:nvSpPr>
          <p:cNvPr id="16" name=""/>
          <p:cNvSpPr/>
          <p:nvPr/>
        </p:nvSpPr>
        <p:spPr>
          <a:xfrm>
            <a:off x="11274552" y="7476744"/>
            <a:ext cx="2700528" cy="71018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SELECT &lt;auswahl&gt;</a:t>
            </a:r>
          </a:p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FROM tabelleA A</a:t>
            </a:r>
          </a:p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FULL OUTER JOIN tabelleB B</a:t>
            </a:r>
          </a:p>
        </p:txBody>
      </p:sp>
      <p:sp>
        <p:nvSpPr>
          <p:cNvPr id="17" name=""/>
          <p:cNvSpPr/>
          <p:nvPr/>
        </p:nvSpPr>
        <p:spPr>
          <a:xfrm>
            <a:off x="11274552" y="8250936"/>
            <a:ext cx="2072640" cy="74676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016"/>
              </a:lnSpc>
            </a:pPr>
            <a:r>
              <a:rPr lang="en-US" b="1" sz="1300">
                <a:latin typeface="Arial"/>
              </a:rPr>
              <a:t>ON A.key = B.key WHERE A.key IS NULL OR B.key IS NULL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5096256" y="1706880"/>
            <a:ext cx="902208" cy="35966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3511296" y="2097024"/>
            <a:ext cx="1420368" cy="377952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0" y="0"/>
            <a:ext cx="9393936" cy="9144000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12399264" y="505968"/>
            <a:ext cx="3316224" cy="1359408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2737104" y="0"/>
            <a:ext cx="600456" cy="76200"/>
          </a:xfrm>
          <a:prstGeom prst="rect">
            <a:avLst/>
          </a:prstGeom>
          <a:solidFill>
            <a:srgbClr val="D2844F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u="sng" sz="1000">
                <a:solidFill>
                  <a:srgbClr val="DC976B"/>
                </a:solidFill>
                <a:latin typeface="Arial"/>
              </a:rPr>
              <a:t>___</a:t>
            </a:r>
            <a:r>
              <a:rPr lang="en-US" sz="1000">
                <a:solidFill>
                  <a:srgbClr val="DC976B"/>
                </a:solidFill>
                <a:latin typeface="Arial"/>
              </a:rPr>
              <a:t>^ _</a:t>
            </a:r>
          </a:p>
        </p:txBody>
      </p:sp>
      <p:sp>
        <p:nvSpPr>
          <p:cNvPr id="7" name="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D2844F"/>
          </a:solidFill>
        </p:spPr>
        <p:txBody>
          <a:bodyPr lIns="0" tIns="0" rIns="0" bIns="0" wrap="none">
            <a:noAutofit/>
          </a:bodyPr>
          <a:p/>
        </p:txBody>
      </p:sp>
      <p:sp>
        <p:nvSpPr>
          <p:cNvPr id="8" name="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D2844F"/>
          </a:solidFill>
        </p:spPr>
        <p:txBody>
          <a:bodyPr lIns="0" tIns="0" rIns="0" bIns="0" wrap="none">
            <a:noAutofit/>
          </a:bodyPr>
          <a:p/>
        </p:txBody>
      </p:sp>
      <p:sp>
        <p:nvSpPr>
          <p:cNvPr id="9" name="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A2691B"/>
          </a:solidFill>
        </p:spPr>
        <p:txBody>
          <a:bodyPr lIns="0" tIns="0" rIns="0" bIns="0" wrap="none">
            <a:noAutofit/>
          </a:bodyPr>
          <a:p/>
        </p:txBody>
      </p:sp>
      <p:sp>
        <p:nvSpPr>
          <p:cNvPr id="10" name=""/>
          <p:cNvSpPr/>
          <p:nvPr/>
        </p:nvSpPr>
        <p:spPr>
          <a:xfrm>
            <a:off x="6236208" y="237744"/>
            <a:ext cx="1737360" cy="280416"/>
          </a:xfrm>
          <a:prstGeom prst="rect">
            <a:avLst/>
          </a:prstGeom>
          <a:solidFill>
            <a:srgbClr val="E4542C"/>
          </a:solidFill>
        </p:spPr>
        <p:txBody>
          <a:bodyPr lIns="0" tIns="0" rIns="0" bIns="0" wrap="none">
            <a:noAutofit/>
          </a:bodyPr>
          <a:p>
            <a:pPr algn="r" marR="165100" indent="0"/>
            <a:r>
              <a:rPr lang="en-US" b="1" sz="3100">
                <a:solidFill>
                  <a:srgbClr val="DC976B"/>
                </a:solidFill>
                <a:latin typeface="Arial"/>
              </a:rPr>
              <a:t>— -a)</a:t>
            </a:r>
          </a:p>
        </p:txBody>
      </p:sp>
      <p:sp>
        <p:nvSpPr>
          <p:cNvPr id="11" name=""/>
          <p:cNvSpPr/>
          <p:nvPr/>
        </p:nvSpPr>
        <p:spPr>
          <a:xfrm>
            <a:off x="7272528" y="670560"/>
            <a:ext cx="5102352" cy="841248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6600" spc="-15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12" name=""/>
          <p:cNvSpPr/>
          <p:nvPr/>
        </p:nvSpPr>
        <p:spPr>
          <a:xfrm>
            <a:off x="9637776" y="2011680"/>
            <a:ext cx="6169152" cy="10972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4200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Joins are executed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every time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you query the relationship</a:t>
            </a:r>
          </a:p>
        </p:txBody>
      </p:sp>
      <p:sp>
        <p:nvSpPr>
          <p:cNvPr id="13" name=""/>
          <p:cNvSpPr/>
          <p:nvPr/>
        </p:nvSpPr>
        <p:spPr>
          <a:xfrm>
            <a:off x="9683496" y="4026408"/>
            <a:ext cx="5620512" cy="23164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4200"/>
              </a:lnSpc>
              <a:spcAft>
                <a:spcPts val="1890"/>
              </a:spcAft>
            </a:pPr>
            <a:r>
              <a:rPr lang="en-US" sz="3400">
                <a:solidFill>
                  <a:srgbClr val="5C5B52"/>
                </a:solidFill>
                <a:latin typeface="Arial"/>
              </a:rPr>
              <a:t>Executing a Join means to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search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for a key</a:t>
            </a:r>
          </a:p>
          <a:p>
            <a:pPr indent="0">
              <a:spcAft>
                <a:spcPts val="84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B-Tree Index: O(log(n))</a:t>
            </a:r>
          </a:p>
          <a:p>
            <a:pPr algn="r" indent="0">
              <a:lnSpc>
                <a:spcPts val="3552"/>
              </a:lnSpc>
              <a:spcAft>
                <a:spcPts val="2310"/>
              </a:spcAft>
            </a:pPr>
            <a:r>
              <a:rPr lang="en-US" sz="3000">
                <a:solidFill>
                  <a:srgbClr val="5C5B52"/>
                </a:solidFill>
                <a:latin typeface="Arial"/>
              </a:rPr>
              <a:t>Your data grows by 10x, your time </a:t>
            </a:r>
          </a:p>
        </p:txBody>
      </p:sp>
      <p:sp>
        <p:nvSpPr>
          <p:cNvPr id="14" name=""/>
          <p:cNvSpPr/>
          <p:nvPr/>
        </p:nvSpPr>
        <p:spPr>
          <a:xfrm>
            <a:off x="9031224" y="6336792"/>
            <a:ext cx="6187440" cy="4572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>
              <a:lnSpc>
                <a:spcPts val="3552"/>
              </a:lnSpc>
              <a:spcAft>
                <a:spcPts val="2310"/>
              </a:spcAft>
            </a:pPr>
            <a:r>
              <a:rPr lang="en-US" sz="3000">
                <a:solidFill>
                  <a:srgbClr val="A66D23"/>
                </a:solidFill>
                <a:latin typeface="Arial"/>
              </a:rPr>
              <a:t>I </a:t>
            </a:r>
            <a:r>
              <a:rPr lang="en-US" sz="3000">
                <a:solidFill>
                  <a:srgbClr val="5C5B52"/>
                </a:solidFill>
                <a:latin typeface="Arial"/>
              </a:rPr>
              <a:t>goes up by one step on each Join</a:t>
            </a:r>
          </a:p>
        </p:txBody>
      </p:sp>
      <p:sp>
        <p:nvSpPr>
          <p:cNvPr id="15" name=""/>
          <p:cNvSpPr/>
          <p:nvPr/>
        </p:nvSpPr>
        <p:spPr>
          <a:xfrm>
            <a:off x="9695688" y="7251192"/>
            <a:ext cx="5602224" cy="8839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4176"/>
              </a:lnSpc>
            </a:pPr>
            <a:r>
              <a:rPr lang="en-US" sz="3400">
                <a:solidFill>
                  <a:srgbClr val="5C5B52"/>
                </a:solidFill>
                <a:latin typeface="Arial"/>
              </a:rPr>
              <a:t>More Data = More Searches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Slower Performance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8415528" y="1816608"/>
            <a:ext cx="7424928" cy="5779008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97992" y="582168"/>
            <a:ext cx="14807184" cy="6949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Relational Databases can't handle Relationships</a:t>
            </a:r>
          </a:p>
        </p:txBody>
      </p:sp>
      <p:sp>
        <p:nvSpPr>
          <p:cNvPr id="4" name=""/>
          <p:cNvSpPr/>
          <p:nvPr/>
        </p:nvSpPr>
        <p:spPr>
          <a:xfrm>
            <a:off x="591312" y="1840992"/>
            <a:ext cx="6669024" cy="67818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528"/>
              </a:lnSpc>
            </a:pPr>
            <a:r>
              <a:rPr lang="en-US" b="1" sz="11400">
                <a:solidFill>
                  <a:srgbClr val="37768F"/>
                </a:solidFill>
                <a:latin typeface="Arial"/>
              </a:rPr>
              <a:t>1</a:t>
            </a:r>
            <a:r>
              <a:rPr lang="en-US" b="1" sz="3100">
                <a:solidFill>
                  <a:srgbClr val="288887"/>
                </a:solidFill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Wrong Model</a:t>
            </a:r>
          </a:p>
          <a:p>
            <a:pPr marL="1104900" indent="0">
              <a:lnSpc>
                <a:spcPts val="3528"/>
              </a:lnSpc>
              <a:spcAft>
                <a:spcPts val="2100"/>
              </a:spcAft>
            </a:pPr>
            <a:r>
              <a:rPr lang="en-US" sz="3000">
                <a:solidFill>
                  <a:srgbClr val="5C5B52"/>
                </a:solidFill>
                <a:latin typeface="Arial"/>
              </a:rPr>
              <a:t>They cannot model or store relationships without complexity</a:t>
            </a:r>
          </a:p>
          <a:p>
            <a:pPr indent="0">
              <a:spcAft>
                <a:spcPts val="630"/>
              </a:spcAft>
            </a:pPr>
            <a:r>
              <a:rPr lang="en-US" b="1" sz="11300">
                <a:solidFill>
                  <a:srgbClr val="18997F"/>
                </a:solidFill>
                <a:latin typeface="Arial"/>
              </a:rPr>
              <a:t>2</a:t>
            </a:r>
            <a:r>
              <a:rPr lang="en-US" b="1" sz="3100">
                <a:solidFill>
                  <a:srgbClr val="288887"/>
                </a:solidFill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Degraded Performance</a:t>
            </a:r>
          </a:p>
          <a:p>
            <a:pPr marL="1104900" indent="0">
              <a:lnSpc>
                <a:spcPts val="3240"/>
              </a:lnSpc>
              <a:spcAft>
                <a:spcPts val="357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Speed plummets as data grows and as the number of joins grows</a:t>
            </a:r>
          </a:p>
          <a:p>
            <a:pPr indent="0">
              <a:spcAft>
                <a:spcPts val="630"/>
              </a:spcAft>
            </a:pPr>
            <a:r>
              <a:rPr lang="en-US" b="1" sz="11300">
                <a:solidFill>
                  <a:srgbClr val="EF9C2A"/>
                </a:solidFill>
                <a:latin typeface="Arial"/>
              </a:rPr>
              <a:t>3</a:t>
            </a:r>
            <a:r>
              <a:rPr lang="en-US" b="1" sz="3100">
                <a:solidFill>
                  <a:srgbClr val="EF9C2A"/>
                </a:solidFill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Wrong Language</a:t>
            </a:r>
          </a:p>
          <a:p>
            <a:pPr marL="1104900" indent="0">
              <a:lnSpc>
                <a:spcPts val="3312"/>
              </a:lnSpc>
              <a:spcAft>
                <a:spcPts val="294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SQL was built with Set Theory in mind, not Graph Theory</a:t>
            </a:r>
          </a:p>
          <a:p>
            <a:pPr indent="0">
              <a:spcAft>
                <a:spcPts val="630"/>
              </a:spcAft>
            </a:pPr>
            <a:r>
              <a:rPr lang="en-US" b="1" sz="11200">
                <a:solidFill>
                  <a:srgbClr val="D24132"/>
                </a:solidFill>
                <a:latin typeface="Arial"/>
              </a:rPr>
              <a:t>4</a:t>
            </a:r>
            <a:r>
              <a:rPr lang="en-US" b="1" sz="3100">
                <a:solidFill>
                  <a:srgbClr val="D24132"/>
                </a:solidFill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Not Flexible</a:t>
            </a:r>
          </a:p>
          <a:p>
            <a:pPr marL="1104900" indent="0">
              <a:lnSpc>
                <a:spcPts val="3024"/>
              </a:lnSpc>
            </a:pPr>
            <a:r>
              <a:rPr lang="en-US" sz="2500">
                <a:solidFill>
                  <a:srgbClr val="5C5B52"/>
                </a:solidFill>
                <a:latin typeface="Arial"/>
              </a:rPr>
              <a:t>New types of data and relationships require schema redesign</a:t>
            </a:r>
          </a:p>
        </p:txBody>
      </p:sp>
      <p:sp>
        <p:nvSpPr>
          <p:cNvPr id="5" name=""/>
          <p:cNvSpPr/>
          <p:nvPr/>
        </p:nvSpPr>
        <p:spPr>
          <a:xfrm>
            <a:off x="12573000" y="4532376"/>
            <a:ext cx="853440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L * Reporter di reedy</a:t>
            </a:r>
          </a:p>
        </p:txBody>
      </p:sp>
      <p:sp>
        <p:nvSpPr>
          <p:cNvPr id="6" name=""/>
          <p:cNvSpPr/>
          <p:nvPr/>
        </p:nvSpPr>
        <p:spPr>
          <a:xfrm>
            <a:off x="10302240" y="4703064"/>
            <a:ext cx="560832" cy="1066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AS dreeReporti</a:t>
            </a:r>
          </a:p>
        </p:txBody>
      </p:sp>
      <p:sp>
        <p:nvSpPr>
          <p:cNvPr id="7" name=""/>
          <p:cNvSpPr/>
          <p:nvPr/>
        </p:nvSpPr>
        <p:spPr>
          <a:xfrm>
            <a:off x="10085832" y="5239512"/>
            <a:ext cx="688848" cy="1066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A-S\re*-'R*( &lt;rtees.</a:t>
            </a:r>
          </a:p>
        </p:txBody>
      </p:sp>
      <p:sp>
        <p:nvSpPr>
          <p:cNvPr id="8" name=""/>
          <p:cNvSpPr/>
          <p:nvPr/>
        </p:nvSpPr>
        <p:spPr>
          <a:xfrm>
            <a:off x="10482072" y="5513832"/>
            <a:ext cx="432816" cy="1828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696"/>
              </a:lnSpc>
            </a:pPr>
            <a:r>
              <a:rPr lang="en-US" b="1" sz="900">
                <a:solidFill>
                  <a:srgbClr val="6B6670"/>
                </a:solidFill>
                <a:latin typeface="Arial"/>
              </a:rPr>
              <a:t>reporlee fid </a:t>
            </a:r>
            <a:r>
              <a:rPr lang="en-US" b="1" sz="900">
                <a:solidFill>
                  <a:srgbClr val="979799"/>
                </a:solidFill>
                <a:latin typeface="Arial"/>
              </a:rPr>
              <a:t>I </a:t>
            </a:r>
            <a:r>
              <a:rPr lang="en-US" sz="600">
                <a:solidFill>
                  <a:srgbClr val="5C5B52"/>
                </a:solidFill>
                <a:latin typeface="Times New Roman"/>
              </a:rPr>
              <a:t>\) </a:t>
            </a:r>
            <a:r>
              <a:rPr lang="en-US" sz="600">
                <a:solidFill>
                  <a:srgbClr val="6B6670"/>
                </a:solidFill>
                <a:latin typeface="Times New Roman"/>
              </a:rPr>
              <a:t>FROM </a:t>
            </a:r>
            <a:r>
              <a:rPr lang="en-US" i="1" sz="550">
                <a:solidFill>
                  <a:srgbClr val="6B6670"/>
                </a:solidFill>
                <a:latin typeface="Calibri"/>
              </a:rPr>
              <a:t>09</a:t>
            </a:r>
          </a:p>
        </p:txBody>
      </p:sp>
      <p:sp>
        <p:nvSpPr>
          <p:cNvPr id="9" name=""/>
          <p:cNvSpPr/>
          <p:nvPr/>
        </p:nvSpPr>
        <p:spPr>
          <a:xfrm>
            <a:off x="10143744" y="5599176"/>
            <a:ext cx="201168" cy="1859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‘(SEL</a:t>
            </a:r>
          </a:p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irees</a:t>
            </a:r>
          </a:p>
        </p:txBody>
      </p:sp>
      <p:sp>
        <p:nvSpPr>
          <p:cNvPr id="10" name=""/>
          <p:cNvSpPr/>
          <p:nvPr/>
        </p:nvSpPr>
        <p:spPr>
          <a:xfrm>
            <a:off x="9406128" y="2115312"/>
            <a:ext cx="237744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(SELECT T dneclReporreee AS drec:Reportees. *um(T ooum) AS coum</a:t>
            </a:r>
          </a:p>
        </p:txBody>
      </p:sp>
      <p:sp>
        <p:nvSpPr>
          <p:cNvPr id="11" name=""/>
          <p:cNvSpPr/>
          <p:nvPr/>
        </p:nvSpPr>
        <p:spPr>
          <a:xfrm>
            <a:off x="12594336" y="2127504"/>
            <a:ext cx="16642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dep«M Repodew.pd AS direeNeportees</a:t>
            </a:r>
          </a:p>
        </p:txBody>
      </p:sp>
      <p:sp>
        <p:nvSpPr>
          <p:cNvPr id="12" name=""/>
          <p:cNvSpPr/>
          <p:nvPr/>
        </p:nvSpPr>
        <p:spPr>
          <a:xfrm>
            <a:off x="9387840" y="2206752"/>
            <a:ext cx="26212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900">
                <a:solidFill>
                  <a:srgbClr val="6B6670"/>
                </a:solidFill>
                <a:latin typeface="Arial"/>
              </a:rPr>
              <a:t>FROM •:</a:t>
            </a:r>
          </a:p>
        </p:txBody>
      </p:sp>
      <p:sp>
        <p:nvSpPr>
          <p:cNvPr id="13" name=""/>
          <p:cNvSpPr/>
          <p:nvPr/>
        </p:nvSpPr>
        <p:spPr>
          <a:xfrm>
            <a:off x="12594336" y="2218944"/>
            <a:ext cx="173126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oouni(deptr</a:t>
            </a:r>
            <a:r>
              <a:rPr lang="en-US" sz="650">
                <a:solidFill>
                  <a:srgbClr val="6B6670"/>
                </a:solidFill>
                <a:latin typeface="Corbel"/>
              </a:rPr>
              <a:t>2</a:t>
            </a:r>
            <a:r>
              <a:rPr lang="en-US" sz="550">
                <a:solidFill>
                  <a:srgbClr val="6B6670"/>
                </a:solidFill>
                <a:latin typeface="Arial"/>
              </a:rPr>
              <a:t>Repcnee$ direcfly.manages)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as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coon:</a:t>
            </a:r>
          </a:p>
        </p:txBody>
      </p:sp>
      <p:sp>
        <p:nvSpPr>
          <p:cNvPr id="14" name=""/>
          <p:cNvSpPr/>
          <p:nvPr/>
        </p:nvSpPr>
        <p:spPr>
          <a:xfrm>
            <a:off x="9387840" y="2298192"/>
            <a:ext cx="178612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manager pd AS dreciRepunees. 0 AS count</a:t>
            </a:r>
          </a:p>
        </p:txBody>
      </p:sp>
      <p:sp>
        <p:nvSpPr>
          <p:cNvPr id="15" name=""/>
          <p:cNvSpPr/>
          <p:nvPr/>
        </p:nvSpPr>
        <p:spPr>
          <a:xfrm>
            <a:off x="12594336" y="2304288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FROM person.reponee manager</a:t>
            </a:r>
          </a:p>
        </p:txBody>
      </p:sp>
      <p:sp>
        <p:nvSpPr>
          <p:cNvPr id="16" name=""/>
          <p:cNvSpPr/>
          <p:nvPr/>
        </p:nvSpPr>
        <p:spPr>
          <a:xfrm>
            <a:off x="9454896" y="2383536"/>
            <a:ext cx="109728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-ROM person, mconee manager</a:t>
            </a:r>
          </a:p>
        </p:txBody>
      </p:sp>
      <p:sp>
        <p:nvSpPr>
          <p:cNvPr id="17" name=""/>
          <p:cNvSpPr/>
          <p:nvPr/>
        </p:nvSpPr>
        <p:spPr>
          <a:xfrm>
            <a:off x="12594336" y="2395728"/>
            <a:ext cx="118262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.Cxn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person.reponee l * Reporiees</a:t>
            </a:r>
          </a:p>
        </p:txBody>
      </p:sp>
      <p:sp>
        <p:nvSpPr>
          <p:cNvPr id="18" name=""/>
          <p:cNvSpPr/>
          <p:nvPr/>
        </p:nvSpPr>
        <p:spPr>
          <a:xfrm>
            <a:off x="9448800" y="2474976"/>
            <a:ext cx="281025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WHERE manager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pid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* (SELECT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id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FROM person WHwE name * TName IName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l</a:t>
            </a:r>
          </a:p>
        </p:txBody>
      </p:sp>
      <p:sp>
        <p:nvSpPr>
          <p:cNvPr id="19" name=""/>
          <p:cNvSpPr/>
          <p:nvPr/>
        </p:nvSpPr>
        <p:spPr>
          <a:xfrm>
            <a:off x="12594336" y="2487168"/>
            <a:ext cx="16642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managerdrecdy.manages - HReporree* pd</a:t>
            </a:r>
          </a:p>
        </p:txBody>
      </p:sp>
      <p:sp>
        <p:nvSpPr>
          <p:cNvPr id="20" name=""/>
          <p:cNvSpPr/>
          <p:nvPr/>
        </p:nvSpPr>
        <p:spPr>
          <a:xfrm>
            <a:off x="9387840" y="2566416"/>
            <a:ext cx="231648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UNION</a:t>
            </a:r>
          </a:p>
        </p:txBody>
      </p:sp>
      <p:sp>
        <p:nvSpPr>
          <p:cNvPr id="21" name=""/>
          <p:cNvSpPr/>
          <p:nvPr/>
        </p:nvSpPr>
        <p:spPr>
          <a:xfrm>
            <a:off x="12594336" y="2572512"/>
            <a:ext cx="1188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.OiN person repo nee L/Reporlee*</a:t>
            </a:r>
          </a:p>
        </p:txBody>
      </p:sp>
      <p:sp>
        <p:nvSpPr>
          <p:cNvPr id="22" name=""/>
          <p:cNvSpPr/>
          <p:nvPr/>
        </p:nvSpPr>
        <p:spPr>
          <a:xfrm>
            <a:off x="9448800" y="2651760"/>
            <a:ext cx="2877312" cy="792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manage' p«d AS dreclReporree* counl(maneger di'ecrty.menagee; AS oouni</a:t>
            </a:r>
          </a:p>
        </p:txBody>
      </p:sp>
      <p:sp>
        <p:nvSpPr>
          <p:cNvPr id="23" name=""/>
          <p:cNvSpPr/>
          <p:nvPr/>
        </p:nvSpPr>
        <p:spPr>
          <a:xfrm>
            <a:off x="12594336" y="2663952"/>
            <a:ext cx="180441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L* Reporlee* dire:dy_m*nage* - L2Rei*rteespd</a:t>
            </a:r>
          </a:p>
        </p:txBody>
      </p:sp>
      <p:sp>
        <p:nvSpPr>
          <p:cNvPr id="24" name=""/>
          <p:cNvSpPr/>
          <p:nvPr/>
        </p:nvSpPr>
        <p:spPr>
          <a:xfrm>
            <a:off x="9387840" y="2743200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FROM person reportea manage</a:t>
            </a:r>
          </a:p>
        </p:txBody>
      </p:sp>
      <p:sp>
        <p:nvSpPr>
          <p:cNvPr id="25" name=""/>
          <p:cNvSpPr/>
          <p:nvPr/>
        </p:nvSpPr>
        <p:spPr>
          <a:xfrm>
            <a:off x="12588240" y="2755392"/>
            <a:ext cx="71323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WHERE manage' p*d</a:t>
            </a:r>
          </a:p>
        </p:txBody>
      </p:sp>
      <p:sp>
        <p:nvSpPr>
          <p:cNvPr id="26" name=""/>
          <p:cNvSpPr/>
          <p:nvPr/>
        </p:nvSpPr>
        <p:spPr>
          <a:xfrm>
            <a:off x="13392912" y="2755392"/>
            <a:ext cx="138379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(SELECT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id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FROM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parson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WHERE romp</a:t>
            </a:r>
          </a:p>
        </p:txBody>
      </p:sp>
      <p:sp>
        <p:nvSpPr>
          <p:cNvPr id="27" name=""/>
          <p:cNvSpPr/>
          <p:nvPr/>
        </p:nvSpPr>
        <p:spPr>
          <a:xfrm>
            <a:off x="14868144" y="2755392"/>
            <a:ext cx="53644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TName </a:t>
            </a:r>
            <a:r>
              <a:rPr lang="en-US" sz="550">
                <a:solidFill>
                  <a:srgbClr val="B65E50"/>
                </a:solidFill>
                <a:latin typeface="Arial"/>
              </a:rPr>
              <a:t>I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Name</a:t>
            </a:r>
          </a:p>
        </p:txBody>
      </p:sp>
      <p:sp>
        <p:nvSpPr>
          <p:cNvPr id="28" name=""/>
          <p:cNvSpPr/>
          <p:nvPr/>
        </p:nvSpPr>
        <p:spPr>
          <a:xfrm>
            <a:off x="9387840" y="2834640"/>
            <a:ext cx="280416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WHERE manager pd ^ (SEL ECT d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person WHERE naira - tNome Naira* </a:t>
            </a:r>
            <a:r>
              <a:rPr lang="en-US" sz="550">
                <a:solidFill>
                  <a:srgbClr val="B65E50"/>
                </a:solidFill>
                <a:latin typeface="Arial"/>
              </a:rPr>
              <a:t>i</a:t>
            </a:r>
          </a:p>
        </p:txBody>
      </p:sp>
      <p:sp>
        <p:nvSpPr>
          <p:cNvPr id="29" name=""/>
          <p:cNvSpPr/>
          <p:nvPr/>
        </p:nvSpPr>
        <p:spPr>
          <a:xfrm>
            <a:off x="12600432" y="2846832"/>
            <a:ext cx="932688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H</a:t>
            </a:r>
            <a:r>
              <a:rPr lang="en-US" baseline="30000" sz="550">
                <a:solidFill>
                  <a:srgbClr val="6B6670"/>
                </a:solidFill>
                <a:latin typeface="Arial"/>
              </a:rPr>
              <a:t>v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cirafRepixiees</a:t>
            </a:r>
          </a:p>
        </p:txBody>
      </p:sp>
      <p:sp>
        <p:nvSpPr>
          <p:cNvPr id="30" name=""/>
          <p:cNvSpPr/>
          <p:nvPr/>
        </p:nvSpPr>
        <p:spPr>
          <a:xfrm>
            <a:off x="9387840" y="2926080"/>
            <a:ext cx="938784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600" spc="-50">
                <a:solidFill>
                  <a:srgbClr val="6B6670"/>
                </a:solidFill>
                <a:latin typeface="Arial"/>
              </a:rPr>
              <a:t>croup </a:t>
            </a:r>
            <a:r>
              <a:rPr lang="en-US" cap="small" sz="600" spc="-50">
                <a:solidFill>
                  <a:srgbClr val="5C5B52"/>
                </a:solidFill>
                <a:latin typeface="Arial"/>
              </a:rPr>
              <a:t>by</a:t>
            </a:r>
            <a:r>
              <a:rPr lang="en-US" sz="600" spc="-50">
                <a:solidFill>
                  <a:srgbClr val="5C5B52"/>
                </a:solidFill>
                <a:latin typeface="Arial"/>
              </a:rPr>
              <a:t> </a:t>
            </a:r>
            <a:r>
              <a:rPr lang="en-US" sz="600" spc="-50">
                <a:solidFill>
                  <a:srgbClr val="6B6670"/>
                </a:solidFill>
                <a:latin typeface="Arial"/>
              </a:rPr>
              <a:t>orectReportees</a:t>
            </a:r>
          </a:p>
        </p:txBody>
      </p:sp>
      <p:sp>
        <p:nvSpPr>
          <p:cNvPr id="31" name=""/>
          <p:cNvSpPr/>
          <p:nvPr/>
        </p:nvSpPr>
        <p:spPr>
          <a:xfrm>
            <a:off x="12600432" y="2932176"/>
            <a:ext cx="19507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: ast</a:t>
            </a:r>
          </a:p>
        </p:txBody>
      </p:sp>
      <p:sp>
        <p:nvSpPr>
          <p:cNvPr id="32" name=""/>
          <p:cNvSpPr/>
          <p:nvPr/>
        </p:nvSpPr>
        <p:spPr>
          <a:xfrm>
            <a:off x="9387840" y="3017520"/>
            <a:ext cx="231648" cy="548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UNION</a:t>
            </a:r>
          </a:p>
        </p:txBody>
      </p:sp>
      <p:sp>
        <p:nvSpPr>
          <p:cNvPr id="33" name=""/>
          <p:cNvSpPr/>
          <p:nvPr/>
        </p:nvSpPr>
        <p:spPr>
          <a:xfrm>
            <a:off x="12600432" y="3023616"/>
            <a:ext cx="95707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B</a:t>
            </a:r>
            <a:r>
              <a:rPr lang="en-US" baseline="30000" sz="550">
                <a:solidFill>
                  <a:srgbClr val="6B6670"/>
                </a:solidFill>
                <a:latin typeface="Arial"/>
              </a:rPr>
              <a:t>v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diretfReportees)</a:t>
            </a:r>
          </a:p>
        </p:txBody>
      </p:sp>
      <p:sp>
        <p:nvSpPr>
          <p:cNvPr id="34" name=""/>
          <p:cNvSpPr/>
          <p:nvPr/>
        </p:nvSpPr>
        <p:spPr>
          <a:xfrm>
            <a:off x="9387840" y="3102864"/>
            <a:ext cx="28651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manager pd AS drectReiXine** ccud(repor1ea dree: y .manage*) AS count</a:t>
            </a:r>
          </a:p>
        </p:txBody>
      </p:sp>
      <p:sp>
        <p:nvSpPr>
          <p:cNvPr id="35" name=""/>
          <p:cNvSpPr/>
          <p:nvPr/>
        </p:nvSpPr>
        <p:spPr>
          <a:xfrm>
            <a:off x="12600432" y="3115056"/>
            <a:ext cx="231648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UN ON</a:t>
            </a:r>
          </a:p>
        </p:txBody>
      </p:sp>
      <p:sp>
        <p:nvSpPr>
          <p:cNvPr id="36" name=""/>
          <p:cNvSpPr/>
          <p:nvPr/>
        </p:nvSpPr>
        <p:spPr>
          <a:xfrm>
            <a:off x="9387840" y="3194304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pemoo_rapotea manager</a:t>
            </a:r>
          </a:p>
        </p:txBody>
      </p:sp>
      <p:sp>
        <p:nvSpPr>
          <p:cNvPr id="37" name=""/>
          <p:cNvSpPr/>
          <p:nvPr/>
        </p:nvSpPr>
        <p:spPr>
          <a:xfrm>
            <a:off x="12594336" y="3206496"/>
            <a:ext cx="2377440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(SELECT T dircofteporless AS d/eclReponee* sumfrcour; AS count</a:t>
            </a:r>
          </a:p>
        </p:txBody>
      </p:sp>
      <p:sp>
        <p:nvSpPr>
          <p:cNvPr id="38" name=""/>
          <p:cNvSpPr/>
          <p:nvPr/>
        </p:nvSpPr>
        <p:spPr>
          <a:xfrm>
            <a:off x="9387840" y="3285744"/>
            <a:ext cx="1036320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JOIN pemon repyiee reprrtee</a:t>
            </a:r>
          </a:p>
        </p:txBody>
      </p:sp>
      <p:sp>
        <p:nvSpPr>
          <p:cNvPr id="39" name=""/>
          <p:cNvSpPr/>
          <p:nvPr/>
        </p:nvSpPr>
        <p:spPr>
          <a:xfrm>
            <a:off x="12655296" y="3291840"/>
            <a:ext cx="24384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FROM!</a:t>
            </a:r>
          </a:p>
        </p:txBody>
      </p:sp>
      <p:sp>
        <p:nvSpPr>
          <p:cNvPr id="40" name=""/>
          <p:cNvSpPr/>
          <p:nvPr/>
        </p:nvSpPr>
        <p:spPr>
          <a:xfrm>
            <a:off x="9387840" y="3371088"/>
            <a:ext cx="150571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manage' d-mcdy. manage* - reponee pid</a:t>
            </a:r>
          </a:p>
        </p:txBody>
      </p:sp>
      <p:sp>
        <p:nvSpPr>
          <p:cNvPr id="41" name=""/>
          <p:cNvSpPr/>
          <p:nvPr/>
        </p:nvSpPr>
        <p:spPr>
          <a:xfrm>
            <a:off x="12655296" y="3383280"/>
            <a:ext cx="226161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reponee dir^dy manage* AS drectReporree*. 0 AS oount</a:t>
            </a:r>
          </a:p>
        </p:txBody>
      </p:sp>
      <p:sp>
        <p:nvSpPr>
          <p:cNvPr id="42" name=""/>
          <p:cNvSpPr/>
          <p:nvPr/>
        </p:nvSpPr>
        <p:spPr>
          <a:xfrm>
            <a:off x="9387840" y="3462528"/>
            <a:ext cx="280416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WHFRE manager pd - (SELECT d -ROM person WHERE naira - “Name Naira* </a:t>
            </a:r>
            <a:r>
              <a:rPr lang="en-US" sz="550">
                <a:solidFill>
                  <a:srgbClr val="B65E50"/>
                </a:solidFill>
                <a:latin typeface="Arial"/>
              </a:rPr>
              <a:t>I</a:t>
            </a:r>
          </a:p>
        </p:txBody>
      </p:sp>
      <p:sp>
        <p:nvSpPr>
          <p:cNvPr id="43" name=""/>
          <p:cNvSpPr/>
          <p:nvPr/>
        </p:nvSpPr>
        <p:spPr>
          <a:xfrm>
            <a:off x="12594336" y="3474720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person_raponee manager</a:t>
            </a:r>
          </a:p>
        </p:txBody>
      </p:sp>
      <p:sp>
        <p:nvSpPr>
          <p:cNvPr id="44" name=""/>
          <p:cNvSpPr/>
          <p:nvPr/>
        </p:nvSpPr>
        <p:spPr>
          <a:xfrm>
            <a:off x="9387840" y="3553968"/>
            <a:ext cx="938784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BY dreclReoorae*</a:t>
            </a:r>
          </a:p>
        </p:txBody>
      </p:sp>
      <p:sp>
        <p:nvSpPr>
          <p:cNvPr id="45" name=""/>
          <p:cNvSpPr/>
          <p:nvPr/>
        </p:nvSpPr>
        <p:spPr>
          <a:xfrm>
            <a:off x="12594336" y="3566160"/>
            <a:ext cx="1036320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,o«si person reponee reponee</a:t>
            </a:r>
          </a:p>
        </p:txBody>
      </p:sp>
      <p:sp>
        <p:nvSpPr>
          <p:cNvPr id="46" name=""/>
          <p:cNvSpPr/>
          <p:nvPr/>
        </p:nvSpPr>
        <p:spPr>
          <a:xfrm>
            <a:off x="9387840" y="3645408"/>
            <a:ext cx="231648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UNION</a:t>
            </a:r>
          </a:p>
        </p:txBody>
      </p:sp>
      <p:sp>
        <p:nvSpPr>
          <p:cNvPr id="47" name=""/>
          <p:cNvSpPr/>
          <p:nvPr/>
        </p:nvSpPr>
        <p:spPr>
          <a:xfrm>
            <a:off x="12594336" y="3651504"/>
            <a:ext cx="103022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manager dree: y .manages</a:t>
            </a:r>
          </a:p>
        </p:txBody>
      </p:sp>
      <p:sp>
        <p:nvSpPr>
          <p:cNvPr id="48" name=""/>
          <p:cNvSpPr/>
          <p:nvPr/>
        </p:nvSpPr>
        <p:spPr>
          <a:xfrm>
            <a:off x="13709904" y="3657600"/>
            <a:ext cx="396240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00" spc="-50">
                <a:solidFill>
                  <a:srgbClr val="6B6670"/>
                </a:solidFill>
                <a:latin typeface="Arial"/>
              </a:rPr>
              <a:t>reponee Pd</a:t>
            </a:r>
          </a:p>
        </p:txBody>
      </p:sp>
      <p:sp>
        <p:nvSpPr>
          <p:cNvPr id="49" name=""/>
          <p:cNvSpPr/>
          <p:nvPr/>
        </p:nvSpPr>
        <p:spPr>
          <a:xfrm>
            <a:off x="9387840" y="3730752"/>
            <a:ext cx="30175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manager pd AS dredRepin^ci ■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j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»ri! ?Rep fte»&lt;a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d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reefy .manages) AS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count</a:t>
            </a:r>
          </a:p>
        </p:txBody>
      </p:sp>
      <p:sp>
        <p:nvSpPr>
          <p:cNvPr id="50" name=""/>
          <p:cNvSpPr/>
          <p:nvPr/>
        </p:nvSpPr>
        <p:spPr>
          <a:xfrm>
            <a:off x="12594336" y="3742944"/>
            <a:ext cx="70713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WHERr manage' p*d</a:t>
            </a:r>
          </a:p>
        </p:txBody>
      </p:sp>
      <p:sp>
        <p:nvSpPr>
          <p:cNvPr id="51" name=""/>
          <p:cNvSpPr/>
          <p:nvPr/>
        </p:nvSpPr>
        <p:spPr>
          <a:xfrm>
            <a:off x="13392912" y="3742944"/>
            <a:ext cx="200558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(SELECT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id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FROM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p*mon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WHFRF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rome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^ *TName INama*(</a:t>
            </a:r>
          </a:p>
        </p:txBody>
      </p:sp>
      <p:sp>
        <p:nvSpPr>
          <p:cNvPr id="52" name=""/>
          <p:cNvSpPr/>
          <p:nvPr/>
        </p:nvSpPr>
        <p:spPr>
          <a:xfrm>
            <a:off x="9387840" y="3822192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pemorrepridee manager</a:t>
            </a:r>
          </a:p>
        </p:txBody>
      </p:sp>
      <p:sp>
        <p:nvSpPr>
          <p:cNvPr id="53" name=""/>
          <p:cNvSpPr/>
          <p:nvPr/>
        </p:nvSpPr>
        <p:spPr>
          <a:xfrm>
            <a:off x="12600432" y="3834384"/>
            <a:ext cx="932688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B</a:t>
            </a:r>
            <a:r>
              <a:rPr lang="en-US" baseline="30000" sz="550">
                <a:solidFill>
                  <a:srgbClr val="6B6670"/>
                </a:solidFill>
                <a:latin typeface="Arial"/>
              </a:rPr>
              <a:t>v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diwfReporlee*</a:t>
            </a:r>
          </a:p>
        </p:txBody>
      </p:sp>
      <p:sp>
        <p:nvSpPr>
          <p:cNvPr id="54" name=""/>
          <p:cNvSpPr/>
          <p:nvPr/>
        </p:nvSpPr>
        <p:spPr>
          <a:xfrm>
            <a:off x="9387840" y="3913632"/>
            <a:ext cx="1188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JOIN person.repodee UReponeas</a:t>
            </a:r>
          </a:p>
        </p:txBody>
      </p:sp>
      <p:sp>
        <p:nvSpPr>
          <p:cNvPr id="55" name=""/>
          <p:cNvSpPr/>
          <p:nvPr/>
        </p:nvSpPr>
        <p:spPr>
          <a:xfrm>
            <a:off x="12600432" y="3925824"/>
            <a:ext cx="231648" cy="548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5C5B52"/>
                </a:solidFill>
                <a:latin typeface="Arial"/>
              </a:rPr>
              <a:t>JN </a:t>
            </a:r>
            <a:r>
              <a:rPr lang="en-US" cap="small" sz="550">
                <a:solidFill>
                  <a:srgbClr val="353841"/>
                </a:solidFill>
                <a:latin typeface="Arial"/>
              </a:rPr>
              <a:t>on</a:t>
            </a:r>
          </a:p>
        </p:txBody>
      </p:sp>
      <p:sp>
        <p:nvSpPr>
          <p:cNvPr id="56" name=""/>
          <p:cNvSpPr/>
          <p:nvPr/>
        </p:nvSpPr>
        <p:spPr>
          <a:xfrm>
            <a:off x="9387840" y="4005072"/>
            <a:ext cx="16642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manage' d&gt;'ecfly_manage* - li Reporiees pd</a:t>
            </a:r>
          </a:p>
        </p:txBody>
      </p:sp>
      <p:sp>
        <p:nvSpPr>
          <p:cNvPr id="57" name=""/>
          <p:cNvSpPr/>
          <p:nvPr/>
        </p:nvSpPr>
        <p:spPr>
          <a:xfrm>
            <a:off x="12594336" y="4011168"/>
            <a:ext cx="283464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SELECT LZReponee* p»d AS dreclReporree*. oounii\?Repoirees dmcP,.manages)</a:t>
            </a:r>
          </a:p>
        </p:txBody>
      </p:sp>
      <p:sp>
        <p:nvSpPr>
          <p:cNvPr id="58" name=""/>
          <p:cNvSpPr/>
          <p:nvPr/>
        </p:nvSpPr>
        <p:spPr>
          <a:xfrm>
            <a:off x="9387840" y="4090416"/>
            <a:ext cx="1188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JOIN </a:t>
            </a:r>
            <a:r>
              <a:rPr lang="en-US" sz="550">
                <a:solidFill>
                  <a:srgbClr val="979799"/>
                </a:solidFill>
                <a:latin typeface="Arial"/>
              </a:rPr>
              <a:t>pe'son.repodee L2Reponees</a:t>
            </a:r>
          </a:p>
        </p:txBody>
      </p:sp>
      <p:sp>
        <p:nvSpPr>
          <p:cNvPr id="59" name=""/>
          <p:cNvSpPr/>
          <p:nvPr/>
        </p:nvSpPr>
        <p:spPr>
          <a:xfrm>
            <a:off x="12594336" y="4102608"/>
            <a:ext cx="298704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900">
                <a:solidFill>
                  <a:srgbClr val="5C5B52"/>
                </a:solidFill>
                <a:latin typeface="Arial"/>
              </a:rPr>
              <a:t>AS »&lt;ni</a:t>
            </a:r>
          </a:p>
        </p:txBody>
      </p:sp>
      <p:sp>
        <p:nvSpPr>
          <p:cNvPr id="60" name=""/>
          <p:cNvSpPr/>
          <p:nvPr/>
        </p:nvSpPr>
        <p:spPr>
          <a:xfrm>
            <a:off x="9387840" y="4181856"/>
            <a:ext cx="17983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URepoiteesdrecPf.manages = L/Reponee* pid</a:t>
            </a:r>
          </a:p>
        </p:txBody>
      </p:sp>
      <p:sp>
        <p:nvSpPr>
          <p:cNvPr id="61" name=""/>
          <p:cNvSpPr/>
          <p:nvPr/>
        </p:nvSpPr>
        <p:spPr>
          <a:xfrm>
            <a:off x="12594336" y="4194048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person.reponee manager</a:t>
            </a:r>
          </a:p>
        </p:txBody>
      </p:sp>
      <p:sp>
        <p:nvSpPr>
          <p:cNvPr id="62" name=""/>
          <p:cNvSpPr/>
          <p:nvPr/>
        </p:nvSpPr>
        <p:spPr>
          <a:xfrm>
            <a:off x="9387840" y="4273296"/>
            <a:ext cx="280416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WHERE manager pd = (SELECT d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from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person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whfrf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naira - TName Naira*)</a:t>
            </a:r>
          </a:p>
        </p:txBody>
      </p:sp>
      <p:sp>
        <p:nvSpPr>
          <p:cNvPr id="63" name=""/>
          <p:cNvSpPr/>
          <p:nvPr/>
        </p:nvSpPr>
        <p:spPr>
          <a:xfrm>
            <a:off x="12588240" y="4279392"/>
            <a:ext cx="1188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»OfN person.reponee L* Reponee*</a:t>
            </a:r>
          </a:p>
        </p:txBody>
      </p:sp>
      <p:sp>
        <p:nvSpPr>
          <p:cNvPr id="64" name=""/>
          <p:cNvSpPr/>
          <p:nvPr/>
        </p:nvSpPr>
        <p:spPr>
          <a:xfrm>
            <a:off x="9387840" y="4358640"/>
            <a:ext cx="93878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GROUP BY drec!R*&lt;»onees</a:t>
            </a:r>
          </a:p>
        </p:txBody>
      </p:sp>
      <p:sp>
        <p:nvSpPr>
          <p:cNvPr id="65" name=""/>
          <p:cNvSpPr/>
          <p:nvPr/>
        </p:nvSpPr>
        <p:spPr>
          <a:xfrm>
            <a:off x="12594336" y="4370832"/>
            <a:ext cx="103022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manager dree: y.manages</a:t>
            </a:r>
          </a:p>
        </p:txBody>
      </p:sp>
      <p:sp>
        <p:nvSpPr>
          <p:cNvPr id="66" name=""/>
          <p:cNvSpPr/>
          <p:nvPr/>
        </p:nvSpPr>
        <p:spPr>
          <a:xfrm>
            <a:off x="13709904" y="4370832"/>
            <a:ext cx="54864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900">
                <a:solidFill>
                  <a:srgbClr val="5C5B52"/>
                </a:solidFill>
                <a:latin typeface="Arial"/>
              </a:rPr>
              <a:t>11</a:t>
            </a:r>
            <a:r>
              <a:rPr lang="en-US" b="1" sz="900">
                <a:solidFill>
                  <a:srgbClr val="5C5B52"/>
                </a:solidFill>
                <a:latin typeface="Arial"/>
              </a:rPr>
              <a:t> R^xmee* Pd</a:t>
            </a:r>
          </a:p>
        </p:txBody>
      </p:sp>
      <p:sp>
        <p:nvSpPr>
          <p:cNvPr id="67" name=""/>
          <p:cNvSpPr/>
          <p:nvPr/>
        </p:nvSpPr>
        <p:spPr>
          <a:xfrm>
            <a:off x="9424416" y="4450080"/>
            <a:ext cx="164592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AST</a:t>
            </a:r>
          </a:p>
        </p:txBody>
      </p:sp>
      <p:sp>
        <p:nvSpPr>
          <p:cNvPr id="68" name=""/>
          <p:cNvSpPr/>
          <p:nvPr/>
        </p:nvSpPr>
        <p:spPr>
          <a:xfrm>
            <a:off x="12588240" y="4462272"/>
            <a:ext cx="107289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UOfN person.reponee L/Report</a:t>
            </a:r>
          </a:p>
        </p:txBody>
      </p:sp>
      <p:sp>
        <p:nvSpPr>
          <p:cNvPr id="69" name=""/>
          <p:cNvSpPr/>
          <p:nvPr/>
        </p:nvSpPr>
        <p:spPr>
          <a:xfrm>
            <a:off x="9680448" y="4541520"/>
            <a:ext cx="97536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353841"/>
                </a:solidFill>
                <a:latin typeface="Arial"/>
              </a:rPr>
              <a:t>BY</a:t>
            </a:r>
          </a:p>
        </p:txBody>
      </p:sp>
      <p:sp>
        <p:nvSpPr>
          <p:cNvPr id="70" name=""/>
          <p:cNvSpPr/>
          <p:nvPr/>
        </p:nvSpPr>
        <p:spPr>
          <a:xfrm>
            <a:off x="9796272" y="4541520"/>
            <a:ext cx="554736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dreclReoonees!</a:t>
            </a:r>
          </a:p>
        </p:txBody>
      </p:sp>
      <p:sp>
        <p:nvSpPr>
          <p:cNvPr id="71" name=""/>
          <p:cNvSpPr/>
          <p:nvPr/>
        </p:nvSpPr>
        <p:spPr>
          <a:xfrm>
            <a:off x="14026896" y="4553712"/>
            <a:ext cx="371856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900">
                <a:solidFill>
                  <a:srgbClr val="6B6670"/>
                </a:solidFill>
                <a:latin typeface="Arial"/>
              </a:rPr>
              <a:t>'-mteespd</a:t>
            </a:r>
          </a:p>
        </p:txBody>
      </p:sp>
      <p:sp>
        <p:nvSpPr>
          <p:cNvPr id="72" name=""/>
          <p:cNvSpPr/>
          <p:nvPr/>
        </p:nvSpPr>
        <p:spPr>
          <a:xfrm>
            <a:off x="12588240" y="4639056"/>
            <a:ext cx="5974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WHERr manager</a:t>
            </a:r>
          </a:p>
        </p:txBody>
      </p:sp>
      <p:sp>
        <p:nvSpPr>
          <p:cNvPr id="73" name=""/>
          <p:cNvSpPr/>
          <p:nvPr/>
        </p:nvSpPr>
        <p:spPr>
          <a:xfrm>
            <a:off x="14295120" y="4639056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•***HERF name - “TName iNama",</a:t>
            </a:r>
          </a:p>
        </p:txBody>
      </p:sp>
      <p:sp>
        <p:nvSpPr>
          <p:cNvPr id="74" name=""/>
          <p:cNvSpPr/>
          <p:nvPr/>
        </p:nvSpPr>
        <p:spPr>
          <a:xfrm>
            <a:off x="12600432" y="4730496"/>
            <a:ext cx="463296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B</a:t>
            </a:r>
            <a:r>
              <a:rPr lang="en-US" baseline="30000" sz="550">
                <a:solidFill>
                  <a:srgbClr val="6B6670"/>
                </a:solidFill>
                <a:latin typeface="Arial"/>
              </a:rPr>
              <a:t>v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di</a:t>
            </a:r>
          </a:p>
        </p:txBody>
      </p:sp>
      <p:sp>
        <p:nvSpPr>
          <p:cNvPr id="75" name=""/>
          <p:cNvSpPr/>
          <p:nvPr/>
        </p:nvSpPr>
        <p:spPr>
          <a:xfrm>
            <a:off x="12600432" y="4821936"/>
            <a:ext cx="195072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AST</a:t>
            </a:r>
          </a:p>
        </p:txBody>
      </p:sp>
      <p:sp>
        <p:nvSpPr>
          <p:cNvPr id="76" name=""/>
          <p:cNvSpPr/>
          <p:nvPr/>
        </p:nvSpPr>
        <p:spPr>
          <a:xfrm>
            <a:off x="12600432" y="4913376"/>
            <a:ext cx="463296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CROUP B</a:t>
            </a:r>
            <a:r>
              <a:rPr lang="en-US" baseline="30000" sz="550">
                <a:solidFill>
                  <a:srgbClr val="6B6670"/>
                </a:solidFill>
                <a:latin typeface="Arial"/>
              </a:rPr>
              <a:t>v</a:t>
            </a:r>
            <a:r>
              <a:rPr lang="en-US" sz="550">
                <a:solidFill>
                  <a:srgbClr val="6B6670"/>
                </a:solidFill>
                <a:latin typeface="Arial"/>
              </a:rPr>
              <a:t> di</a:t>
            </a:r>
          </a:p>
        </p:txBody>
      </p:sp>
      <p:sp>
        <p:nvSpPr>
          <p:cNvPr id="77" name=""/>
          <p:cNvSpPr/>
          <p:nvPr/>
        </p:nvSpPr>
        <p:spPr>
          <a:xfrm>
            <a:off x="12600432" y="4998720"/>
            <a:ext cx="231648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UN o </a:t>
            </a:r>
            <a:r>
              <a:rPr lang="en-US" sz="550">
                <a:solidFill>
                  <a:srgbClr val="353841"/>
                </a:solidFill>
                <a:latin typeface="Arial"/>
              </a:rPr>
              <a:t>N</a:t>
            </a:r>
          </a:p>
        </p:txBody>
      </p:sp>
      <p:sp>
        <p:nvSpPr>
          <p:cNvPr id="78" name=""/>
          <p:cNvSpPr/>
          <p:nvPr/>
        </p:nvSpPr>
        <p:spPr>
          <a:xfrm>
            <a:off x="14551152" y="5090160"/>
            <a:ext cx="481584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e* r. AS count</a:t>
            </a:r>
          </a:p>
        </p:txBody>
      </p:sp>
      <p:sp>
        <p:nvSpPr>
          <p:cNvPr id="79" name=""/>
          <p:cNvSpPr/>
          <p:nvPr/>
        </p:nvSpPr>
        <p:spPr>
          <a:xfrm>
            <a:off x="12594336" y="5358384"/>
            <a:ext cx="426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ON manager</a:t>
            </a:r>
          </a:p>
        </p:txBody>
      </p:sp>
      <p:sp>
        <p:nvSpPr>
          <p:cNvPr id="80" name=""/>
          <p:cNvSpPr/>
          <p:nvPr/>
        </p:nvSpPr>
        <p:spPr>
          <a:xfrm>
            <a:off x="12588240" y="5449824"/>
            <a:ext cx="46939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-0&lt;N person.</a:t>
            </a:r>
          </a:p>
        </p:txBody>
      </p:sp>
      <p:sp>
        <p:nvSpPr>
          <p:cNvPr id="81" name=""/>
          <p:cNvSpPr/>
          <p:nvPr/>
        </p:nvSpPr>
        <p:spPr>
          <a:xfrm>
            <a:off x="12594336" y="5541264"/>
            <a:ext cx="438912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00" spc="-50">
                <a:solidFill>
                  <a:srgbClr val="6B6670"/>
                </a:solidFill>
                <a:latin typeface="Arial"/>
              </a:rPr>
              <a:t>ON r Report</a:t>
            </a:r>
          </a:p>
        </p:txBody>
      </p:sp>
      <p:sp>
        <p:nvSpPr>
          <p:cNvPr id="82" name=""/>
          <p:cNvSpPr/>
          <p:nvPr/>
        </p:nvSpPr>
        <p:spPr>
          <a:xfrm>
            <a:off x="12588240" y="5626608"/>
            <a:ext cx="402336" cy="60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WHFRF ma</a:t>
            </a:r>
          </a:p>
        </p:txBody>
      </p:sp>
      <p:sp>
        <p:nvSpPr>
          <p:cNvPr id="83" name=""/>
          <p:cNvSpPr/>
          <p:nvPr/>
        </p:nvSpPr>
        <p:spPr>
          <a:xfrm>
            <a:off x="14868144" y="5632704"/>
            <a:ext cx="536448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TName INama ;</a:t>
            </a:r>
          </a:p>
        </p:txBody>
      </p:sp>
      <p:sp>
        <p:nvSpPr>
          <p:cNvPr id="84" name=""/>
          <p:cNvSpPr/>
          <p:nvPr/>
        </p:nvSpPr>
        <p:spPr>
          <a:xfrm>
            <a:off x="14593824" y="5638800"/>
            <a:ext cx="182880" cy="487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-50">
                <a:solidFill>
                  <a:srgbClr val="6B6670"/>
                </a:solidFill>
                <a:latin typeface="Arial"/>
              </a:rPr>
              <a:t>i., </a:t>
            </a:r>
            <a:r>
              <a:rPr lang="en-US" i="1" sz="1000">
                <a:solidFill>
                  <a:srgbClr val="5C5B52"/>
                </a:solidFill>
                <a:latin typeface="Arial"/>
              </a:rPr>
              <a:t>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7415784" y="3672840"/>
            <a:ext cx="8543544" cy="456590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701040" y="582168"/>
            <a:ext cx="13844016" cy="6949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399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NoSQL Databases can't handle Relationships</a:t>
            </a:r>
          </a:p>
        </p:txBody>
      </p:sp>
      <p:sp>
        <p:nvSpPr>
          <p:cNvPr id="4" name=""/>
          <p:cNvSpPr/>
          <p:nvPr/>
        </p:nvSpPr>
        <p:spPr>
          <a:xfrm>
            <a:off x="591312" y="1840992"/>
            <a:ext cx="6477000" cy="67818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3528"/>
              </a:lnSpc>
              <a:spcBef>
                <a:spcPts val="3990"/>
              </a:spcBef>
            </a:pPr>
            <a:r>
              <a:rPr lang="en-US" b="1" sz="11400">
                <a:solidFill>
                  <a:srgbClr val="37768F"/>
                </a:solidFill>
                <a:latin typeface="Arial"/>
              </a:rPr>
              <a:t>1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Wrong Model</a:t>
            </a:r>
          </a:p>
          <a:p>
            <a:pPr marL="1104900" indent="0">
              <a:lnSpc>
                <a:spcPts val="3528"/>
              </a:lnSpc>
              <a:spcAft>
                <a:spcPts val="2100"/>
              </a:spcAft>
            </a:pPr>
            <a:r>
              <a:rPr lang="en-US" sz="3000">
                <a:solidFill>
                  <a:srgbClr val="5C5B52"/>
                </a:solidFill>
                <a:latin typeface="Arial"/>
              </a:rPr>
              <a:t>They cannot model or store relationships without complexity</a:t>
            </a:r>
          </a:p>
          <a:p>
            <a:pPr algn="just" indent="0">
              <a:spcAft>
                <a:spcPts val="630"/>
              </a:spcAft>
            </a:pPr>
            <a:r>
              <a:rPr lang="en-US" b="1" sz="11300">
                <a:solidFill>
                  <a:srgbClr val="18997F"/>
                </a:solidFill>
                <a:latin typeface="Arial"/>
              </a:rPr>
              <a:t>2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Degraded Performance</a:t>
            </a:r>
          </a:p>
          <a:p>
            <a:pPr marL="1104900" indent="0">
              <a:lnSpc>
                <a:spcPts val="3312"/>
              </a:lnSpc>
              <a:spcAft>
                <a:spcPts val="357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Speed plummets as you try to join data together in the application</a:t>
            </a:r>
          </a:p>
          <a:p>
            <a:pPr algn="just" indent="0">
              <a:spcAft>
                <a:spcPts val="630"/>
              </a:spcAft>
            </a:pPr>
            <a:r>
              <a:rPr lang="en-US" b="1" sz="11300">
                <a:solidFill>
                  <a:srgbClr val="EF9C2A"/>
                </a:solidFill>
                <a:latin typeface="Arial"/>
              </a:rPr>
              <a:t>3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Wrong Languages</a:t>
            </a:r>
          </a:p>
          <a:p>
            <a:pPr marL="1104900" indent="0">
              <a:lnSpc>
                <a:spcPts val="3312"/>
              </a:lnSpc>
              <a:spcAft>
                <a:spcPts val="294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Lots of wacky "almost sql" languages terrible at "joins"</a:t>
            </a:r>
          </a:p>
          <a:p>
            <a:pPr algn="just" indent="0">
              <a:spcAft>
                <a:spcPts val="630"/>
              </a:spcAft>
            </a:pPr>
            <a:r>
              <a:rPr lang="en-US" b="1" sz="11200">
                <a:solidFill>
                  <a:srgbClr val="D24132"/>
                </a:solidFill>
                <a:latin typeface="Arial"/>
              </a:rPr>
              <a:t>4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Not ACID</a:t>
            </a:r>
          </a:p>
          <a:p>
            <a:pPr marL="1104900" indent="0">
              <a:lnSpc>
                <a:spcPts val="3024"/>
              </a:lnSpc>
            </a:pPr>
            <a:r>
              <a:rPr lang="en-US" sz="2500">
                <a:solidFill>
                  <a:srgbClr val="5C5B52"/>
                </a:solidFill>
                <a:latin typeface="Arial"/>
              </a:rPr>
              <a:t>Eventually Consistent means Eventually Corrupt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3206496"/>
            <a:ext cx="16254984" cy="593750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9704" y="576072"/>
            <a:ext cx="8683752" cy="11125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Same Data, Different Layout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No more Tables, no more Foreign Keys, no more Joins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721864" y="1554480"/>
            <a:ext cx="8906256" cy="6675120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97992" y="582168"/>
            <a:ext cx="12006072" cy="7010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3150"/>
              </a:spcAft>
            </a:pPr>
            <a:r>
              <a:rPr lang="en-US" b="1" sz="5000" spc="-100">
                <a:solidFill>
                  <a:srgbClr val="6B6670"/>
                </a:solidFill>
                <a:latin typeface="Arial"/>
              </a:rPr>
              <a:t>Double Linked List Relationship Layout</a:t>
            </a:r>
          </a:p>
        </p:txBody>
      </p:sp>
      <p:sp>
        <p:nvSpPr>
          <p:cNvPr id="4" name=""/>
          <p:cNvSpPr/>
          <p:nvPr/>
        </p:nvSpPr>
        <p:spPr>
          <a:xfrm>
            <a:off x="3191256" y="2033016"/>
            <a:ext cx="3169920" cy="3779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840"/>
              </a:spcAft>
            </a:pPr>
            <a:r>
              <a:rPr lang="en-US" b="1" sz="2700">
                <a:solidFill>
                  <a:srgbClr val="FFFFFF"/>
                </a:solidFill>
                <a:latin typeface="Arial"/>
              </a:rPr>
              <a:t>Your graph on disk</a:t>
            </a:r>
          </a:p>
        </p:txBody>
      </p:sp>
      <p:sp>
        <p:nvSpPr>
          <p:cNvPr id="5" name=""/>
          <p:cNvSpPr/>
          <p:nvPr/>
        </p:nvSpPr>
        <p:spPr>
          <a:xfrm>
            <a:off x="3255264" y="2474976"/>
            <a:ext cx="2965704" cy="1950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1992"/>
              </a:lnSpc>
            </a:pPr>
            <a:r>
              <a:rPr lang="en-US" b="1" sz="1100" spc="50">
                <a:solidFill>
                  <a:srgbClr val="B5E6F0"/>
                </a:solidFill>
                <a:latin typeface="Arial"/>
              </a:rPr>
              <a:t>Name    </a:t>
            </a:r>
            <a:r>
              <a:rPr lang="en-US" b="1" sz="1100" spc="50">
                <a:solidFill>
                  <a:srgbClr val="F3E2C1"/>
                </a:solidFill>
                <a:latin typeface="Arial"/>
              </a:rPr>
              <a:t>Cp</a:t>
            </a:r>
          </a:p>
        </p:txBody>
      </p:sp>
      <p:sp>
        <p:nvSpPr>
          <p:cNvPr id="6" name=""/>
          <p:cNvSpPr/>
          <p:nvPr/>
        </p:nvSpPr>
        <p:spPr>
          <a:xfrm>
            <a:off x="3197352" y="2727960"/>
            <a:ext cx="1277112" cy="1158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1992"/>
              </a:lnSpc>
            </a:pPr>
            <a:r>
              <a:rPr lang="en-US" b="1" sz="1100" spc="50">
                <a:solidFill>
                  <a:srgbClr val="B5E6F0"/>
                </a:solidFill>
                <a:latin typeface="Arial"/>
              </a:rPr>
              <a:t>Alistair    \</a:t>
            </a:r>
          </a:p>
        </p:txBody>
      </p:sp>
      <p:sp>
        <p:nvSpPr>
          <p:cNvPr id="7" name=""/>
          <p:cNvSpPr/>
          <p:nvPr/>
        </p:nvSpPr>
        <p:spPr>
          <a:xfrm>
            <a:off x="3273552" y="2877312"/>
            <a:ext cx="2953512" cy="2743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spcAft>
                <a:spcPts val="840"/>
              </a:spcAft>
            </a:pPr>
            <a:r>
              <a:rPr lang="en-US" i="1" strike="sngStrike" sz="2400" spc="-250">
                <a:solidFill>
                  <a:srgbClr val="E452E9"/>
                </a:solidFill>
                <a:latin typeface="Tahoma"/>
              </a:rPr>
              <a:t>f</a:t>
            </a:r>
            <a:r>
              <a:rPr lang="en-US" sz="1500">
                <a:solidFill>
                  <a:srgbClr val="E452E9"/>
                </a:solidFill>
                <a:latin typeface="Arial"/>
              </a:rPr>
              <a:t>    </a:t>
            </a:r>
            <a:r>
              <a:rPr lang="en-US" sz="1500">
                <a:solidFill>
                  <a:srgbClr val="F3E2C1"/>
                </a:solidFill>
                <a:latin typeface="Arial"/>
              </a:rPr>
              <a:t>SN</a:t>
            </a:r>
          </a:p>
        </p:txBody>
      </p:sp>
      <p:sp>
        <p:nvSpPr>
          <p:cNvPr id="8" name=""/>
          <p:cNvSpPr/>
          <p:nvPr/>
        </p:nvSpPr>
        <p:spPr>
          <a:xfrm>
            <a:off x="6013704" y="3252216"/>
            <a:ext cx="362712" cy="1371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/>
            <a:r>
              <a:rPr lang="en-US" sz="1500">
                <a:solidFill>
                  <a:srgbClr val="F3E2C1"/>
                </a:solidFill>
                <a:latin typeface="Arial"/>
              </a:rPr>
              <a:t>KNC</a:t>
            </a:r>
          </a:p>
        </p:txBody>
      </p:sp>
      <p:graphicFrame>
        <p:nvGraphicFramePr>
          <p:cNvPr id="9" name=""/>
          <p:cNvGraphicFramePr>
            <a:graphicFrameLocks noGrp="1"/>
          </p:cNvGraphicFramePr>
          <p:nvPr/>
        </p:nvGraphicFramePr>
        <p:xfrm>
          <a:off x="3343656" y="4093464"/>
          <a:ext cx="990600" cy="1091184"/>
        </p:xfrm>
        <a:graphic>
          <a:graphicData uri="http://schemas.openxmlformats.org/drawingml/2006/table">
            <a:tbl>
              <a:tblPr/>
              <a:tblGrid>
                <a:gridCol w="502920"/>
                <a:gridCol w="487680"/>
              </a:tblGrid>
              <a:tr h="35356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3100">
                          <a:solidFill>
                            <a:srgbClr val="A66D23"/>
                          </a:solidFill>
                          <a:latin typeface="Arial"/>
                        </a:rPr>
                        <a:t>IQI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  <a:tr h="368808"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FN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</a:tr>
              <a:tr h="368808">
                <a:tc gridSpan="2"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KNOWS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0" name=""/>
          <p:cNvGraphicFramePr>
            <a:graphicFrameLocks noGrp="1"/>
          </p:cNvGraphicFramePr>
          <p:nvPr/>
        </p:nvGraphicFramePr>
        <p:xfrm>
          <a:off x="5867400" y="2417064"/>
          <a:ext cx="1045464" cy="1103376"/>
        </p:xfrm>
        <a:graphic>
          <a:graphicData uri="http://schemas.openxmlformats.org/drawingml/2006/table">
            <a:tbl>
              <a:tblPr/>
              <a:tblGrid>
                <a:gridCol w="502920"/>
                <a:gridCol w="542544"/>
              </a:tblGrid>
              <a:tr h="155448"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b="1" sz="1300">
                          <a:solidFill>
                            <a:srgbClr val="F3E2C1"/>
                          </a:solidFill>
                          <a:latin typeface="Arial"/>
                        </a:rPr>
                        <a:t>C </a:t>
                      </a:r>
                      <a:r>
                        <a:rPr lang="en-US" b="1" baseline="30000" sz="1300">
                          <a:solidFill>
                            <a:srgbClr val="F3E2C1"/>
                          </a:solidFill>
                          <a:latin typeface="Arial"/>
                        </a:rPr>
                        <a:t>r</a:t>
                      </a:r>
                      <a:r>
                        <a:rPr lang="en-US" b="1" sz="1300">
                          <a:solidFill>
                            <a:srgbClr val="F3E2C1"/>
                          </a:solidFill>
                          <a:latin typeface="Arial"/>
                        </a:rPr>
                        <a:t>j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i="1" sz="900" spc="100">
                          <a:solidFill>
                            <a:srgbClr val="F3E2C1"/>
                          </a:solidFill>
                          <a:latin typeface="Arial"/>
                        </a:rPr>
                        <a:t>W-r.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</a:tr>
              <a:tr h="210312"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i="1" sz="1300" spc="-100">
                          <a:solidFill>
                            <a:srgbClr val="F3E2C1"/>
                          </a:solidFill>
                          <a:latin typeface="Arial"/>
                        </a:rPr>
                        <a:t>'■Li'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  <a:tr h="368808"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SN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  <a:tr h="368808">
                <a:tc gridSpan="2"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KNOWS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11" name=""/>
          <p:cNvGraphicFramePr>
            <a:graphicFrameLocks noGrp="1"/>
          </p:cNvGraphicFramePr>
          <p:nvPr/>
        </p:nvGraphicFramePr>
        <p:xfrm>
          <a:off x="2868168" y="6467856"/>
          <a:ext cx="3505200" cy="1158240"/>
        </p:xfrm>
        <a:graphic>
          <a:graphicData uri="http://schemas.openxmlformats.org/drawingml/2006/table">
            <a:tbl>
              <a:tblPr/>
              <a:tblGrid>
                <a:gridCol w="883920"/>
                <a:gridCol w="1609344"/>
                <a:gridCol w="515112"/>
                <a:gridCol w="496824"/>
              </a:tblGrid>
              <a:tr h="752856"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b="1" sz="1100" spc="50">
                          <a:solidFill>
                            <a:srgbClr val="B5E6F0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0" marR="0" marT="0" marB="0" anchor="b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>
                        <a:spcAft>
                          <a:spcPts val="840"/>
                        </a:spcAft>
                      </a:pPr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SP</a:t>
                      </a:r>
                    </a:p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27000" indent="0">
                        <a:spcAft>
                          <a:spcPts val="840"/>
                        </a:spcAft>
                      </a:pPr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EP</a:t>
                      </a:r>
                    </a:p>
                    <a:p>
                      <a:pPr marL="1270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FN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</a:tr>
              <a:tr h="405384"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b="1" sz="1100" spc="50">
                          <a:solidFill>
                            <a:srgbClr val="B5E6F0"/>
                          </a:solidFill>
                          <a:latin typeface="Arial"/>
                        </a:rPr>
                        <a:t>Ian</a:t>
                      </a:r>
                    </a:p>
                  </a:txBody>
                  <a:tcPr marL="0" marR="0" marT="0" marB="0" anchor="ctr">
                    <a:solidFill>
                      <a:srgbClr val="2570A4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b="1" sz="650" spc="150">
                          <a:solidFill>
                            <a:srgbClr val="E452E9"/>
                          </a:solidFill>
                          <a:latin typeface="Arial"/>
                        </a:rPr>
                        <a:t>^ </a:t>
                      </a:r>
                      <a:r>
                        <a:rPr lang="en-US" b="1" sz="1100" spc="50">
                          <a:solidFill>
                            <a:srgbClr val="58C3D0"/>
                          </a:solidFill>
                          <a:latin typeface="Arial"/>
                        </a:rPr>
                        <a:t>1 </a:t>
                      </a:r>
                      <a:r>
                        <a:rPr lang="en-US" b="1" sz="650" spc="150">
                          <a:solidFill>
                            <a:srgbClr val="B5E6F0"/>
                          </a:solidFill>
                          <a:latin typeface="Arial"/>
                        </a:rPr>
                        <a:t>Ana</a:t>
                      </a:r>
                    </a:p>
                  </a:txBody>
                  <a:tcPr marL="0" marR="0" marT="0" marB="0" anchor="b">
                    <a:solidFill>
                      <a:srgbClr val="424242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KNOWS</a:t>
                      </a:r>
                    </a:p>
                  </a:txBody>
                  <a:tcPr marL="0" marR="0" marT="0" marB="0" anchor="ctr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20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"/>
          <p:cNvSpPr/>
          <p:nvPr/>
        </p:nvSpPr>
        <p:spPr>
          <a:xfrm>
            <a:off x="7065264" y="1740408"/>
            <a:ext cx="2368296" cy="88087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6477000">
              <a:lnSpc>
                <a:spcPts val="1152"/>
              </a:lnSpc>
            </a:pPr>
            <a:r>
              <a:rPr lang="en-US" b="1" sz="900">
                <a:solidFill>
                  <a:srgbClr val="5C5B52"/>
                </a:solidFill>
                <a:latin typeface="Arial"/>
              </a:rPr>
              <a:t>Simple sample graph. It all boils down to linked lists of fixed size records on disk. Properties are stored as a linked list of property records, each holding key+value. Each node/relationship references its first property record.</a:t>
            </a:r>
          </a:p>
        </p:txBody>
      </p:sp>
      <p:sp>
        <p:nvSpPr>
          <p:cNvPr id="13" name=""/>
          <p:cNvSpPr/>
          <p:nvPr/>
        </p:nvSpPr>
        <p:spPr>
          <a:xfrm>
            <a:off x="6979920" y="2596896"/>
            <a:ext cx="2560320" cy="3169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1152"/>
              </a:lnSpc>
            </a:pPr>
            <a:r>
              <a:rPr lang="en-US" b="1" sz="900">
                <a:solidFill>
                  <a:srgbClr val="5C5B52"/>
                </a:solidFill>
                <a:latin typeface="Arial"/>
              </a:rPr>
              <a:t>-i^Nodes also reference the first node in its relationship chain.</a:t>
            </a:r>
          </a:p>
        </p:txBody>
      </p:sp>
      <p:sp>
        <p:nvSpPr>
          <p:cNvPr id="14" name=""/>
          <p:cNvSpPr/>
          <p:nvPr/>
        </p:nvSpPr>
        <p:spPr>
          <a:xfrm>
            <a:off x="7357872" y="2926080"/>
            <a:ext cx="2051304" cy="1310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>
              <a:lnSpc>
                <a:spcPts val="1152"/>
              </a:lnSpc>
              <a:spcAft>
                <a:spcPts val="630"/>
              </a:spcAft>
            </a:pPr>
            <a:r>
              <a:rPr lang="en-US" b="1" sz="900">
                <a:solidFill>
                  <a:srgbClr val="5C5B52"/>
                </a:solidFill>
                <a:latin typeface="Arial"/>
              </a:rPr>
              <a:t>Relationship references its start and</a:t>
            </a:r>
          </a:p>
        </p:txBody>
      </p:sp>
      <p:sp>
        <p:nvSpPr>
          <p:cNvPr id="15" name=""/>
          <p:cNvSpPr/>
          <p:nvPr/>
        </p:nvSpPr>
        <p:spPr>
          <a:xfrm>
            <a:off x="8016240" y="3115056"/>
            <a:ext cx="1502664" cy="38404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r" indent="0">
              <a:lnSpc>
                <a:spcPts val="1152"/>
              </a:lnSpc>
            </a:pPr>
            <a:r>
              <a:rPr lang="en-US" b="1" sz="900">
                <a:solidFill>
                  <a:srgbClr val="5C5B52"/>
                </a:solidFill>
                <a:latin typeface="Arial"/>
              </a:rPr>
              <a:t>_the prev/next relationship : respectively</a:t>
            </a:r>
          </a:p>
        </p:txBody>
      </p:sp>
      <p:sp>
        <p:nvSpPr>
          <p:cNvPr id="16" name=""/>
          <p:cNvSpPr/>
          <p:nvPr/>
        </p:nvSpPr>
        <p:spPr>
          <a:xfrm>
            <a:off x="7059168" y="3084576"/>
            <a:ext cx="768096" cy="3962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304"/>
              </a:lnSpc>
            </a:pPr>
            <a:r>
              <a:rPr lang="en-US" b="1" sz="900">
                <a:solidFill>
                  <a:srgbClr val="A74124"/>
                </a:solidFill>
                <a:latin typeface="Arial"/>
              </a:rPr>
              <a:t>eW </a:t>
            </a:r>
            <a:r>
              <a:rPr lang="en-US" b="1" sz="900">
                <a:solidFill>
                  <a:srgbClr val="5C5B52"/>
                </a:solidFill>
                <a:latin typeface="Arial"/>
              </a:rPr>
              <a:t>node. recorAfor the</a:t>
            </a:r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6038088" y="4264152"/>
          <a:ext cx="1005840" cy="1094232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</a:tblGrid>
              <a:tr h="365760"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SP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EP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  <a:tr h="356616"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SN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  <a:tr h="371856">
                <a:tc gridSpan="2"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KNOWS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8" name=""/>
          <p:cNvSpPr/>
          <p:nvPr/>
        </p:nvSpPr>
        <p:spPr>
          <a:xfrm>
            <a:off x="10058400" y="2188464"/>
            <a:ext cx="1389888" cy="2133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solidFill>
                  <a:srgbClr val="B65E50"/>
                </a:solidFill>
                <a:latin typeface="Arial"/>
              </a:rPr>
              <a:t>•neo </a:t>
            </a:r>
            <a:r>
              <a:rPr lang="en-US" sz="1500">
                <a:solidFill>
                  <a:srgbClr val="979799"/>
                </a:solidFill>
                <a:latin typeface="Arial"/>
              </a:rPr>
              <a:t>technology</a:t>
            </a:r>
          </a:p>
        </p:txBody>
      </p:sp>
      <p:sp>
        <p:nvSpPr>
          <p:cNvPr id="19" name=""/>
          <p:cNvSpPr/>
          <p:nvPr/>
        </p:nvSpPr>
        <p:spPr>
          <a:xfrm>
            <a:off x="8211312" y="5090160"/>
            <a:ext cx="841248" cy="9448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2880"/>
              </a:lnSpc>
            </a:pPr>
            <a:r>
              <a:rPr lang="en-US" sz="1500">
                <a:solidFill>
                  <a:srgbClr val="F3E2C1"/>
                </a:solidFill>
                <a:latin typeface="Arial"/>
              </a:rPr>
              <a:t>SP EP Q FN KNOWS</a:t>
            </a:r>
          </a:p>
        </p:txBody>
      </p:sp>
      <p:sp>
        <p:nvSpPr>
          <p:cNvPr id="20" name=""/>
          <p:cNvSpPr/>
          <p:nvPr/>
        </p:nvSpPr>
        <p:spPr>
          <a:xfrm>
            <a:off x="9680448" y="4675632"/>
            <a:ext cx="762000" cy="4023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630"/>
              </a:spcAft>
            </a:pPr>
            <a:r>
              <a:rPr lang="en-US" b="1" sz="1050">
                <a:solidFill>
                  <a:srgbClr val="B5E6F0"/>
                </a:solidFill>
                <a:latin typeface="Arial"/>
              </a:rPr>
              <a:t>Nationality</a:t>
            </a:r>
          </a:p>
          <a:p>
            <a:pPr indent="0"/>
            <a:r>
              <a:rPr lang="en-US" b="1" sz="1100" spc="50">
                <a:solidFill>
                  <a:srgbClr val="B5E6F0"/>
                </a:solidFill>
                <a:latin typeface="Arial"/>
              </a:rPr>
              <a:t>Swedish</a:t>
            </a:r>
          </a:p>
        </p:txBody>
      </p:sp>
      <p:sp>
        <p:nvSpPr>
          <p:cNvPr id="21" name=""/>
          <p:cNvSpPr/>
          <p:nvPr/>
        </p:nvSpPr>
        <p:spPr>
          <a:xfrm>
            <a:off x="8705088" y="6309360"/>
            <a:ext cx="926592" cy="13533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r" indent="0"/>
            <a:r>
              <a:rPr lang="en-US" b="1" sz="1100" spc="50">
                <a:solidFill>
                  <a:srgbClr val="B5E6F0"/>
                </a:solidFill>
                <a:latin typeface="Arial"/>
              </a:rPr>
              <a:t>Name</a:t>
            </a:r>
          </a:p>
          <a:p>
            <a:pPr indent="0">
              <a:spcAft>
                <a:spcPts val="420"/>
              </a:spcAft>
            </a:pPr>
            <a:r>
              <a:rPr lang="en-US" i="1" baseline="30000" sz="400" spc="-50">
                <a:solidFill>
                  <a:srgbClr val="E452E9"/>
                </a:solidFill>
                <a:latin typeface="Arial"/>
              </a:rPr>
              <a:t>w</a:t>
            </a:r>
            <a:r>
              <a:rPr lang="en-US" i="1" sz="400" spc="-50">
                <a:solidFill>
                  <a:srgbClr val="E452E9"/>
                </a:solidFill>
                <a:latin typeface="Arial"/>
              </a:rPr>
              <a:t> 'V</a:t>
            </a:r>
          </a:p>
          <a:p>
            <a:pPr algn="r" indent="0">
              <a:spcAft>
                <a:spcPts val="2730"/>
              </a:spcAft>
            </a:pPr>
            <a:r>
              <a:rPr lang="en-US" b="1" u="sng" sz="1100" spc="50">
                <a:solidFill>
                  <a:srgbClr val="B5E6F0"/>
                </a:solidFill>
                <a:latin typeface="Arial"/>
              </a:rPr>
              <a:t>Jim</a:t>
            </a:r>
          </a:p>
          <a:p>
            <a:pPr algn="r" indent="0">
              <a:spcAft>
                <a:spcPts val="630"/>
              </a:spcAft>
            </a:pPr>
            <a:r>
              <a:rPr lang="en-US" b="1" sz="1100" spc="50">
                <a:solidFill>
                  <a:srgbClr val="B5E6F0"/>
                </a:solidFill>
                <a:latin typeface="Arial"/>
              </a:rPr>
              <a:t>Stuff</a:t>
            </a:r>
          </a:p>
          <a:p>
            <a:pPr algn="r" indent="0"/>
            <a:r>
              <a:rPr lang="en-US" b="1" sz="1100" spc="50">
                <a:solidFill>
                  <a:srgbClr val="B5E6F0"/>
                </a:solidFill>
                <a:latin typeface="Arial"/>
              </a:rPr>
              <a:t>good</a:t>
            </a:r>
          </a:p>
        </p:txBody>
      </p:sp>
      <p:graphicFrame>
        <p:nvGraphicFramePr>
          <p:cNvPr id="22" name=""/>
          <p:cNvGraphicFramePr>
            <a:graphicFrameLocks noGrp="1"/>
          </p:cNvGraphicFramePr>
          <p:nvPr/>
        </p:nvGraphicFramePr>
        <p:xfrm>
          <a:off x="9942576" y="6742176"/>
          <a:ext cx="1194816" cy="548640"/>
        </p:xfrm>
        <a:graphic>
          <a:graphicData uri="http://schemas.openxmlformats.org/drawingml/2006/table">
            <a:tbl>
              <a:tblPr/>
              <a:tblGrid>
                <a:gridCol w="399288"/>
                <a:gridCol w="795528"/>
              </a:tblGrid>
              <a:tr h="274320">
                <a:tc>
                  <a:txBody>
                    <a:bodyPr lIns="0" tIns="0" rIns="0" bIns="0">
                      <a:noAutofit/>
                    </a:bodyPr>
                    <a:p>
                      <a:endParaRPr sz="13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b="1" sz="1100" spc="50">
                          <a:solidFill>
                            <a:srgbClr val="B5E6F0"/>
                          </a:solidFill>
                          <a:latin typeface="Arial"/>
                        </a:rPr>
                        <a:t>Age</a:t>
                      </a:r>
                    </a:p>
                  </a:txBody>
                  <a:tcPr marL="0" marR="0" marT="0" marB="0" anchor="b">
                    <a:solidFill>
                      <a:srgbClr val="2570A4"/>
                    </a:solidFill>
                  </a:tcPr>
                </a:tc>
              </a:tr>
              <a:tr h="27432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i="1" sz="700">
                          <a:solidFill>
                            <a:srgbClr val="E452E9"/>
                          </a:solidFill>
                          <a:latin typeface="Consolas"/>
                        </a:rPr>
                        <a:t>i</a:t>
                      </a:r>
                      <a:r>
                        <a:rPr lang="en-US" b="1" sz="1100" spc="50">
                          <a:solidFill>
                            <a:srgbClr val="E452E9"/>
                          </a:solidFill>
                          <a:latin typeface="Arial"/>
                        </a:rPr>
                        <a:t> </a:t>
                      </a:r>
                      <a:r>
                        <a:rPr lang="en-US" b="1" sz="1100" spc="50">
                          <a:solidFill>
                            <a:srgbClr val="8E80E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0" marR="0" marT="0" marB="0" anchor="b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marL="152400" indent="0"/>
                      <a:r>
                        <a:rPr lang="en-US" b="1" sz="1100" spc="50">
                          <a:solidFill>
                            <a:srgbClr val="B5E6F0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0" marR="0" marT="0" marB="0" anchor="b">
                    <a:solidFill>
                      <a:srgbClr val="2570A4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530352" y="545592"/>
            <a:ext cx="5084064" cy="40538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3360"/>
              </a:spcAft>
            </a:pPr>
            <a:r>
              <a:rPr lang="en-US" b="1" sz="3300">
                <a:latin typeface="Calibri"/>
              </a:rPr>
              <a:t>Neo4j Storage Record Layout</a:t>
            </a:r>
          </a:p>
        </p:txBody>
      </p:sp>
      <p:sp>
        <p:nvSpPr>
          <p:cNvPr id="3" name=""/>
          <p:cNvSpPr/>
          <p:nvPr/>
        </p:nvSpPr>
        <p:spPr>
          <a:xfrm>
            <a:off x="481584" y="1484376"/>
            <a:ext cx="7982712" cy="67360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Bef>
                <a:spcPts val="3360"/>
              </a:spcBef>
              <a:spcAft>
                <a:spcPts val="1680"/>
              </a:spcAft>
            </a:pPr>
            <a:r>
              <a:rPr lang="en-US" b="1" sz="1200">
                <a:latin typeface="Tahoma"/>
              </a:rPr>
              <a:t>Node( 15 Bytes)</a:t>
            </a:r>
          </a:p>
          <a:p>
            <a:pPr algn="just" indent="0">
              <a:spcAft>
                <a:spcPts val="1680"/>
              </a:spcAft>
            </a:pPr>
            <a:r>
              <a:rPr lang="en-US" sz="1200" spc="450">
                <a:latin typeface="Tahoma"/>
              </a:rPr>
              <a:t>InUse Next Relationship ID    Next Property ID    Labels    Extra</a:t>
            </a:r>
          </a:p>
        </p:txBody>
      </p:sp>
      <p:sp>
        <p:nvSpPr>
          <p:cNvPr id="4" name=""/>
          <p:cNvSpPr/>
          <p:nvPr/>
        </p:nvSpPr>
        <p:spPr>
          <a:xfrm>
            <a:off x="481584" y="2441448"/>
            <a:ext cx="15773400" cy="64617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marL="560832" indent="0">
              <a:lnSpc>
                <a:spcPts val="3720"/>
              </a:lnSpc>
              <a:spcBef>
                <a:spcPts val="1680"/>
              </a:spcBef>
            </a:pPr>
            <a:r>
              <a:rPr lang="en-US" sz="1200" spc="450">
                <a:latin typeface="Tahoma"/>
              </a:rPr>
              <a:t>15    9    14</a:t>
            </a:r>
          </a:p>
          <a:p>
            <a:pPr algn="just" indent="0">
              <a:lnSpc>
                <a:spcPts val="3720"/>
              </a:lnSpc>
              <a:spcAft>
                <a:spcPts val="1680"/>
              </a:spcAft>
            </a:pPr>
            <a:r>
              <a:rPr lang="en-US" b="1" sz="1200">
                <a:latin typeface="Tahoma"/>
              </a:rPr>
              <a:t>Relationship (34 Bytes)</a:t>
            </a:r>
          </a:p>
        </p:txBody>
      </p:sp>
      <p:sp>
        <p:nvSpPr>
          <p:cNvPr id="5" name=""/>
          <p:cNvSpPr/>
          <p:nvPr/>
        </p:nvSpPr>
        <p:spPr>
          <a:xfrm>
            <a:off x="481584" y="3398520"/>
            <a:ext cx="15773400" cy="1798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3720"/>
              </a:lnSpc>
            </a:pPr>
            <a:r>
              <a:rPr lang="en-US" sz="1200">
                <a:latin typeface="Tahoma"/>
              </a:rPr>
              <a:t>InUse First Node ID    Second Node ID    Relationship Type    First Node Prev Rel ID    First Node Next Rel ID Second Node Prev Rel ID Second Node Next Rel ID </a:t>
            </a:r>
            <a:r>
              <a:rPr lang="en-US" i="1" sz="1200">
                <a:latin typeface="Arial"/>
              </a:rPr>
              <a:t>^</a:t>
            </a:r>
          </a:p>
        </p:txBody>
      </p:sp>
      <p:graphicFrame>
        <p:nvGraphicFramePr>
          <p:cNvPr id="6" name=""/>
          <p:cNvGraphicFramePr>
            <a:graphicFrameLocks noGrp="1"/>
          </p:cNvGraphicFramePr>
          <p:nvPr/>
        </p:nvGraphicFramePr>
        <p:xfrm>
          <a:off x="432816" y="3566160"/>
          <a:ext cx="15914624" cy="3105912"/>
        </p:xfrm>
        <a:graphic>
          <a:graphicData uri="http://schemas.openxmlformats.org/drawingml/2006/table">
            <a:tbl>
              <a:tblPr/>
              <a:tblGrid>
                <a:gridCol w="554736"/>
                <a:gridCol w="539496"/>
                <a:gridCol w="542544"/>
                <a:gridCol w="1082040"/>
                <a:gridCol w="2164080"/>
                <a:gridCol w="4328160"/>
                <a:gridCol w="2167128"/>
                <a:gridCol w="2161032"/>
                <a:gridCol w="2167128"/>
                <a:gridCol w="208280"/>
              </a:tblGrid>
              <a:tr h="252984"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gridSpan="3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ED966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95A1D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CD9A3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FF2CD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</a:tr>
              <a:tr h="1191768">
                <a:tc gridSpan="8">
                  <a:txBody>
                    <a:bodyPr lIns="0" tIns="0" rIns="0" bIns="0">
                      <a:noAutofit/>
                    </a:bodyPr>
                    <a:p>
                      <a:pPr marR="1930400" indent="609600">
                        <a:lnSpc>
                          <a:spcPts val="3720"/>
                        </a:lnSpc>
                      </a:pPr>
                      <a:r>
                        <a:rPr lang="en-US" sz="1200">
                          <a:latin typeface="Tahoma"/>
                        </a:rPr>
                        <a:t>1 </a:t>
                      </a:r>
                      <a:r>
                        <a:rPr lang="en-US" b="1" sz="1200">
                          <a:latin typeface="Tahoma"/>
                        </a:rPr>
                        <a:t>5 </a:t>
                      </a:r>
                      <a:r>
                        <a:rPr lang="en-US" sz="1200">
                          <a:latin typeface="Tahoma"/>
                        </a:rPr>
                        <a:t>9 13 17 21 </a:t>
                      </a:r>
                      <a:r>
                        <a:rPr lang="en-US" b="1" sz="1200">
                          <a:latin typeface="Tahoma"/>
                        </a:rPr>
                        <a:t>RelationshipGroup (25 Bytes)</a:t>
                      </a:r>
                    </a:p>
                    <a:p>
                      <a:pPr indent="0">
                        <a:lnSpc>
                          <a:spcPts val="3720"/>
                        </a:lnSpc>
                      </a:pPr>
                      <a:r>
                        <a:rPr lang="en-US" sz="1200">
                          <a:latin typeface="Tahoma"/>
                        </a:rPr>
                        <a:t>Type InUse HighBits Next RelationshipGroup Out Chain In Chain Loop Chain Owning Node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200">
                          <a:latin typeface="Tahoma"/>
                        </a:rPr>
                        <a:t>25 2</a:t>
                      </a:r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</a:tr>
              <a:tr h="228600">
                <a:tc gridSpan="2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>
                    <a:solidFill>
                      <a:srgbClr val="17C9C9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>
                    <a:solidFill>
                      <a:srgbClr val="FF737E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>
                    <a:solidFill>
                      <a:srgbClr val="D679D4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100"/>
                    </a:p>
                  </a:txBody>
                  <a:tcPr marL="0" marR="0" marT="0" marB="0"/>
                </a:tc>
              </a:tr>
              <a:tr h="1188720">
                <a:tc gridSpan="8">
                  <a:txBody>
                    <a:bodyPr lIns="0" tIns="0" rIns="0" bIns="0">
                      <a:noAutofit/>
                    </a:bodyPr>
                    <a:p>
                      <a:pPr marR="1930400" indent="1143000">
                        <a:lnSpc>
                          <a:spcPts val="3720"/>
                        </a:lnSpc>
                      </a:pPr>
                      <a:r>
                        <a:rPr lang="en-US" sz="1200">
                          <a:latin typeface="Tahoma"/>
                        </a:rPr>
                        <a:t>2 3 5 9 13 17 21 </a:t>
                      </a:r>
                      <a:r>
                        <a:rPr lang="en-US" b="1" sz="1200">
                          <a:latin typeface="Tahoma"/>
                        </a:rPr>
                        <a:t>Property Record (41 Bytes)</a:t>
                      </a:r>
                    </a:p>
                    <a:p>
                      <a:pPr indent="0">
                        <a:lnSpc>
                          <a:spcPts val="3720"/>
                        </a:lnSpc>
                      </a:pPr>
                      <a:r>
                        <a:rPr lang="en-US" sz="1200">
                          <a:latin typeface="Tahoma"/>
                        </a:rPr>
                        <a:t>Bits Next Property Record Previous Property Record Payload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700"/>
                    </a:p>
                  </a:txBody>
                  <a:tcPr marL="0" marR="0" marT="0" marB="0"/>
                </a:tc>
              </a:tr>
              <a:tr h="243840"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gridSpan="3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ED966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>
                    <a:solidFill>
                      <a:srgbClr val="FCD9A3"/>
                    </a:solidFill>
                  </a:tcPr>
                </a:tc>
                <a:tc gridSpan="5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200"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481584" y="6702552"/>
          <a:ext cx="4949952" cy="1136904"/>
        </p:xfrm>
        <a:graphic>
          <a:graphicData uri="http://schemas.openxmlformats.org/drawingml/2006/table">
            <a:tbl>
              <a:tblPr/>
              <a:tblGrid>
                <a:gridCol w="1725168"/>
                <a:gridCol w="1938528"/>
                <a:gridCol w="1286256"/>
              </a:tblGrid>
              <a:tr h="313944">
                <a:tc>
                  <a:txBody>
                    <a:bodyPr lIns="0" tIns="0" rIns="0" bIns="0">
                      <a:noAutofit/>
                    </a:bodyPr>
                    <a:p>
                      <a:pPr marL="558800" indent="0"/>
                      <a:r>
                        <a:rPr lang="en-US" sz="1200">
                          <a:latin typeface="Tahoma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marR="127000" indent="0"/>
                      <a:r>
                        <a:rPr lang="en-US" sz="1200">
                          <a:latin typeface="Tahoma"/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200">
                          <a:latin typeface="Tahoma"/>
                        </a:rPr>
                        <a:t>9</a:t>
                      </a:r>
                    </a:p>
                  </a:txBody>
                  <a:tcPr marL="0" marR="0" marT="0" marB="0"/>
                </a:tc>
              </a:tr>
              <a:tr h="48768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200">
                          <a:latin typeface="Tahoma"/>
                        </a:rPr>
                        <a:t>Dynamic Record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4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400"/>
                    </a:p>
                  </a:txBody>
                  <a:tcPr marL="0" marR="0" marT="0" marB="0"/>
                </a:tc>
              </a:tr>
              <a:tr h="33528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200">
                          <a:latin typeface="Tahoma"/>
                        </a:rPr>
                        <a:t>InUse Size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marL="215900" indent="0"/>
                      <a:r>
                        <a:rPr lang="en-US" sz="1200">
                          <a:latin typeface="Tahoma"/>
                        </a:rPr>
                        <a:t>Next Block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200">
                          <a:latin typeface="Tahoma"/>
                        </a:rPr>
                        <a:t>Payload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8" name=""/>
          <p:cNvSpPr/>
          <p:nvPr/>
        </p:nvSpPr>
        <p:spPr>
          <a:xfrm>
            <a:off x="1027176" y="8122920"/>
            <a:ext cx="106680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>
                <a:latin typeface="Arial"/>
              </a:rPr>
              <a:t>1</a:t>
            </a:r>
          </a:p>
        </p:txBody>
      </p:sp>
      <p:sp>
        <p:nvSpPr>
          <p:cNvPr id="9" name=""/>
          <p:cNvSpPr/>
          <p:nvPr/>
        </p:nvSpPr>
        <p:spPr>
          <a:xfrm>
            <a:off x="2636520" y="8122920"/>
            <a:ext cx="124968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200">
                <a:latin typeface="Tahoma"/>
              </a:rPr>
              <a:t>4</a:t>
            </a:r>
          </a:p>
        </p:txBody>
      </p:sp>
      <p:sp>
        <p:nvSpPr>
          <p:cNvPr id="10" name=""/>
          <p:cNvSpPr/>
          <p:nvPr/>
        </p:nvSpPr>
        <p:spPr>
          <a:xfrm>
            <a:off x="4806696" y="8122920"/>
            <a:ext cx="115824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>
                <a:latin typeface="Arial"/>
              </a:rPr>
              <a:t>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822704" y="6096"/>
            <a:ext cx="14429232" cy="913790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785872" y="5132832"/>
            <a:ext cx="633984" cy="95097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4084320" y="5132832"/>
            <a:ext cx="640080" cy="950976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310896" y="274320"/>
            <a:ext cx="5638800" cy="585216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>
              <a:spcAft>
                <a:spcPts val="1890"/>
              </a:spcAft>
            </a:pPr>
            <a:r>
              <a:rPr lang="en-US" sz="3900">
                <a:solidFill>
                  <a:srgbClr val="FFFFFF"/>
                </a:solidFill>
                <a:latin typeface="Tahoma"/>
              </a:rPr>
              <a:t>What we put in cache</a:t>
            </a:r>
          </a:p>
        </p:txBody>
      </p:sp>
      <p:sp>
        <p:nvSpPr>
          <p:cNvPr id="5" name=""/>
          <p:cNvSpPr/>
          <p:nvPr/>
        </p:nvSpPr>
        <p:spPr>
          <a:xfrm>
            <a:off x="2432304" y="1011936"/>
            <a:ext cx="3998976" cy="481584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>
              <a:spcBef>
                <a:spcPts val="1890"/>
              </a:spcBef>
            </a:pPr>
            <a:r>
              <a:rPr lang="en-US" sz="2500">
                <a:solidFill>
                  <a:srgbClr val="FFFFFF"/>
                </a:solidFill>
                <a:latin typeface="Arial"/>
              </a:rPr>
              <a:t>ID Relationship ID refs</a:t>
            </a:r>
          </a:p>
        </p:txBody>
      </p:sp>
      <p:sp>
        <p:nvSpPr>
          <p:cNvPr id="6" name=""/>
          <p:cNvSpPr/>
          <p:nvPr/>
        </p:nvSpPr>
        <p:spPr>
          <a:xfrm>
            <a:off x="640080" y="2938272"/>
            <a:ext cx="1103376" cy="390144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>
              <a:spcBef>
                <a:spcPts val="1470"/>
              </a:spcBef>
            </a:pPr>
            <a:r>
              <a:rPr lang="en-US" sz="2500">
                <a:solidFill>
                  <a:srgbClr val="FFFFFF"/>
                </a:solidFill>
                <a:latin typeface="Arial"/>
              </a:rPr>
              <a:t>/Node</a:t>
            </a:r>
          </a:p>
        </p:txBody>
      </p:sp>
      <p:graphicFrame>
        <p:nvGraphicFramePr>
          <p:cNvPr id="7" name=""/>
          <p:cNvGraphicFramePr>
            <a:graphicFrameLocks noGrp="1"/>
          </p:cNvGraphicFramePr>
          <p:nvPr/>
        </p:nvGraphicFramePr>
        <p:xfrm>
          <a:off x="3236976" y="1591056"/>
          <a:ext cx="3322320" cy="1630680"/>
        </p:xfrm>
        <a:graphic>
          <a:graphicData uri="http://schemas.openxmlformats.org/drawingml/2006/table">
            <a:tbl>
              <a:tblPr/>
              <a:tblGrid>
                <a:gridCol w="1335024"/>
                <a:gridCol w="652272"/>
                <a:gridCol w="646176"/>
                <a:gridCol w="688848"/>
              </a:tblGrid>
              <a:tr h="393192">
                <a:tc>
                  <a:txBody>
                    <a:bodyPr lIns="0" tIns="0" rIns="0" bIns="0">
                      <a:noAutofit/>
                    </a:bodyPr>
                    <a:p>
                      <a:pPr algn="r" marR="1651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in: R 1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650">
                          <a:solidFill>
                            <a:srgbClr val="B5E6F0"/>
                          </a:solidFill>
                          <a:latin typeface="Tahoma"/>
                        </a:rPr>
                        <a:t>• • •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</a:tr>
              <a:tr h="423672">
                <a:tc>
                  <a:txBody>
                    <a:bodyPr lIns="0" tIns="0" rIns="0" bIns="0">
                      <a:noAutofit/>
                    </a:bodyPr>
                    <a:p>
                      <a:pPr algn="r" marR="1651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" o </a:t>
                      </a:r>
                      <a:r>
                        <a:rPr lang="en-US" i="1" sz="2400" spc="-250">
                          <a:solidFill>
                            <a:srgbClr val="B5E6F0"/>
                          </a:solidFill>
                          <a:latin typeface="Tahoma"/>
                        </a:rPr>
                        <a:t>ar</a:t>
                      </a:r>
                      <a:r>
                        <a:rPr lang="en-US" cap="small" sz="1500">
                          <a:solidFill>
                            <a:srgbClr val="B5E6F0"/>
                          </a:solidFill>
                          <a:latin typeface="Arial"/>
                        </a:rPr>
                        <a:t> r i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650">
                          <a:solidFill>
                            <a:srgbClr val="B5E6F0"/>
                          </a:solidFill>
                          <a:latin typeface="Tahoma"/>
                        </a:rPr>
                        <a:t>• • •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</a:tr>
              <a:tr h="417576">
                <a:tc>
                  <a:txBody>
                    <a:bodyPr lIns="0" tIns="0" rIns="0" bIns="0">
                      <a:noAutofit/>
                    </a:bodyPr>
                    <a:p>
                      <a:pPr algn="r" marR="1651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it}:*, R 1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3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650">
                          <a:solidFill>
                            <a:srgbClr val="B5E6F0"/>
                          </a:solidFill>
                          <a:latin typeface="Tahoma"/>
                        </a:rPr>
                        <a:t>• • •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</a:tr>
              <a:tr h="396240">
                <a:tc>
                  <a:txBody>
                    <a:bodyPr lIns="0" tIns="0" rIns="0" bIns="0">
                      <a:noAutofit/>
                    </a:bodyPr>
                    <a:p>
                      <a:pPr algn="r" marR="1651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1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650">
                          <a:solidFill>
                            <a:srgbClr val="B5E6F0"/>
                          </a:solidFill>
                          <a:latin typeface="Tahoma"/>
                        </a:rPr>
                        <a:t>• • •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sz="15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9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</a:tbl>
          </a:graphicData>
        </a:graphic>
      </p:graphicFrame>
      <p:sp>
        <p:nvSpPr>
          <p:cNvPr id="8" name=""/>
          <p:cNvSpPr/>
          <p:nvPr/>
        </p:nvSpPr>
        <p:spPr>
          <a:xfrm>
            <a:off x="6626352" y="2505456"/>
            <a:ext cx="426720" cy="225552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solidFill>
                  <a:srgbClr val="B5E6F0"/>
                </a:solidFill>
                <a:latin typeface="Arial"/>
              </a:rPr>
              <a:t>R n</a:t>
            </a:r>
          </a:p>
        </p:txBody>
      </p:sp>
      <p:sp>
        <p:nvSpPr>
          <p:cNvPr id="9" name=""/>
          <p:cNvSpPr/>
          <p:nvPr/>
        </p:nvSpPr>
        <p:spPr>
          <a:xfrm>
            <a:off x="499872" y="3587496"/>
            <a:ext cx="137160" cy="935736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>
            <a:noAutofit/>
          </a:bodyPr>
          <a:p>
            <a:pPr algn="just" indent="0">
              <a:lnSpc>
                <a:spcPts val="1632"/>
              </a:lnSpc>
              <a:spcAft>
                <a:spcPts val="840"/>
              </a:spcAft>
            </a:pPr>
            <a:r>
              <a:rPr lang="en-US" i="1" sz="1300" spc="-100">
                <a:solidFill>
                  <a:srgbClr val="FFFFFF"/>
                </a:solidFill>
                <a:latin typeface="Arial"/>
              </a:rPr>
              <a:t>i </a:t>
            </a:r>
            <a:r>
              <a:rPr lang="en-US" b="1" sz="1200">
                <a:solidFill>
                  <a:srgbClr val="FFFFFF"/>
                </a:solidFill>
                <a:latin typeface="Times New Roman"/>
              </a:rPr>
              <a:t>f </a:t>
            </a:r>
            <a:r>
              <a:rPr lang="en-US" b="1" sz="1300">
                <a:solidFill>
                  <a:srgbClr val="FFFFFF"/>
                </a:solidFill>
                <a:latin typeface="Arial"/>
              </a:rPr>
              <a:t>I I I</a:t>
            </a:r>
          </a:p>
        </p:txBody>
      </p:sp>
      <p:sp>
        <p:nvSpPr>
          <p:cNvPr id="10" name=""/>
          <p:cNvSpPr/>
          <p:nvPr/>
        </p:nvSpPr>
        <p:spPr>
          <a:xfrm>
            <a:off x="563880" y="4690872"/>
            <a:ext cx="1054608" cy="542544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>
            <a:noAutofit/>
          </a:bodyPr>
          <a:p>
            <a:pPr algn="r" indent="0"/>
            <a:r>
              <a:rPr lang="en-US" b="1" sz="1300">
                <a:solidFill>
                  <a:srgbClr val="FFFFFF"/>
                </a:solidFill>
                <a:latin typeface="Arial"/>
              </a:rPr>
              <a:t>' '</a:t>
            </a:r>
          </a:p>
          <a:p>
            <a:pPr indent="0"/>
            <a:r>
              <a:rPr lang="en-US" b="1" sz="1300">
                <a:solidFill>
                  <a:srgbClr val="FFFFFF"/>
                </a:solidFill>
                <a:latin typeface="Arial"/>
              </a:rPr>
              <a:t>. * '</a:t>
            </a:r>
          </a:p>
          <a:p>
            <a:pPr indent="0"/>
            <a:r>
              <a:rPr lang="en-US" b="1" sz="1300">
                <a:solidFill>
                  <a:srgbClr val="FFFFFF"/>
                </a:solidFill>
                <a:latin typeface="Arial"/>
              </a:rPr>
              <a:t>* I </a:t>
            </a:r>
            <a:r>
              <a:rPr lang="en-US" i="1" sz="1300" spc="-100">
                <a:solidFill>
                  <a:srgbClr val="FFFFFF"/>
                </a:solidFill>
                <a:latin typeface="Arial"/>
              </a:rPr>
              <a:t>•</a:t>
            </a:r>
          </a:p>
        </p:txBody>
      </p:sp>
      <p:sp>
        <p:nvSpPr>
          <p:cNvPr id="11" name=""/>
          <p:cNvSpPr/>
          <p:nvPr/>
        </p:nvSpPr>
        <p:spPr>
          <a:xfrm>
            <a:off x="600456" y="5239512"/>
            <a:ext cx="792480" cy="195072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solidFill>
                  <a:srgbClr val="FFFFFF"/>
                </a:solidFill>
                <a:latin typeface="Arial"/>
              </a:rPr>
              <a:t>» I *</a:t>
            </a:r>
          </a:p>
        </p:txBody>
      </p:sp>
      <p:sp>
        <p:nvSpPr>
          <p:cNvPr id="12" name=""/>
          <p:cNvSpPr/>
          <p:nvPr/>
        </p:nvSpPr>
        <p:spPr>
          <a:xfrm>
            <a:off x="3553968" y="3340608"/>
            <a:ext cx="2743200" cy="390144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FFFFFF"/>
                </a:solidFill>
                <a:latin typeface="Arial"/>
              </a:rPr>
              <a:t>(grouped by type)</a:t>
            </a:r>
          </a:p>
        </p:txBody>
      </p:sp>
      <p:sp>
        <p:nvSpPr>
          <p:cNvPr id="13" name=""/>
          <p:cNvSpPr/>
          <p:nvPr/>
        </p:nvSpPr>
        <p:spPr>
          <a:xfrm>
            <a:off x="1194816" y="3810000"/>
            <a:ext cx="1072896" cy="841248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>
            <a:noAutofit/>
          </a:bodyPr>
          <a:p>
            <a:pPr marL="317500" indent="139700">
              <a:lnSpc>
                <a:spcPts val="1104"/>
              </a:lnSpc>
              <a:spcAft>
                <a:spcPts val="840"/>
              </a:spcAft>
            </a:pPr>
            <a:r>
              <a:rPr lang="en-US" i="1" sz="1300" spc="-100">
                <a:solidFill>
                  <a:srgbClr val="FFFFFF"/>
                </a:solidFill>
                <a:latin typeface="Arial"/>
              </a:rPr>
              <a:t>* * * *</a:t>
            </a:r>
          </a:p>
          <a:p>
            <a:pPr marR="444500" indent="101600">
              <a:lnSpc>
                <a:spcPts val="1488"/>
              </a:lnSpc>
            </a:pPr>
            <a:r>
              <a:rPr lang="en-US" b="1" i="1" sz="1300">
                <a:solidFill>
                  <a:srgbClr val="FFFFFF"/>
                </a:solidFill>
                <a:latin typeface="Courier New"/>
              </a:rPr>
              <a:t>i 4 i</a:t>
            </a:r>
            <a:r>
              <a:rPr lang="en-US" b="1" sz="1200">
                <a:solidFill>
                  <a:srgbClr val="FFFFFF"/>
                </a:solidFill>
                <a:latin typeface="Courier New"/>
              </a:rPr>
              <a:t> /</a:t>
            </a:r>
          </a:p>
        </p:txBody>
      </p:sp>
      <p:graphicFrame>
        <p:nvGraphicFramePr>
          <p:cNvPr id="14" name=""/>
          <p:cNvGraphicFramePr>
            <a:graphicFrameLocks noGrp="1"/>
          </p:cNvGraphicFramePr>
          <p:nvPr/>
        </p:nvGraphicFramePr>
        <p:xfrm>
          <a:off x="2279904" y="4465320"/>
          <a:ext cx="5224272" cy="670560"/>
        </p:xfrm>
        <a:graphic>
          <a:graphicData uri="http://schemas.openxmlformats.org/drawingml/2006/table">
            <a:tbl>
              <a:tblPr/>
              <a:tblGrid>
                <a:gridCol w="1313688"/>
                <a:gridCol w="1301496"/>
                <a:gridCol w="1304544"/>
                <a:gridCol w="1304544"/>
              </a:tblGrid>
              <a:tr h="670560">
                <a:tc>
                  <a:txBody>
                    <a:bodyPr lIns="0" tIns="0" rIns="0" bIns="0">
                      <a:noAutofit/>
                    </a:bodyPr>
                    <a:p>
                      <a:pPr marL="266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1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2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b="1" sz="900">
                          <a:solidFill>
                            <a:srgbClr val="B5E6F0"/>
                          </a:solidFill>
                          <a:latin typeface="Arial"/>
                        </a:rPr>
                        <a:t>■ ■ ■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</a:tr>
            </a:tbl>
          </a:graphicData>
        </a:graphic>
      </p:graphicFrame>
      <p:sp>
        <p:nvSpPr>
          <p:cNvPr id="15" name=""/>
          <p:cNvSpPr/>
          <p:nvPr/>
        </p:nvSpPr>
        <p:spPr>
          <a:xfrm>
            <a:off x="685800" y="5629656"/>
            <a:ext cx="990600" cy="774192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>
            <a:noAutofit/>
          </a:bodyPr>
          <a:p>
            <a:pPr indent="0">
              <a:lnSpc>
                <a:spcPts val="2616"/>
              </a:lnSpc>
            </a:pPr>
            <a:r>
              <a:rPr lang="en-US" b="1" sz="3100">
                <a:solidFill>
                  <a:srgbClr val="FFFFFF"/>
                </a:solidFill>
                <a:latin typeface="Arial"/>
              </a:rPr>
              <a:t>\: :• w </a:t>
            </a:r>
            <a:r>
              <a:rPr lang="en-US" sz="3500">
                <a:solidFill>
                  <a:srgbClr val="FFFFFF"/>
                </a:solidFill>
                <a:latin typeface="Corbel"/>
              </a:rPr>
              <a:t>1</a:t>
            </a:r>
          </a:p>
        </p:txBody>
      </p:sp>
      <p:graphicFrame>
        <p:nvGraphicFramePr>
          <p:cNvPr id="16" name=""/>
          <p:cNvGraphicFramePr>
            <a:graphicFrameLocks noGrp="1"/>
          </p:cNvGraphicFramePr>
          <p:nvPr/>
        </p:nvGraphicFramePr>
        <p:xfrm>
          <a:off x="347472" y="6416040"/>
          <a:ext cx="7153656" cy="1944624"/>
        </p:xfrm>
        <a:graphic>
          <a:graphicData uri="http://schemas.openxmlformats.org/drawingml/2006/table">
            <a:tbl>
              <a:tblPr/>
              <a:tblGrid>
                <a:gridCol w="1950720"/>
                <a:gridCol w="594360"/>
                <a:gridCol w="646176"/>
                <a:gridCol w="679704"/>
                <a:gridCol w="621792"/>
                <a:gridCol w="1950720"/>
                <a:gridCol w="710184"/>
              </a:tblGrid>
              <a:tr h="658368">
                <a:tc>
                  <a:txBody>
                    <a:bodyPr lIns="0" tIns="0" rIns="0" bIns="0">
                      <a:noAutofit/>
                    </a:bodyPr>
                    <a:p>
                      <a:pPr marL="1358900" indent="0">
                        <a:spcAft>
                          <a:spcPts val="210"/>
                        </a:spcAft>
                      </a:pPr>
                      <a:r>
                        <a:rPr lang="en-US" b="1" sz="3100">
                          <a:solidFill>
                            <a:srgbClr val="FCC878"/>
                          </a:solidFill>
                          <a:latin typeface="Arial"/>
                        </a:rPr>
                        <a:t>*</a:t>
                      </a:r>
                    </a:p>
                    <a:p>
                      <a:pPr marL="1473200" indent="0">
                        <a:spcAft>
                          <a:spcPts val="840"/>
                        </a:spcAft>
                      </a:pPr>
                      <a:r>
                        <a:rPr lang="en-US" b="1" sz="3100">
                          <a:solidFill>
                            <a:srgbClr val="FCC878"/>
                          </a:solidFill>
                          <a:latin typeface="Arial"/>
                        </a:rPr>
                        <a:t>%</a:t>
                      </a:r>
                    </a:p>
                    <a:p>
                      <a:pPr algn="r" indent="0"/>
                      <a:r>
                        <a:rPr lang="en-US" b="1" sz="3100">
                          <a:solidFill>
                            <a:srgbClr val="FCC878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b="1" cap="small" sz="3100">
                          <a:solidFill>
                            <a:srgbClr val="F3E2C1"/>
                          </a:solidFill>
                          <a:latin typeface="Arial"/>
                        </a:rPr>
                        <a:t>id'’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304800" indent="-304800">
                        <a:lnSpc>
                          <a:spcPts val="888"/>
                        </a:lnSpc>
                      </a:pPr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\ </a:t>
                      </a:r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start </a:t>
                      </a:r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0" marR="0" marT="0" marB="0" anchor="ctr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2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4064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end type</a:t>
                      </a:r>
                    </a:p>
                  </a:txBody>
                  <a:tcPr marL="0" marR="0" marT="0" marB="0" anchor="ctr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2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2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  <a:tr h="329184">
                <a:tc rowSpan="2"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0" marR="0" marT="0" marB="0" anchor="ctr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  <a:tr h="633984">
                <a:tc v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1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3175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2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algn="r" marR="266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</a:tr>
              <a:tr h="323088"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3100">
                          <a:solidFill>
                            <a:srgbClr val="FFFFFF"/>
                          </a:solidFill>
                          <a:latin typeface="Arial"/>
                        </a:rPr>
                        <a:t>&lt;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3100">
                          <a:solidFill>
                            <a:srgbClr val="FFFFFF"/>
                          </a:solidFill>
                          <a:latin typeface="Arial"/>
                        </a:rPr>
                        <a:t>&lt;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3100">
                          <a:solidFill>
                            <a:srgbClr val="FFFFFF"/>
                          </a:solidFill>
                          <a:latin typeface="Arial"/>
                        </a:rPr>
                        <a:t>&lt;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</a:tr>
            </a:tbl>
          </a:graphicData>
        </a:graphic>
      </p:graphicFrame>
      <p:sp>
        <p:nvSpPr>
          <p:cNvPr id="17" name=""/>
          <p:cNvSpPr/>
          <p:nvPr/>
        </p:nvSpPr>
        <p:spPr>
          <a:xfrm>
            <a:off x="6873240" y="5230368"/>
            <a:ext cx="262128" cy="704088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vert="vert" wrap="none">
            <a:noAutofit/>
          </a:bodyPr>
          <a:p>
            <a:pPr indent="0"/>
            <a:r>
              <a:rPr lang="en-US" sz="2500">
                <a:solidFill>
                  <a:srgbClr val="B5E6F0"/>
                </a:solidFill>
                <a:latin typeface="Arial"/>
              </a:rPr>
              <a:t>Val 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95656" y="1243584"/>
            <a:ext cx="472440" cy="105765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295400" y="1353312"/>
            <a:ext cx="5443728" cy="454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819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Pointers instead of Lookups</a:t>
            </a:r>
          </a:p>
        </p:txBody>
      </p:sp>
      <p:sp>
        <p:nvSpPr>
          <p:cNvPr id="4" name=""/>
          <p:cNvSpPr/>
          <p:nvPr/>
        </p:nvSpPr>
        <p:spPr>
          <a:xfrm>
            <a:off x="213360" y="3072384"/>
            <a:ext cx="5004816" cy="11003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marL="1092708" indent="0">
              <a:spcBef>
                <a:spcPts val="8190"/>
              </a:spcBef>
              <a:spcAft>
                <a:spcPts val="819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Fixed Sized Records</a:t>
            </a:r>
          </a:p>
        </p:txBody>
      </p:sp>
      <p:sp>
        <p:nvSpPr>
          <p:cNvPr id="5" name=""/>
          <p:cNvSpPr/>
          <p:nvPr/>
        </p:nvSpPr>
        <p:spPr>
          <a:xfrm>
            <a:off x="210312" y="4925568"/>
            <a:ext cx="4837176" cy="11155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marL="1095756" indent="0">
              <a:spcBef>
                <a:spcPts val="8190"/>
              </a:spcBef>
              <a:spcAft>
                <a:spcPts val="7560"/>
              </a:spcAft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"Joins" on Creation</a:t>
            </a:r>
          </a:p>
        </p:txBody>
      </p:sp>
      <p:sp>
        <p:nvSpPr>
          <p:cNvPr id="6" name=""/>
          <p:cNvSpPr/>
          <p:nvPr/>
        </p:nvSpPr>
        <p:spPr>
          <a:xfrm>
            <a:off x="201168" y="6797040"/>
            <a:ext cx="6348984" cy="10850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240"/>
              </a:lnSpc>
              <a:spcBef>
                <a:spcPts val="7560"/>
              </a:spcBef>
            </a:pPr>
            <a:r>
              <a:rPr lang="en-US" b="1" sz="11200">
                <a:solidFill>
                  <a:srgbClr val="D24132"/>
                </a:solidFill>
                <a:latin typeface="Arial"/>
              </a:rPr>
              <a:t>4</a:t>
            </a:r>
            <a:r>
              <a:rPr lang="en-US" b="1" sz="3100">
                <a:solidFill>
                  <a:srgbClr val="D24132"/>
                </a:solidFill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Spin Spin Spin through this data structure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0"/>
            <a:ext cx="16374330" cy="935754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096" y="1453896"/>
            <a:ext cx="16248888" cy="750722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170432" y="609600"/>
            <a:ext cx="2944368" cy="6217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Swedes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681216" y="192024"/>
            <a:ext cx="9573768" cy="895197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194816" y="646176"/>
            <a:ext cx="3861816" cy="58521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ctr" indent="0">
              <a:spcAft>
                <a:spcPts val="13020"/>
              </a:spcAft>
            </a:pPr>
            <a:r>
              <a:rPr lang="en-US" b="1" sz="5800">
                <a:latin typeface="Tahoma"/>
              </a:rPr>
              <a:t>Partitions</a:t>
            </a:r>
          </a:p>
        </p:txBody>
      </p:sp>
      <p:sp>
        <p:nvSpPr>
          <p:cNvPr id="4" name=""/>
          <p:cNvSpPr/>
          <p:nvPr/>
        </p:nvSpPr>
        <p:spPr>
          <a:xfrm>
            <a:off x="329184" y="3590544"/>
            <a:ext cx="5983224" cy="3392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ctr" indent="0">
              <a:lnSpc>
                <a:spcPts val="7032"/>
              </a:lnSpc>
              <a:spcBef>
                <a:spcPts val="13020"/>
              </a:spcBef>
            </a:pPr>
            <a:r>
              <a:rPr lang="en-US" sz="5700" spc="-100">
                <a:latin typeface="Arial"/>
              </a:rPr>
              <a:t>Each Node’s relationships are </a:t>
            </a:r>
            <a:r>
              <a:rPr lang="en-US" b="1" sz="5000" spc="-100">
                <a:latin typeface="Arial"/>
              </a:rPr>
              <a:t>partitioned </a:t>
            </a:r>
            <a:r>
              <a:rPr lang="en-US" sz="5700" spc="-100">
                <a:latin typeface="Arial"/>
              </a:rPr>
              <a:t>by</a:t>
            </a:r>
          </a:p>
          <a:p>
            <a:pPr indent="0"/>
            <a:r>
              <a:rPr lang="en-US" sz="5700" spc="-100">
                <a:latin typeface="Arial"/>
              </a:rPr>
              <a:t>type and direction.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389632" y="2398776"/>
            <a:ext cx="12838176" cy="4117848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0" y="8945880"/>
            <a:ext cx="16254984" cy="19812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969008" y="2426208"/>
            <a:ext cx="365760" cy="2453640"/>
          </a:xfrm>
          <a:prstGeom prst="rect">
            <a:avLst/>
          </a:prstGeom>
        </p:spPr>
        <p:txBody>
          <a:bodyPr lIns="0" tIns="0" rIns="0" bIns="0" vert="vert270" wrap="none">
            <a:noAutofit/>
          </a:bodyPr>
          <a:p>
            <a:pPr indent="0"/>
            <a:r>
              <a:rPr lang="en-US" b="1" sz="2500">
                <a:solidFill>
                  <a:srgbClr val="979799"/>
                </a:solidFill>
                <a:latin typeface="Tahoma"/>
              </a:rPr>
              <a:t>Response Time</a:t>
            </a:r>
          </a:p>
        </p:txBody>
      </p:sp>
      <p:sp>
        <p:nvSpPr>
          <p:cNvPr id="6" name=""/>
          <p:cNvSpPr/>
          <p:nvPr/>
        </p:nvSpPr>
        <p:spPr>
          <a:xfrm>
            <a:off x="899160" y="871728"/>
            <a:ext cx="8397240" cy="58521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300">
                <a:latin typeface="Tahoma"/>
              </a:rPr>
              <a:t>Real-Time Query Performance</a:t>
            </a:r>
          </a:p>
        </p:txBody>
      </p:sp>
      <p:sp>
        <p:nvSpPr>
          <p:cNvPr id="7" name=""/>
          <p:cNvSpPr/>
          <p:nvPr/>
        </p:nvSpPr>
        <p:spPr>
          <a:xfrm>
            <a:off x="2846832" y="6583680"/>
            <a:ext cx="10482072" cy="7772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210"/>
              </a:spcAft>
            </a:pPr>
            <a:r>
              <a:rPr lang="en-US" b="1" sz="2000">
                <a:solidFill>
                  <a:srgbClr val="979799"/>
                </a:solidFill>
                <a:latin typeface="Arial"/>
              </a:rPr>
              <a:t>0 to 2 hops    5+ hops</a:t>
            </a:r>
          </a:p>
          <a:p>
            <a:pPr algn="just" indent="0">
              <a:spcAft>
                <a:spcPts val="210"/>
              </a:spcAft>
            </a:pPr>
            <a:r>
              <a:rPr lang="en-US" b="1" sz="2000">
                <a:solidFill>
                  <a:srgbClr val="979799"/>
                </a:solidFill>
                <a:latin typeface="Arial"/>
              </a:rPr>
              <a:t>0 to 3 degrees    3+ degrees</a:t>
            </a:r>
          </a:p>
          <a:p>
            <a:pPr algn="just" indent="0"/>
            <a:r>
              <a:rPr lang="en-US" b="1" sz="2000">
                <a:solidFill>
                  <a:srgbClr val="979799"/>
                </a:solidFill>
                <a:latin typeface="Arial"/>
              </a:rPr>
              <a:t>Few connections    Thousands of connections</a:t>
            </a:r>
          </a:p>
        </p:txBody>
      </p:sp>
      <p:sp>
        <p:nvSpPr>
          <p:cNvPr id="8" name=""/>
          <p:cNvSpPr/>
          <p:nvPr/>
        </p:nvSpPr>
        <p:spPr>
          <a:xfrm>
            <a:off x="7110984" y="7437120"/>
            <a:ext cx="5949696" cy="6614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210"/>
              </a:spcAft>
            </a:pPr>
            <a:r>
              <a:rPr lang="en-US" sz="1000">
                <a:latin typeface="Arial"/>
              </a:rPr>
              <a:t>-►</a:t>
            </a:r>
          </a:p>
          <a:p>
            <a:pPr algn="r" indent="0"/>
            <a:r>
              <a:rPr lang="en-US" b="1" sz="2500">
                <a:solidFill>
                  <a:srgbClr val="979799"/>
                </a:solidFill>
                <a:latin typeface="Tahoma"/>
              </a:rPr>
              <a:t>Connectedness and Size of Data Set</a:t>
            </a:r>
          </a:p>
        </p:txBody>
      </p:sp>
      <p:sp>
        <p:nvSpPr>
          <p:cNvPr id="9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3096768"/>
            <a:ext cx="16254984" cy="362407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82752" y="576072"/>
            <a:ext cx="11643360" cy="11125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But not for every query</a:t>
            </a:r>
          </a:p>
          <a:p>
            <a:pPr algn="r" indent="0">
              <a:spcAft>
                <a:spcPts val="5040"/>
              </a:spcAft>
            </a:pPr>
            <a:r>
              <a:rPr lang="en-US" sz="2000">
                <a:solidFill>
                  <a:srgbClr val="979799"/>
                </a:solidFill>
                <a:latin typeface="Arial"/>
              </a:rPr>
              <a:t>I don't know the average height of all hollywood actors, but I do know the Six Degrees of Kevin Bacon</a:t>
            </a:r>
          </a:p>
        </p:txBody>
      </p:sp>
      <p:sp>
        <p:nvSpPr>
          <p:cNvPr id="4" name=""/>
          <p:cNvSpPr/>
          <p:nvPr/>
        </p:nvSpPr>
        <p:spPr>
          <a:xfrm>
            <a:off x="149352" y="2529840"/>
            <a:ext cx="2901696" cy="2621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Bef>
                <a:spcPts val="5040"/>
              </a:spcBef>
            </a:pPr>
            <a:r>
              <a:rPr lang="en-US" sz="1800">
                <a:solidFill>
                  <a:srgbClr val="BD0F06"/>
                </a:solidFill>
                <a:latin typeface="Impact"/>
              </a:rPr>
              <a:t>TALLEST ACTOR IN HOLLYWOOD</a:t>
            </a:r>
          </a:p>
        </p:txBody>
      </p:sp>
      <p:sp>
        <p:nvSpPr>
          <p:cNvPr id="5" name=""/>
          <p:cNvSpPr/>
          <p:nvPr/>
        </p:nvSpPr>
        <p:spPr>
          <a:xfrm>
            <a:off x="140208" y="2987040"/>
            <a:ext cx="198120" cy="1127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800">
                <a:solidFill>
                  <a:srgbClr val="BD0F06"/>
                </a:solidFill>
                <a:latin typeface="Tahoma"/>
              </a:rPr>
              <a:t>7</a:t>
            </a:r>
            <a:r>
              <a:rPr lang="en-US" sz="400">
                <a:solidFill>
                  <a:srgbClr val="BD0F06"/>
                </a:solidFill>
                <a:latin typeface="Arial"/>
              </a:rPr>
              <a:t>’</a:t>
            </a:r>
            <a:r>
              <a:rPr lang="en-US" sz="800">
                <a:solidFill>
                  <a:srgbClr val="BD0F06"/>
                </a:solidFill>
                <a:latin typeface="Tahoma"/>
              </a:rPr>
              <a:t>0</a:t>
            </a:r>
            <a:r>
              <a:rPr lang="en-US" sz="400">
                <a:solidFill>
                  <a:srgbClr val="BD0F06"/>
                </a:solidFill>
                <a:latin typeface="Arial"/>
              </a:rPr>
              <a:t>”</a:t>
            </a:r>
          </a:p>
        </p:txBody>
      </p:sp>
      <p:sp>
        <p:nvSpPr>
          <p:cNvPr id="6" name=""/>
          <p:cNvSpPr/>
          <p:nvPr/>
        </p:nvSpPr>
        <p:spPr>
          <a:xfrm>
            <a:off x="15843504" y="2987040"/>
            <a:ext cx="204216" cy="1127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800">
                <a:solidFill>
                  <a:srgbClr val="BD0F06"/>
                </a:solidFill>
                <a:latin typeface="Tahoma"/>
              </a:rPr>
              <a:t>7</a:t>
            </a:r>
            <a:r>
              <a:rPr lang="en-US" sz="400">
                <a:solidFill>
                  <a:srgbClr val="BD0F06"/>
                </a:solidFill>
                <a:latin typeface="Arial"/>
              </a:rPr>
              <a:t>’</a:t>
            </a:r>
            <a:r>
              <a:rPr lang="en-US" sz="800">
                <a:solidFill>
                  <a:srgbClr val="BD0F06"/>
                </a:solidFill>
                <a:latin typeface="Tahoma"/>
              </a:rPr>
              <a:t>0</a:t>
            </a:r>
            <a:r>
              <a:rPr lang="en-US" sz="400">
                <a:solidFill>
                  <a:srgbClr val="BD0F06"/>
                </a:solidFill>
                <a:latin typeface="Arial"/>
              </a:rPr>
              <a:t>”</a:t>
            </a:r>
          </a:p>
        </p:txBody>
      </p:sp>
      <p:sp>
        <p:nvSpPr>
          <p:cNvPr id="7" name=""/>
          <p:cNvSpPr/>
          <p:nvPr/>
        </p:nvSpPr>
        <p:spPr>
          <a:xfrm>
            <a:off x="829056" y="6358128"/>
            <a:ext cx="28041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VLADIMIR</a:t>
            </a:r>
          </a:p>
        </p:txBody>
      </p:sp>
      <p:sp>
        <p:nvSpPr>
          <p:cNvPr id="8" name=""/>
          <p:cNvSpPr/>
          <p:nvPr/>
        </p:nvSpPr>
        <p:spPr>
          <a:xfrm>
            <a:off x="1511808" y="6358128"/>
            <a:ext cx="14630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BRAD</a:t>
            </a:r>
          </a:p>
        </p:txBody>
      </p:sp>
      <p:sp>
        <p:nvSpPr>
          <p:cNvPr id="9" name=""/>
          <p:cNvSpPr/>
          <p:nvPr/>
        </p:nvSpPr>
        <p:spPr>
          <a:xfrm>
            <a:off x="1938528" y="6358128"/>
            <a:ext cx="18288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IAMES</a:t>
            </a:r>
          </a:p>
        </p:txBody>
      </p:sp>
      <p:sp>
        <p:nvSpPr>
          <p:cNvPr id="10" name=""/>
          <p:cNvSpPr/>
          <p:nvPr/>
        </p:nvSpPr>
        <p:spPr>
          <a:xfrm>
            <a:off x="2420112" y="6358128"/>
            <a:ext cx="18288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50">
                <a:latin typeface="Calibri"/>
              </a:rPr>
              <a:t>DOLPH</a:t>
            </a:r>
          </a:p>
        </p:txBody>
      </p:sp>
      <p:sp>
        <p:nvSpPr>
          <p:cNvPr id="11" name=""/>
          <p:cNvSpPr/>
          <p:nvPr/>
        </p:nvSpPr>
        <p:spPr>
          <a:xfrm>
            <a:off x="3139440" y="6358128"/>
            <a:ext cx="123748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VINCE DWAYNE ARMIE TYLER</a:t>
            </a:r>
          </a:p>
        </p:txBody>
      </p:sp>
      <p:sp>
        <p:nvSpPr>
          <p:cNvPr id="12" name=""/>
          <p:cNvSpPr/>
          <p:nvPr/>
        </p:nvSpPr>
        <p:spPr>
          <a:xfrm>
            <a:off x="4572000" y="6358128"/>
            <a:ext cx="16459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DAVID</a:t>
            </a:r>
          </a:p>
        </p:txBody>
      </p:sp>
      <p:sp>
        <p:nvSpPr>
          <p:cNvPr id="13" name=""/>
          <p:cNvSpPr/>
          <p:nvPr/>
        </p:nvSpPr>
        <p:spPr>
          <a:xfrm>
            <a:off x="5077968" y="6358128"/>
            <a:ext cx="193852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LIAM SNOOP JASON CHRIS ALEXANDAR JEFF</a:t>
            </a:r>
          </a:p>
        </p:txBody>
      </p:sp>
      <p:sp>
        <p:nvSpPr>
          <p:cNvPr id="14" name=""/>
          <p:cNvSpPr/>
          <p:nvPr/>
        </p:nvSpPr>
        <p:spPr>
          <a:xfrm>
            <a:off x="7223760" y="6358128"/>
            <a:ext cx="21336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STEVEN</a:t>
            </a:r>
          </a:p>
        </p:txBody>
      </p:sp>
      <p:sp>
        <p:nvSpPr>
          <p:cNvPr id="15" name=""/>
          <p:cNvSpPr/>
          <p:nvPr/>
        </p:nvSpPr>
        <p:spPr>
          <a:xfrm>
            <a:off x="7754112" y="6358128"/>
            <a:ext cx="1402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RYAN</a:t>
            </a:r>
          </a:p>
        </p:txBody>
      </p:sp>
      <p:sp>
        <p:nvSpPr>
          <p:cNvPr id="16" name=""/>
          <p:cNvSpPr/>
          <p:nvPr/>
        </p:nvSpPr>
        <p:spPr>
          <a:xfrm>
            <a:off x="9247632" y="6358128"/>
            <a:ext cx="536448" cy="1645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744"/>
              </a:lnSpc>
            </a:pPr>
            <a:r>
              <a:rPr lang="en-US" b="1" sz="650">
                <a:latin typeface="Arial"/>
              </a:rPr>
              <a:t>GEORGE JOHNNY CLOONEY DEPP</a:t>
            </a:r>
          </a:p>
        </p:txBody>
      </p:sp>
      <p:sp>
        <p:nvSpPr>
          <p:cNvPr id="17" name=""/>
          <p:cNvSpPr/>
          <p:nvPr/>
        </p:nvSpPr>
        <p:spPr>
          <a:xfrm>
            <a:off x="9942576" y="6358128"/>
            <a:ext cx="256032" cy="1645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/>
            <a:r>
              <a:rPr lang="en-US" b="1" sz="650">
                <a:latin typeface="Arial"/>
              </a:rPr>
              <a:t>JASON</a:t>
            </a:r>
          </a:p>
          <a:p>
            <a:pPr indent="0"/>
            <a:r>
              <a:rPr lang="en-US" b="1" sz="650">
                <a:latin typeface="Arial"/>
              </a:rPr>
              <a:t>STATHAM</a:t>
            </a:r>
          </a:p>
        </p:txBody>
      </p:sp>
      <p:sp>
        <p:nvSpPr>
          <p:cNvPr id="18" name=""/>
          <p:cNvSpPr/>
          <p:nvPr/>
        </p:nvSpPr>
        <p:spPr>
          <a:xfrm>
            <a:off x="10655808" y="6358128"/>
            <a:ext cx="16459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MARK</a:t>
            </a:r>
          </a:p>
        </p:txBody>
      </p:sp>
      <p:sp>
        <p:nvSpPr>
          <p:cNvPr id="19" name=""/>
          <p:cNvSpPr/>
          <p:nvPr/>
        </p:nvSpPr>
        <p:spPr>
          <a:xfrm>
            <a:off x="10930128" y="6358128"/>
            <a:ext cx="21945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JEREMY</a:t>
            </a:r>
          </a:p>
        </p:txBody>
      </p:sp>
      <p:sp>
        <p:nvSpPr>
          <p:cNvPr id="20" name=""/>
          <p:cNvSpPr/>
          <p:nvPr/>
        </p:nvSpPr>
        <p:spPr>
          <a:xfrm>
            <a:off x="11241024" y="6358128"/>
            <a:ext cx="10972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BEN</a:t>
            </a:r>
          </a:p>
        </p:txBody>
      </p:sp>
      <p:sp>
        <p:nvSpPr>
          <p:cNvPr id="21" name=""/>
          <p:cNvSpPr/>
          <p:nvPr/>
        </p:nvSpPr>
        <p:spPr>
          <a:xfrm>
            <a:off x="11570208" y="6358128"/>
            <a:ext cx="21945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ROBERT</a:t>
            </a:r>
          </a:p>
        </p:txBody>
      </p:sp>
      <p:sp>
        <p:nvSpPr>
          <p:cNvPr id="22" name=""/>
          <p:cNvSpPr/>
          <p:nvPr/>
        </p:nvSpPr>
        <p:spPr>
          <a:xfrm>
            <a:off x="11899392" y="6358128"/>
            <a:ext cx="1889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JAVIER</a:t>
            </a:r>
          </a:p>
        </p:txBody>
      </p:sp>
      <p:sp>
        <p:nvSpPr>
          <p:cNvPr id="23" name=""/>
          <p:cNvSpPr/>
          <p:nvPr/>
        </p:nvSpPr>
        <p:spPr>
          <a:xfrm>
            <a:off x="12210288" y="6358128"/>
            <a:ext cx="17068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ROBIN</a:t>
            </a:r>
          </a:p>
        </p:txBody>
      </p:sp>
      <p:sp>
        <p:nvSpPr>
          <p:cNvPr id="24" name=""/>
          <p:cNvSpPr/>
          <p:nvPr/>
        </p:nvSpPr>
        <p:spPr>
          <a:xfrm>
            <a:off x="12521184" y="6358128"/>
            <a:ext cx="1219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50">
                <a:latin typeface="Calibri"/>
              </a:rPr>
              <a:t>TOM</a:t>
            </a:r>
          </a:p>
        </p:txBody>
      </p:sp>
      <p:sp>
        <p:nvSpPr>
          <p:cNvPr id="25" name=""/>
          <p:cNvSpPr/>
          <p:nvPr/>
        </p:nvSpPr>
        <p:spPr>
          <a:xfrm>
            <a:off x="13514832" y="6358128"/>
            <a:ext cx="176784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ELIJAH</a:t>
            </a:r>
          </a:p>
        </p:txBody>
      </p:sp>
      <p:sp>
        <p:nvSpPr>
          <p:cNvPr id="26" name=""/>
          <p:cNvSpPr/>
          <p:nvPr/>
        </p:nvSpPr>
        <p:spPr>
          <a:xfrm>
            <a:off x="13831824" y="6358128"/>
            <a:ext cx="134112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JACK</a:t>
            </a:r>
          </a:p>
        </p:txBody>
      </p:sp>
      <p:sp>
        <p:nvSpPr>
          <p:cNvPr id="27" name=""/>
          <p:cNvSpPr/>
          <p:nvPr/>
        </p:nvSpPr>
        <p:spPr>
          <a:xfrm>
            <a:off x="14185392" y="6358128"/>
            <a:ext cx="1889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DANIEL</a:t>
            </a:r>
          </a:p>
        </p:txBody>
      </p:sp>
      <p:sp>
        <p:nvSpPr>
          <p:cNvPr id="28" name=""/>
          <p:cNvSpPr/>
          <p:nvPr/>
        </p:nvSpPr>
        <p:spPr>
          <a:xfrm>
            <a:off x="14441424" y="6358128"/>
            <a:ext cx="42672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WOODY DUSTIN</a:t>
            </a:r>
          </a:p>
        </p:txBody>
      </p:sp>
      <p:sp>
        <p:nvSpPr>
          <p:cNvPr id="29" name=""/>
          <p:cNvSpPr/>
          <p:nvPr/>
        </p:nvSpPr>
        <p:spPr>
          <a:xfrm>
            <a:off x="15020544" y="6358128"/>
            <a:ext cx="45720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EMILIO MICHAEL</a:t>
            </a:r>
          </a:p>
        </p:txBody>
      </p:sp>
      <p:sp>
        <p:nvSpPr>
          <p:cNvPr id="30" name=""/>
          <p:cNvSpPr/>
          <p:nvPr/>
        </p:nvSpPr>
        <p:spPr>
          <a:xfrm>
            <a:off x="15624048" y="6358128"/>
            <a:ext cx="195072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DANNY</a:t>
            </a:r>
          </a:p>
        </p:txBody>
      </p:sp>
      <p:sp>
        <p:nvSpPr>
          <p:cNvPr id="31" name=""/>
          <p:cNvSpPr/>
          <p:nvPr/>
        </p:nvSpPr>
        <p:spPr>
          <a:xfrm>
            <a:off x="1463040" y="6449568"/>
            <a:ext cx="597408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GARRETT ■ CROMWELL ■ LUNDGREN ROBBINS VAUGHN JOHNSON HAMMER PERRY HASSELHOFF ■ NEESON DOGG SEGEL HEMSWORTH SKARSGARD GOLDBLUM SEAGAL</a:t>
            </a:r>
          </a:p>
        </p:txBody>
      </p:sp>
      <p:sp>
        <p:nvSpPr>
          <p:cNvPr id="32" name=""/>
          <p:cNvSpPr/>
          <p:nvPr/>
        </p:nvSpPr>
        <p:spPr>
          <a:xfrm>
            <a:off x="7680960" y="6449568"/>
            <a:ext cx="2926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REYNOLDS</a:t>
            </a:r>
          </a:p>
        </p:txBody>
      </p:sp>
      <p:sp>
        <p:nvSpPr>
          <p:cNvPr id="33" name=""/>
          <p:cNvSpPr/>
          <p:nvPr/>
        </p:nvSpPr>
        <p:spPr>
          <a:xfrm>
            <a:off x="8442960" y="6449568"/>
            <a:ext cx="26212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IACKMAN</a:t>
            </a:r>
          </a:p>
        </p:txBody>
      </p:sp>
      <p:sp>
        <p:nvSpPr>
          <p:cNvPr id="34" name=""/>
          <p:cNvSpPr/>
          <p:nvPr/>
        </p:nvSpPr>
        <p:spPr>
          <a:xfrm>
            <a:off x="8845296" y="6449568"/>
            <a:ext cx="21945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CARREY</a:t>
            </a:r>
          </a:p>
        </p:txBody>
      </p:sp>
      <p:sp>
        <p:nvSpPr>
          <p:cNvPr id="35" name=""/>
          <p:cNvSpPr/>
          <p:nvPr/>
        </p:nvSpPr>
        <p:spPr>
          <a:xfrm>
            <a:off x="10302240" y="6449568"/>
            <a:ext cx="110337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CHEADLE WAHLBERG RENNER STILLER</a:t>
            </a:r>
          </a:p>
        </p:txBody>
      </p:sp>
      <p:sp>
        <p:nvSpPr>
          <p:cNvPr id="36" name=""/>
          <p:cNvSpPr/>
          <p:nvPr/>
        </p:nvSpPr>
        <p:spPr>
          <a:xfrm>
            <a:off x="11521440" y="6449568"/>
            <a:ext cx="183489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DOWNEY JR BARDEM WILLIAMS CRUISE HUTCHERSON PACINO</a:t>
            </a:r>
          </a:p>
        </p:txBody>
      </p:sp>
      <p:sp>
        <p:nvSpPr>
          <p:cNvPr id="37" name=""/>
          <p:cNvSpPr/>
          <p:nvPr/>
        </p:nvSpPr>
        <p:spPr>
          <a:xfrm>
            <a:off x="13514832" y="6449568"/>
            <a:ext cx="17068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WOOD</a:t>
            </a:r>
          </a:p>
        </p:txBody>
      </p:sp>
      <p:sp>
        <p:nvSpPr>
          <p:cNvPr id="38" name=""/>
          <p:cNvSpPr/>
          <p:nvPr/>
        </p:nvSpPr>
        <p:spPr>
          <a:xfrm>
            <a:off x="13807440" y="6449568"/>
            <a:ext cx="18288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BLACK</a:t>
            </a:r>
          </a:p>
        </p:txBody>
      </p:sp>
      <p:sp>
        <p:nvSpPr>
          <p:cNvPr id="39" name=""/>
          <p:cNvSpPr/>
          <p:nvPr/>
        </p:nvSpPr>
        <p:spPr>
          <a:xfrm>
            <a:off x="14136624" y="6449568"/>
            <a:ext cx="762000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RADCLIFFE ALLEN HOFFMAN</a:t>
            </a:r>
          </a:p>
        </p:txBody>
      </p:sp>
      <p:sp>
        <p:nvSpPr>
          <p:cNvPr id="40" name=""/>
          <p:cNvSpPr/>
          <p:nvPr/>
        </p:nvSpPr>
        <p:spPr>
          <a:xfrm>
            <a:off x="15002256" y="6449568"/>
            <a:ext cx="219456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ESTEVEZ</a:t>
            </a:r>
          </a:p>
        </p:txBody>
      </p:sp>
      <p:sp>
        <p:nvSpPr>
          <p:cNvPr id="41" name=""/>
          <p:cNvSpPr/>
          <p:nvPr/>
        </p:nvSpPr>
        <p:spPr>
          <a:xfrm>
            <a:off x="15288768" y="6449568"/>
            <a:ext cx="1402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50">
                <a:latin typeface="Tahoma"/>
              </a:rPr>
              <a:t>J FOX</a:t>
            </a:r>
          </a:p>
        </p:txBody>
      </p:sp>
      <p:sp>
        <p:nvSpPr>
          <p:cNvPr id="42" name=""/>
          <p:cNvSpPr/>
          <p:nvPr/>
        </p:nvSpPr>
        <p:spPr>
          <a:xfrm>
            <a:off x="15624048" y="6449568"/>
            <a:ext cx="188976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DEVITO</a:t>
            </a:r>
          </a:p>
        </p:txBody>
      </p:sp>
      <p:sp>
        <p:nvSpPr>
          <p:cNvPr id="43" name=""/>
          <p:cNvSpPr/>
          <p:nvPr/>
        </p:nvSpPr>
        <p:spPr>
          <a:xfrm>
            <a:off x="8083296" y="6455664"/>
            <a:ext cx="237744" cy="67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650">
                <a:latin typeface="Arial"/>
              </a:rPr>
              <a:t>MURRAY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7885176" y="1453896"/>
            <a:ext cx="8004048" cy="510235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97992" y="582168"/>
            <a:ext cx="9854184" cy="7010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Reimagine your Data as a Graph</a:t>
            </a:r>
          </a:p>
        </p:txBody>
      </p:sp>
      <p:sp>
        <p:nvSpPr>
          <p:cNvPr id="4" name=""/>
          <p:cNvSpPr/>
          <p:nvPr/>
        </p:nvSpPr>
        <p:spPr>
          <a:xfrm>
            <a:off x="591312" y="1840992"/>
            <a:ext cx="6495288" cy="67818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spcAft>
                <a:spcPts val="630"/>
              </a:spcAft>
            </a:pPr>
            <a:r>
              <a:rPr lang="en-US" b="1" sz="11400">
                <a:solidFill>
                  <a:srgbClr val="37768F"/>
                </a:solidFill>
                <a:latin typeface="Arial"/>
              </a:rPr>
              <a:t>1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Right Model</a:t>
            </a:r>
          </a:p>
          <a:p>
            <a:pPr algn="just" marL="1117600" indent="0">
              <a:spcAft>
                <a:spcPts val="5250"/>
              </a:spcAft>
            </a:pPr>
            <a:r>
              <a:rPr lang="en-US" sz="3000">
                <a:solidFill>
                  <a:srgbClr val="5C5B52"/>
                </a:solidFill>
                <a:latin typeface="Arial"/>
              </a:rPr>
              <a:t>Graphs simplify how you think</a:t>
            </a:r>
          </a:p>
          <a:p>
            <a:pPr algn="just" indent="0">
              <a:spcAft>
                <a:spcPts val="630"/>
              </a:spcAft>
            </a:pPr>
            <a:r>
              <a:rPr lang="en-US" b="1" sz="11300">
                <a:solidFill>
                  <a:srgbClr val="18997F"/>
                </a:solidFill>
                <a:latin typeface="Arial"/>
              </a:rPr>
              <a:t>2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Better Performance</a:t>
            </a:r>
          </a:p>
          <a:p>
            <a:pPr algn="just" marL="1117600" indent="0">
              <a:spcAft>
                <a:spcPts val="630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Query relationships in real time</a:t>
            </a:r>
          </a:p>
          <a:p>
            <a:pPr algn="just" indent="0">
              <a:spcAft>
                <a:spcPts val="630"/>
              </a:spcAft>
            </a:pPr>
            <a:r>
              <a:rPr lang="en-US" b="1" sz="11300">
                <a:solidFill>
                  <a:srgbClr val="EF9C2A"/>
                </a:solidFill>
                <a:latin typeface="Arial"/>
              </a:rPr>
              <a:t>3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Right Language</a:t>
            </a:r>
          </a:p>
          <a:p>
            <a:pPr marL="1117600" indent="0">
              <a:lnSpc>
                <a:spcPts val="3312"/>
              </a:lnSpc>
              <a:spcAft>
                <a:spcPts val="2940"/>
              </a:spcAft>
            </a:pPr>
            <a:r>
              <a:rPr lang="en-US" sz="2700">
                <a:solidFill>
                  <a:srgbClr val="5C5B52"/>
                </a:solidFill>
                <a:latin typeface="Arial"/>
              </a:rPr>
              <a:t>Cypher was purpose built for Graphs</a:t>
            </a:r>
          </a:p>
          <a:p>
            <a:pPr algn="just" indent="0">
              <a:spcAft>
                <a:spcPts val="630"/>
              </a:spcAft>
            </a:pPr>
            <a:r>
              <a:rPr lang="en-US" b="1" sz="11200">
                <a:solidFill>
                  <a:srgbClr val="D24132"/>
                </a:solidFill>
                <a:latin typeface="Arial"/>
              </a:rPr>
              <a:t>4</a:t>
            </a:r>
            <a:r>
              <a:rPr lang="en-US" b="1" sz="3100">
                <a:latin typeface="Arial"/>
              </a:rPr>
              <a:t>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Flexible and Consistent</a:t>
            </a:r>
          </a:p>
          <a:p>
            <a:pPr marL="1117600" indent="0">
              <a:lnSpc>
                <a:spcPts val="3024"/>
              </a:lnSpc>
            </a:pPr>
            <a:r>
              <a:rPr lang="en-US" sz="2500">
                <a:solidFill>
                  <a:srgbClr val="5C5B52"/>
                </a:solidFill>
                <a:latin typeface="Arial"/>
              </a:rPr>
              <a:t>Evolve your schema seamlessly while keeping transactions</a:t>
            </a:r>
          </a:p>
        </p:txBody>
      </p:sp>
      <p:sp>
        <p:nvSpPr>
          <p:cNvPr id="5" name=""/>
          <p:cNvSpPr/>
          <p:nvPr/>
        </p:nvSpPr>
        <p:spPr>
          <a:xfrm>
            <a:off x="8095488" y="7260336"/>
            <a:ext cx="5897880" cy="8778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984"/>
              </a:lnSpc>
            </a:pPr>
            <a:r>
              <a:rPr lang="en-US" b="1" sz="3100">
                <a:solidFill>
                  <a:srgbClr val="5C5B52"/>
                </a:solidFill>
                <a:latin typeface="Arial"/>
              </a:rPr>
              <a:t>Agile, High Performance and Scalable without Sacrifice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560576" y="1164336"/>
            <a:ext cx="11423904" cy="797966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1886712"/>
            <a:ext cx="11250168" cy="679704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969264" y="786384"/>
            <a:ext cx="7034784" cy="67970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latin typeface="Arial"/>
              </a:rPr>
              <a:t>Neo4j Property Graph</a:t>
            </a:r>
          </a:p>
        </p:txBody>
      </p:sp>
      <p:sp>
        <p:nvSpPr>
          <p:cNvPr id="5" name=""/>
          <p:cNvSpPr/>
          <p:nvPr/>
        </p:nvSpPr>
        <p:spPr>
          <a:xfrm>
            <a:off x="941832" y="1697736"/>
            <a:ext cx="5452872" cy="117957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232"/>
              </a:lnSpc>
            </a:pPr>
            <a:r>
              <a:rPr lang="en-US" b="1" sz="3700">
                <a:solidFill>
                  <a:srgbClr val="4FBBFB"/>
                </a:solidFill>
                <a:latin typeface="Tahoma"/>
              </a:rPr>
              <a:t>The Whiteboard Model is the Physical Model</a:t>
            </a:r>
          </a:p>
        </p:txBody>
      </p:sp>
      <p:sp>
        <p:nvSpPr>
          <p:cNvPr id="6" name=""/>
          <p:cNvSpPr/>
          <p:nvPr/>
        </p:nvSpPr>
        <p:spPr>
          <a:xfrm>
            <a:off x="11500104" y="3035808"/>
            <a:ext cx="4340352" cy="313334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888"/>
              </a:lnSpc>
              <a:spcAft>
                <a:spcPts val="1050"/>
              </a:spcAft>
            </a:pPr>
            <a:r>
              <a:rPr lang="en-US" b="1" sz="3100">
                <a:solidFill>
                  <a:srgbClr val="4FBBFB"/>
                </a:solidFill>
                <a:latin typeface="Arial"/>
              </a:rPr>
              <a:t>A unified view for ultimate agility</a:t>
            </a:r>
          </a:p>
          <a:p>
            <a:pPr algn="just" indent="0">
              <a:lnSpc>
                <a:spcPts val="4104"/>
              </a:lnSpc>
            </a:pPr>
            <a:r>
              <a:rPr lang="en-US" b="1" sz="1500">
                <a:latin typeface="Calibri"/>
              </a:rPr>
              <a:t>•    </a:t>
            </a:r>
            <a:r>
              <a:rPr lang="en-US" i="1" sz="2800">
                <a:latin typeface="Arial"/>
              </a:rPr>
              <a:t>Easily understood</a:t>
            </a:r>
          </a:p>
          <a:p>
            <a:pPr algn="just" indent="0">
              <a:lnSpc>
                <a:spcPts val="4104"/>
              </a:lnSpc>
            </a:pPr>
            <a:r>
              <a:rPr lang="en-US" i="1" sz="2800">
                <a:latin typeface="Arial"/>
              </a:rPr>
              <a:t>•    Easily evolved</a:t>
            </a:r>
          </a:p>
          <a:p>
            <a:pPr marL="215900" indent="-215900">
              <a:lnSpc>
                <a:spcPts val="4104"/>
              </a:lnSpc>
              <a:spcAft>
                <a:spcPts val="11760"/>
              </a:spcAft>
            </a:pPr>
            <a:r>
              <a:rPr lang="en-US" i="1" sz="2800">
                <a:latin typeface="Arial"/>
              </a:rPr>
              <a:t>•    Easy collaboration between business and IT</a:t>
            </a:r>
          </a:p>
        </p:txBody>
      </p:sp>
      <p:sp>
        <p:nvSpPr>
          <p:cNvPr id="7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6096" y="8945880"/>
            <a:ext cx="16248888" cy="19812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136904" y="1277112"/>
            <a:ext cx="13359384" cy="23012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4620"/>
              </a:spcAft>
            </a:pPr>
            <a:r>
              <a:rPr lang="en-US" b="1" sz="5800">
                <a:latin typeface="Tahoma"/>
              </a:rPr>
              <a:t>Arrows</a:t>
            </a:r>
          </a:p>
          <a:p>
            <a:pPr indent="0">
              <a:spcAft>
                <a:spcPts val="21420"/>
              </a:spcAft>
            </a:pPr>
            <a:r>
              <a:rPr lang="en-US" u="sng" sz="7300">
                <a:solidFill>
                  <a:srgbClr val="0000EE"/>
                </a:solidFill>
                <a:latin typeface="Times New Roman"/>
                <a:hlinkClick r:id="rLinkId0"/>
              </a:rPr>
              <a:t>http://www.apcjones .com/arrows/#</a:t>
            </a:r>
          </a:p>
        </p:txBody>
      </p:sp>
      <p:sp>
        <p:nvSpPr>
          <p:cNvPr id="5" name=""/>
          <p:cNvSpPr/>
          <p:nvPr/>
        </p:nvSpPr>
        <p:spPr>
          <a:xfrm>
            <a:off x="1179576" y="7235952"/>
            <a:ext cx="8144256" cy="4419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Bef>
                <a:spcPts val="21420"/>
              </a:spcBef>
            </a:pPr>
            <a:r>
              <a:rPr lang="en-US" sz="3300">
                <a:latin typeface="Arial"/>
              </a:rPr>
              <a:t>It’s simple, it’s fast, it doesn’t run out of ink.</a:t>
            </a:r>
          </a:p>
        </p:txBody>
      </p:sp>
      <p:sp>
        <p:nvSpPr>
          <p:cNvPr id="6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096" y="2404872"/>
            <a:ext cx="16248888" cy="6739128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194816" y="1237488"/>
            <a:ext cx="13807440" cy="8016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Nodes can have many relationships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481328" y="4376928"/>
            <a:ext cx="2508504" cy="250850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4084320" y="4133088"/>
            <a:ext cx="8296656" cy="3035808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2460224" y="4376928"/>
            <a:ext cx="2508504" cy="2508504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>
          <a:blip r:embed="rPictId4"/>
          <a:stretch>
            <a:fillRect/>
          </a:stretch>
        </p:blipFill>
        <p:spPr>
          <a:xfrm>
            <a:off x="6096" y="8945880"/>
            <a:ext cx="16248888" cy="198120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1155192" y="880872"/>
            <a:ext cx="12079224" cy="17495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7776"/>
              </a:lnSpc>
            </a:pPr>
            <a:r>
              <a:rPr lang="en-US" b="1" sz="5800">
                <a:latin typeface="Tahoma"/>
              </a:rPr>
              <a:t>Two Nodes can be related by more than one relationship type</a:t>
            </a:r>
          </a:p>
        </p:txBody>
      </p:sp>
      <p:sp>
        <p:nvSpPr>
          <p:cNvPr id="8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365504" y="3547872"/>
            <a:ext cx="2011680" cy="351129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3401568" y="4526280"/>
            <a:ext cx="8726424" cy="2005584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2192000" y="4279392"/>
            <a:ext cx="2508504" cy="250545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>
          <a:blip r:embed="rPictId4"/>
          <a:stretch>
            <a:fillRect/>
          </a:stretch>
        </p:blipFill>
        <p:spPr>
          <a:xfrm>
            <a:off x="6096" y="8945880"/>
            <a:ext cx="16248888" cy="198120"/>
          </a:xfrm>
          <a:prstGeom prst="rect">
            <a:avLst/>
          </a:prstGeom>
        </p:spPr>
      </p:pic>
      <p:sp>
        <p:nvSpPr>
          <p:cNvPr id="7" name=""/>
          <p:cNvSpPr/>
          <p:nvPr/>
        </p:nvSpPr>
        <p:spPr>
          <a:xfrm>
            <a:off x="1155192" y="935736"/>
            <a:ext cx="13859256" cy="16885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7488"/>
              </a:lnSpc>
            </a:pPr>
            <a:r>
              <a:rPr lang="en-US" b="1" sz="5800">
                <a:latin typeface="Tahoma"/>
              </a:rPr>
              <a:t>Two Nodes can be related by the same relationship type more than once</a:t>
            </a:r>
          </a:p>
        </p:txBody>
      </p:sp>
      <p:sp>
        <p:nvSpPr>
          <p:cNvPr id="8" name=""/>
          <p:cNvSpPr/>
          <p:nvPr/>
        </p:nvSpPr>
        <p:spPr>
          <a:xfrm>
            <a:off x="6876288" y="3925824"/>
            <a:ext cx="2221992" cy="4846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4200">
                <a:latin typeface="Arial"/>
              </a:rPr>
              <a:t>LISTENS</a:t>
            </a:r>
          </a:p>
        </p:txBody>
      </p:sp>
      <p:sp>
        <p:nvSpPr>
          <p:cNvPr id="9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08432" y="3328416"/>
            <a:ext cx="15441168" cy="498043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194816" y="1182624"/>
            <a:ext cx="13335000" cy="8107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Relationships can have properties</a:t>
            </a:r>
          </a:p>
        </p:txBody>
      </p:sp>
      <p:sp>
        <p:nvSpPr>
          <p:cNvPr id="4" name=""/>
          <p:cNvSpPr/>
          <p:nvPr/>
        </p:nvSpPr>
        <p:spPr>
          <a:xfrm>
            <a:off x="14758416" y="8339328"/>
            <a:ext cx="347472" cy="341376"/>
          </a:xfrm>
          <a:prstGeom prst="rect">
            <a:avLst/>
          </a:prstGeom>
          <a:solidFill>
            <a:srgbClr val="949599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300">
                <a:solidFill>
                  <a:srgbClr val="FFFFFF"/>
                </a:solidFill>
                <a:latin typeface="Arial"/>
              </a:rPr>
              <a:t>up</a:t>
            </a:r>
          </a:p>
        </p:txBody>
      </p:sp>
      <p:sp>
        <p:nvSpPr>
          <p:cNvPr id="5" name=""/>
          <p:cNvSpPr/>
          <p:nvPr/>
        </p:nvSpPr>
        <p:spPr>
          <a:xfrm>
            <a:off x="15166848" y="8357616"/>
            <a:ext cx="871728" cy="3169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neozj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7156704" y="2907792"/>
            <a:ext cx="1682496" cy="168249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194816" y="1194816"/>
            <a:ext cx="12981432" cy="7985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Don't overcomplicate your model</a:t>
            </a:r>
          </a:p>
        </p:txBody>
      </p:sp>
      <p:sp>
        <p:nvSpPr>
          <p:cNvPr id="4" name=""/>
          <p:cNvSpPr/>
          <p:nvPr/>
        </p:nvSpPr>
        <p:spPr>
          <a:xfrm>
            <a:off x="1487424" y="2523744"/>
            <a:ext cx="2359152" cy="21884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>
                <a:latin typeface="Arial"/>
              </a:rPr>
              <a:t>^Address^</a:t>
            </a:r>
          </a:p>
        </p:txBody>
      </p:sp>
      <p:sp>
        <p:nvSpPr>
          <p:cNvPr id="5" name=""/>
          <p:cNvSpPr/>
          <p:nvPr/>
        </p:nvSpPr>
        <p:spPr>
          <a:xfrm>
            <a:off x="4529328" y="3255264"/>
            <a:ext cx="1834896" cy="3840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2700">
                <a:latin typeface="Arial"/>
              </a:rPr>
              <a:t>LIVES AT</a:t>
            </a:r>
          </a:p>
        </p:txBody>
      </p:sp>
      <p:sp>
        <p:nvSpPr>
          <p:cNvPr id="6" name=""/>
          <p:cNvSpPr/>
          <p:nvPr/>
        </p:nvSpPr>
        <p:spPr>
          <a:xfrm>
            <a:off x="9442704" y="3255264"/>
            <a:ext cx="2420112" cy="3840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2700">
                <a:latin typeface="Arial"/>
              </a:rPr>
              <a:t>WORKS AT</a:t>
            </a:r>
          </a:p>
        </p:txBody>
      </p:sp>
      <p:sp>
        <p:nvSpPr>
          <p:cNvPr id="7" name=""/>
          <p:cNvSpPr/>
          <p:nvPr/>
        </p:nvSpPr>
        <p:spPr>
          <a:xfrm>
            <a:off x="12320016" y="2523744"/>
            <a:ext cx="2359152" cy="21884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>
                <a:latin typeface="Arial"/>
              </a:rPr>
              <a:t>•►^</a:t>
            </a:r>
            <a:r>
              <a:rPr lang="en-US" b="1" u="sng" sz="3100">
                <a:latin typeface="Arial"/>
              </a:rPr>
              <a:t>ddre</a:t>
            </a:r>
            <a:r>
              <a:rPr lang="en-US" b="1" sz="3100">
                <a:latin typeface="Arial"/>
              </a:rPr>
              <a:t>s^</a:t>
            </a:r>
          </a:p>
        </p:txBody>
      </p:sp>
      <p:sp>
        <p:nvSpPr>
          <p:cNvPr id="8" name=""/>
          <p:cNvSpPr/>
          <p:nvPr/>
        </p:nvSpPr>
        <p:spPr>
          <a:xfrm>
            <a:off x="4044696" y="6580632"/>
            <a:ext cx="10594848" cy="6949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b="1" sz="2700">
                <a:latin typeface="Arial"/>
              </a:rPr>
              <a:t>HAS ADDRESS /T A HAS ADDRESS ^    </a:t>
            </a:r>
            <a:r>
              <a:rPr lang="en-US" i="1" sz="3400">
                <a:latin typeface="Impact"/>
              </a:rPr>
              <a:t>\</a:t>
            </a:r>
          </a:p>
        </p:txBody>
      </p:sp>
      <p:sp>
        <p:nvSpPr>
          <p:cNvPr id="9" name=""/>
          <p:cNvSpPr/>
          <p:nvPr/>
        </p:nvSpPr>
        <p:spPr>
          <a:xfrm>
            <a:off x="3605784" y="7171944"/>
            <a:ext cx="11027664" cy="2865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3744"/>
              </a:lnSpc>
            </a:pPr>
            <a:r>
              <a:rPr lang="en-US" i="1" sz="3100">
                <a:latin typeface="Arial"/>
              </a:rPr>
              <a:t>4</a:t>
            </a:r>
            <a:r>
              <a:rPr lang="en-US" b="1" sz="3100">
                <a:latin typeface="Arial"/>
              </a:rPr>
              <a:t>    </a:t>
            </a:r>
            <a:r>
              <a:rPr lang="en-US" b="1" u="sng" strike="sngStrike" cap="small" sz="2000">
                <a:latin typeface="Arial"/>
              </a:rPr>
              <a:t>~ a    ■</a:t>
            </a:r>
            <a:r>
              <a:rPr lang="en-US" b="1" strike="sngStrike" sz="3100">
                <a:latin typeface="Arial"/>
              </a:rPr>
              <a:t>—</a:t>
            </a:r>
            <a:r>
              <a:rPr lang="en-US" b="1" sz="3100">
                <a:latin typeface="Arial"/>
              </a:rPr>
              <a:t> I </a:t>
            </a:r>
            <a:r>
              <a:rPr lang="en-US" b="1" sz="2700">
                <a:solidFill>
                  <a:srgbClr val="353841"/>
                </a:solidFill>
                <a:latin typeface="Arial"/>
              </a:rPr>
              <a:t>Person </a:t>
            </a:r>
            <a:r>
              <a:rPr lang="en-US" b="1" sz="3100">
                <a:latin typeface="Arial"/>
              </a:rPr>
              <a:t>I </a:t>
            </a:r>
            <a:r>
              <a:rPr lang="en-US" b="1" u="sng" strike="sngStrike" sz="3100">
                <a:latin typeface="Arial"/>
              </a:rPr>
              <a:t>~ </a:t>
            </a:r>
            <a:r>
              <a:rPr lang="en-US" b="1" u="sng" strike="sngStrike" cap="small" sz="2000">
                <a:latin typeface="Arial"/>
              </a:rPr>
              <a:t>a</a:t>
            </a:r>
            <a:r>
              <a:rPr lang="en-US" b="1" cap="small" sz="2000">
                <a:latin typeface="Arial"/>
              </a:rPr>
              <a:t>    </a:t>
            </a:r>
            <a:r>
              <a:rPr lang="en-US" b="1" sz="3100">
                <a:latin typeface="Arial"/>
              </a:rPr>
              <a:t>-► I </a:t>
            </a:r>
            <a:r>
              <a:rPr lang="en-US" b="1" sz="2700">
                <a:solidFill>
                  <a:srgbClr val="353841"/>
                </a:solidFill>
                <a:latin typeface="Arial"/>
              </a:rPr>
              <a:t>Address </a:t>
            </a:r>
            <a:r>
              <a:rPr lang="en-US" b="1" sz="3100">
                <a:latin typeface="Arial"/>
              </a:rPr>
              <a:t>I</a:t>
            </a:r>
          </a:p>
        </p:txBody>
      </p:sp>
      <p:sp>
        <p:nvSpPr>
          <p:cNvPr id="10" name=""/>
          <p:cNvSpPr/>
          <p:nvPr/>
        </p:nvSpPr>
        <p:spPr>
          <a:xfrm>
            <a:off x="4404360" y="7525512"/>
            <a:ext cx="10204704" cy="5364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3744"/>
              </a:lnSpc>
            </a:pPr>
            <a:r>
              <a:rPr lang="en-US" b="1" u="sng" sz="2700">
                <a:latin typeface="Arial"/>
              </a:rPr>
              <a:t>type: Home</a:t>
            </a:r>
            <a:r>
              <a:rPr lang="en-US" b="1" sz="2700">
                <a:latin typeface="Arial"/>
              </a:rPr>
              <a:t>    y </a:t>
            </a:r>
            <a:r>
              <a:rPr lang="en-US" b="1" u="sng" sz="2700">
                <a:latin typeface="Arial"/>
              </a:rPr>
              <a:t>type: Work</a:t>
            </a:r>
            <a:r>
              <a:rPr lang="en-US" b="1" sz="2700">
                <a:latin typeface="Arial"/>
              </a:rPr>
              <a:t> </a:t>
            </a:r>
            <a:r>
              <a:rPr lang="en-US" sz="4200">
                <a:latin typeface="Arial"/>
              </a:rPr>
              <a:t>V </a:t>
            </a:r>
            <a:r>
              <a:rPr lang="en-US" i="1" sz="4200">
                <a:latin typeface="Arial"/>
              </a:rPr>
              <a:t>J</a:t>
            </a:r>
          </a:p>
        </p:txBody>
      </p:sp>
      <p:sp>
        <p:nvSpPr>
          <p:cNvPr id="11" name=""/>
          <p:cNvSpPr/>
          <p:nvPr/>
        </p:nvSpPr>
        <p:spPr>
          <a:xfrm>
            <a:off x="14776704" y="8229600"/>
            <a:ext cx="1261872" cy="5303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>
                <a:solidFill>
                  <a:srgbClr val="979799"/>
                </a:solidFill>
                <a:latin typeface="Arial"/>
              </a:rPr>
              <a:t>$neozJ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130808" y="3331464"/>
            <a:ext cx="13392912" cy="1475232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130808" y="6242304"/>
            <a:ext cx="13392912" cy="1328928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6096" y="8945880"/>
            <a:ext cx="16248888" cy="198120"/>
          </a:xfrm>
          <a:prstGeom prst="rect">
            <a:avLst/>
          </a:prstGeom>
        </p:spPr>
      </p:pic>
      <p:sp>
        <p:nvSpPr>
          <p:cNvPr id="6" name=""/>
          <p:cNvSpPr/>
          <p:nvPr/>
        </p:nvSpPr>
        <p:spPr>
          <a:xfrm>
            <a:off x="1194816" y="1194816"/>
            <a:ext cx="11993880" cy="7193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Pick one or the other, not both</a:t>
            </a:r>
          </a:p>
        </p:txBody>
      </p:sp>
      <p:sp>
        <p:nvSpPr>
          <p:cNvPr id="7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200656" y="3462528"/>
            <a:ext cx="12021312" cy="2282952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6096" y="8945880"/>
            <a:ext cx="16248888" cy="198120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170432" y="1182624"/>
            <a:ext cx="6507480" cy="6370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...but this is fine:</a:t>
            </a:r>
          </a:p>
        </p:txBody>
      </p:sp>
      <p:sp>
        <p:nvSpPr>
          <p:cNvPr id="6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170432" y="5242560"/>
            <a:ext cx="12094464" cy="3901440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3934968" y="4160520"/>
            <a:ext cx="8449056" cy="1066800"/>
          </a:xfrm>
          <a:prstGeom prst="rect">
            <a:avLst/>
          </a:prstGeom>
          <a:solidFill>
            <a:srgbClr val="70C6BB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7600" spc="-50">
                <a:solidFill>
                  <a:srgbClr val="FFFFFF"/>
                </a:solidFill>
                <a:latin typeface="Tahoma"/>
              </a:rPr>
              <a:t>Modeling Acting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810256" y="2045208"/>
            <a:ext cx="10613136" cy="706526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64464" y="582168"/>
            <a:ext cx="9781032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Graphs are Whiteboard Friendly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Just draw stuff and "walla" there is your data model</a:t>
            </a:r>
          </a:p>
        </p:txBody>
      </p:sp>
      <p:sp>
        <p:nvSpPr>
          <p:cNvPr id="4" name=""/>
          <p:cNvSpPr/>
          <p:nvPr/>
        </p:nvSpPr>
        <p:spPr>
          <a:xfrm>
            <a:off x="4279392" y="7687056"/>
            <a:ext cx="1014984" cy="2164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b="1" sz="3100" spc="-50">
                <a:solidFill>
                  <a:srgbClr val="6B6670"/>
                </a:solidFill>
                <a:latin typeface="Arial"/>
              </a:rPr>
              <a:t>SUilNfcSS</a:t>
            </a:r>
          </a:p>
        </p:txBody>
      </p:sp>
      <p:sp>
        <p:nvSpPr>
          <p:cNvPr id="5" name=""/>
          <p:cNvSpPr/>
          <p:nvPr/>
        </p:nvSpPr>
        <p:spPr>
          <a:xfrm>
            <a:off x="7357872" y="2097024"/>
            <a:ext cx="957072" cy="3901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b="1" sz="3100" spc="250">
                <a:solidFill>
                  <a:srgbClr val="5C5B52"/>
                </a:solidFill>
                <a:latin typeface="Arial"/>
              </a:rPr>
              <a:t>&lt;s&amp;®&amp;</a:t>
            </a:r>
          </a:p>
        </p:txBody>
      </p:sp>
      <p:sp>
        <p:nvSpPr>
          <p:cNvPr id="6" name=""/>
          <p:cNvSpPr/>
          <p:nvPr/>
        </p:nvSpPr>
        <p:spPr>
          <a:xfrm>
            <a:off x="9930384" y="2133600"/>
            <a:ext cx="1670304" cy="48768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1584"/>
              </a:lnSpc>
            </a:pPr>
            <a:r>
              <a:rPr lang="en-US" sz="1050">
                <a:solidFill>
                  <a:srgbClr val="6B6670"/>
                </a:solidFill>
                <a:latin typeface="Arial"/>
              </a:rPr>
              <a:t>n    </a:t>
            </a:r>
            <a:r>
              <a:rPr lang="en-US" sz="1050">
                <a:solidFill>
                  <a:srgbClr val="B65E50"/>
                </a:solidFill>
                <a:latin typeface="Arial"/>
              </a:rPr>
              <a:t>^ S.</a:t>
            </a:r>
            <a:r>
              <a:rPr lang="en-US" u="sng" sz="1050">
                <a:solidFill>
                  <a:srgbClr val="B65E50"/>
                </a:solidFill>
                <a:latin typeface="Arial"/>
              </a:rPr>
              <a:t>FIR6WM.L</a:t>
            </a:r>
          </a:p>
          <a:p>
            <a:pPr algn="r" indent="0">
              <a:lnSpc>
                <a:spcPts val="1584"/>
              </a:lnSpc>
            </a:pPr>
            <a:r>
              <a:rPr lang="en-US" b="1" strike="sngStrike" sz="1300" spc="-50">
                <a:solidFill>
                  <a:srgbClr val="5C5B52"/>
                </a:solidFill>
                <a:latin typeface="Arial"/>
              </a:rPr>
              <a:t>i '</a:t>
            </a:r>
            <a:r>
              <a:rPr lang="en-US" b="1" sz="1300" spc="-50">
                <a:solidFill>
                  <a:srgbClr val="5C5B52"/>
                </a:solidFill>
                <a:latin typeface="Arial"/>
              </a:rPr>
              <a:t> r</a:t>
            </a:r>
            <a:r>
              <a:rPr lang="en-US" baseline="30000" sz="1000">
                <a:solidFill>
                  <a:srgbClr val="5C5B52"/>
                </a:solidFill>
                <a:latin typeface="Arial"/>
              </a:rPr>
              <a:t>1</a:t>
            </a:r>
          </a:p>
        </p:txBody>
      </p:sp>
      <p:sp>
        <p:nvSpPr>
          <p:cNvPr id="7" name=""/>
          <p:cNvSpPr/>
          <p:nvPr/>
        </p:nvSpPr>
        <p:spPr>
          <a:xfrm>
            <a:off x="3944112" y="2267712"/>
            <a:ext cx="1438656" cy="20726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cap="small" sz="550">
                <a:solidFill>
                  <a:srgbClr val="7E457D"/>
                </a:solidFill>
                <a:latin typeface="Arial"/>
              </a:rPr>
              <a:t>FoROH    </a:t>
            </a:r>
            <a:r>
              <a:rPr lang="en-US" cap="small" sz="550">
                <a:solidFill>
                  <a:srgbClr val="6B6670"/>
                </a:solidFill>
                <a:latin typeface="Arial"/>
              </a:rPr>
              <a:t>Ac</a:t>
            </a:r>
          </a:p>
        </p:txBody>
      </p:sp>
      <p:sp>
        <p:nvSpPr>
          <p:cNvPr id="8" name=""/>
          <p:cNvSpPr/>
          <p:nvPr/>
        </p:nvSpPr>
        <p:spPr>
          <a:xfrm>
            <a:off x="9576816" y="2377440"/>
            <a:ext cx="213360" cy="9753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 spc="-50">
                <a:solidFill>
                  <a:srgbClr val="31576F"/>
                </a:solidFill>
                <a:latin typeface="Arial"/>
              </a:rPr>
              <a:t>S</a:t>
            </a:r>
            <a:r>
              <a:rPr lang="en-US" sz="1000">
                <a:solidFill>
                  <a:srgbClr val="31576F"/>
                </a:solidFill>
                <a:latin typeface="Arial"/>
              </a:rPr>
              <a:t>3</a:t>
            </a:r>
          </a:p>
        </p:txBody>
      </p:sp>
      <p:sp>
        <p:nvSpPr>
          <p:cNvPr id="9" name=""/>
          <p:cNvSpPr/>
          <p:nvPr/>
        </p:nvSpPr>
        <p:spPr>
          <a:xfrm>
            <a:off x="4797552" y="2438400"/>
            <a:ext cx="713232" cy="1219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48599B"/>
                </a:solidFill>
                <a:latin typeface="Arial"/>
              </a:rPr>
              <a:t>KJ6TwOgl&lt;</a:t>
            </a:r>
          </a:p>
        </p:txBody>
      </p:sp>
      <p:sp>
        <p:nvSpPr>
          <p:cNvPr id="10" name=""/>
          <p:cNvSpPr/>
          <p:nvPr/>
        </p:nvSpPr>
        <p:spPr>
          <a:xfrm>
            <a:off x="8296656" y="2456688"/>
            <a:ext cx="152400" cy="17068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1000" spc="150">
                <a:solidFill>
                  <a:srgbClr val="353841"/>
                </a:solidFill>
                <a:latin typeface="Arial"/>
              </a:rPr>
              <a:t>6</a:t>
            </a:r>
          </a:p>
        </p:txBody>
      </p:sp>
      <p:sp>
        <p:nvSpPr>
          <p:cNvPr id="11" name=""/>
          <p:cNvSpPr/>
          <p:nvPr/>
        </p:nvSpPr>
        <p:spPr>
          <a:xfrm>
            <a:off x="3493008" y="2755392"/>
            <a:ext cx="3108960" cy="1889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cap="small" sz="1000">
                <a:solidFill>
                  <a:srgbClr val="B65E50"/>
                </a:solidFill>
                <a:latin typeface="Times New Roman"/>
              </a:rPr>
              <a:t>hicroGlow </a:t>
            </a:r>
            <a:r>
              <a:rPr lang="en-US" b="1" sz="1400">
                <a:solidFill>
                  <a:srgbClr val="7E457D"/>
                </a:solidFill>
                <a:latin typeface="Arial"/>
              </a:rPr>
              <a:t>5orikL WSlilA</a:t>
            </a:r>
          </a:p>
        </p:txBody>
      </p:sp>
      <p:sp>
        <p:nvSpPr>
          <p:cNvPr id="12" name=""/>
          <p:cNvSpPr/>
          <p:nvPr/>
        </p:nvSpPr>
        <p:spPr>
          <a:xfrm>
            <a:off x="9113520" y="2791968"/>
            <a:ext cx="207264" cy="914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B6670"/>
                </a:solidFill>
                <a:latin typeface="Arial"/>
              </a:rPr>
              <a:t>ZI3</a:t>
            </a:r>
          </a:p>
        </p:txBody>
      </p:sp>
      <p:sp>
        <p:nvSpPr>
          <p:cNvPr id="13" name=""/>
          <p:cNvSpPr/>
          <p:nvPr/>
        </p:nvSpPr>
        <p:spPr>
          <a:xfrm>
            <a:off x="12204192" y="2993136"/>
            <a:ext cx="1133856" cy="1524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 spc="-50">
                <a:solidFill>
                  <a:srgbClr val="31576F"/>
                </a:solidFill>
                <a:latin typeface="Arial"/>
              </a:rPr>
              <a:t>o&lt;=*Vt* FARtl</a:t>
            </a:r>
          </a:p>
        </p:txBody>
      </p:sp>
      <p:sp>
        <p:nvSpPr>
          <p:cNvPr id="14" name=""/>
          <p:cNvSpPr/>
          <p:nvPr/>
        </p:nvSpPr>
        <p:spPr>
          <a:xfrm>
            <a:off x="4992624" y="3078480"/>
            <a:ext cx="1176528" cy="12801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100">
                <a:solidFill>
                  <a:srgbClr val="65999D"/>
                </a:solidFill>
                <a:latin typeface="Arial"/>
              </a:rPr>
              <a:t>CMAT </a:t>
            </a:r>
            <a:r>
              <a:rPr lang="en-US" b="1" sz="1100">
                <a:solidFill>
                  <a:srgbClr val="7E457D"/>
                </a:solidFill>
                <a:latin typeface="Arial"/>
              </a:rPr>
              <a:t>PtcTU^f</a:t>
            </a:r>
          </a:p>
        </p:txBody>
      </p:sp>
      <p:sp>
        <p:nvSpPr>
          <p:cNvPr id="15" name=""/>
          <p:cNvSpPr/>
          <p:nvPr/>
        </p:nvSpPr>
        <p:spPr>
          <a:xfrm>
            <a:off x="2974848" y="3115056"/>
            <a:ext cx="396240" cy="1402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CflAtc</a:t>
            </a:r>
          </a:p>
        </p:txBody>
      </p:sp>
      <p:sp>
        <p:nvSpPr>
          <p:cNvPr id="16" name=""/>
          <p:cNvSpPr/>
          <p:nvPr/>
        </p:nvSpPr>
        <p:spPr>
          <a:xfrm>
            <a:off x="12234672" y="3462528"/>
            <a:ext cx="670560" cy="1158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353841"/>
                </a:solidFill>
                <a:latin typeface="Arial"/>
              </a:rPr>
              <a:t>COMPANY</a:t>
            </a:r>
          </a:p>
        </p:txBody>
      </p:sp>
      <p:sp>
        <p:nvSpPr>
          <p:cNvPr id="17" name=""/>
          <p:cNvSpPr/>
          <p:nvPr/>
        </p:nvSpPr>
        <p:spPr>
          <a:xfrm>
            <a:off x="10960608" y="3560064"/>
            <a:ext cx="2023872" cy="1341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1050">
                <a:solidFill>
                  <a:srgbClr val="5C5B52"/>
                </a:solidFill>
                <a:latin typeface="Arial"/>
              </a:rPr>
              <a:t>I WTrtt. M6T    ■ HtfA^c^ttreW</a:t>
            </a:r>
          </a:p>
        </p:txBody>
      </p:sp>
      <p:sp>
        <p:nvSpPr>
          <p:cNvPr id="18" name=""/>
          <p:cNvSpPr/>
          <p:nvPr/>
        </p:nvSpPr>
        <p:spPr>
          <a:xfrm>
            <a:off x="8881872" y="3639312"/>
            <a:ext cx="97536" cy="4876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5999D"/>
                </a:solidFill>
                <a:latin typeface="Arial"/>
              </a:rPr>
              <a:t>• •</a:t>
            </a:r>
          </a:p>
        </p:txBody>
      </p:sp>
      <p:sp>
        <p:nvSpPr>
          <p:cNvPr id="19" name=""/>
          <p:cNvSpPr/>
          <p:nvPr/>
        </p:nvSpPr>
        <p:spPr>
          <a:xfrm>
            <a:off x="3029712" y="3645408"/>
            <a:ext cx="268224" cy="1158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5C5B52"/>
                </a:solidFill>
                <a:latin typeface="Arial"/>
              </a:rPr>
              <a:t>Snj</a:t>
            </a:r>
          </a:p>
        </p:txBody>
      </p:sp>
      <p:sp>
        <p:nvSpPr>
          <p:cNvPr id="20" name=""/>
          <p:cNvSpPr/>
          <p:nvPr/>
        </p:nvSpPr>
        <p:spPr>
          <a:xfrm>
            <a:off x="11990832" y="4005072"/>
            <a:ext cx="603504" cy="2194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b="1" cap="small" sz="1300" spc="-50">
                <a:solidFill>
                  <a:srgbClr val="5C5B52"/>
                </a:solidFill>
                <a:latin typeface="Arial"/>
              </a:rPr>
              <a:t>G^</a:t>
            </a:r>
            <a:r>
              <a:rPr lang="en-US" b="1" baseline="30000" cap="small" sz="1300" spc="-50">
                <a:solidFill>
                  <a:srgbClr val="5C5B52"/>
                </a:solidFill>
                <a:latin typeface="Arial"/>
              </a:rPr>
              <a:t>w</a:t>
            </a:r>
            <a:r>
              <a:rPr lang="en-US" b="1" cap="small" sz="1300" spc="-50">
                <a:solidFill>
                  <a:srgbClr val="5C5B52"/>
                </a:solidFill>
                <a:latin typeface="Arial"/>
              </a:rPr>
              <a:t>J</a:t>
            </a:r>
            <a:r>
              <a:rPr lang="en-US" b="1" baseline="30000" cap="small" sz="1300" spc="-50">
                <a:solidFill>
                  <a:srgbClr val="5C5B52"/>
                </a:solidFill>
                <a:latin typeface="Arial"/>
              </a:rPr>
              <a:t>H</a:t>
            </a:r>
          </a:p>
        </p:txBody>
      </p:sp>
      <p:sp>
        <p:nvSpPr>
          <p:cNvPr id="21" name=""/>
          <p:cNvSpPr/>
          <p:nvPr/>
        </p:nvSpPr>
        <p:spPr>
          <a:xfrm>
            <a:off x="7735824" y="4370832"/>
            <a:ext cx="743712" cy="1645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550">
                <a:solidFill>
                  <a:srgbClr val="B65E50"/>
                </a:solidFill>
                <a:latin typeface="Arial"/>
              </a:rPr>
              <a:t>&gt; </a:t>
            </a:r>
            <a:r>
              <a:rPr lang="en-US" sz="550">
                <a:solidFill>
                  <a:srgbClr val="AB8B62"/>
                </a:solidFill>
                <a:latin typeface="Arial"/>
              </a:rPr>
              <a:t>mfAtfCH</a:t>
            </a:r>
          </a:p>
        </p:txBody>
      </p:sp>
      <p:sp>
        <p:nvSpPr>
          <p:cNvPr id="22" name=""/>
          <p:cNvSpPr/>
          <p:nvPr/>
        </p:nvSpPr>
        <p:spPr>
          <a:xfrm>
            <a:off x="10094976" y="4547616"/>
            <a:ext cx="182880" cy="29870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250">
                <a:solidFill>
                  <a:srgbClr val="979799"/>
                </a:solidFill>
                <a:latin typeface="Arial"/>
              </a:rPr>
              <a:t>i</a:t>
            </a:r>
          </a:p>
        </p:txBody>
      </p:sp>
      <p:sp>
        <p:nvSpPr>
          <p:cNvPr id="23" name=""/>
          <p:cNvSpPr/>
          <p:nvPr/>
        </p:nvSpPr>
        <p:spPr>
          <a:xfrm>
            <a:off x="11387328" y="4553712"/>
            <a:ext cx="152400" cy="853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65999D"/>
                </a:solidFill>
                <a:latin typeface="Arial"/>
              </a:rPr>
              <a:t>*1</a:t>
            </a:r>
          </a:p>
        </p:txBody>
      </p:sp>
      <p:sp>
        <p:nvSpPr>
          <p:cNvPr id="24" name=""/>
          <p:cNvSpPr/>
          <p:nvPr/>
        </p:nvSpPr>
        <p:spPr>
          <a:xfrm>
            <a:off x="5565648" y="4578096"/>
            <a:ext cx="262128" cy="1097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latin typeface="Arial"/>
              </a:rPr>
              <a:t>oOO,</a:t>
            </a:r>
          </a:p>
        </p:txBody>
      </p:sp>
      <p:sp>
        <p:nvSpPr>
          <p:cNvPr id="25" name=""/>
          <p:cNvSpPr/>
          <p:nvPr/>
        </p:nvSpPr>
        <p:spPr>
          <a:xfrm>
            <a:off x="5632704" y="4639056"/>
            <a:ext cx="371856" cy="1402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550">
                <a:latin typeface="Arial"/>
              </a:rPr>
              <a:t>wPA*</a:t>
            </a:r>
            <a:r>
              <a:rPr lang="en-US" baseline="30000" sz="550">
                <a:latin typeface="Arial"/>
              </a:rPr>
              <a:t>1</a:t>
            </a:r>
            <a:r>
              <a:rPr lang="en-US" sz="550">
                <a:latin typeface="Arial"/>
              </a:rPr>
              <a:t> 7</a:t>
            </a:r>
          </a:p>
        </p:txBody>
      </p:sp>
      <p:sp>
        <p:nvSpPr>
          <p:cNvPr id="26" name=""/>
          <p:cNvSpPr/>
          <p:nvPr/>
        </p:nvSpPr>
        <p:spPr>
          <a:xfrm>
            <a:off x="10192512" y="4681728"/>
            <a:ext cx="292608" cy="73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979799"/>
                </a:solidFill>
                <a:latin typeface="Arial"/>
              </a:rPr>
              <a:t>5, —</a:t>
            </a:r>
          </a:p>
        </p:txBody>
      </p:sp>
      <p:sp>
        <p:nvSpPr>
          <p:cNvPr id="27" name=""/>
          <p:cNvSpPr/>
          <p:nvPr/>
        </p:nvSpPr>
        <p:spPr>
          <a:xfrm>
            <a:off x="5498592" y="4718304"/>
            <a:ext cx="134112" cy="853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 spc="-50">
                <a:solidFill>
                  <a:srgbClr val="161B1D"/>
                </a:solidFill>
                <a:latin typeface="Palatino Linotype"/>
              </a:rPr>
              <a:t>Co</a:t>
            </a:r>
          </a:p>
        </p:txBody>
      </p:sp>
      <p:sp>
        <p:nvSpPr>
          <p:cNvPr id="28" name=""/>
          <p:cNvSpPr/>
          <p:nvPr/>
        </p:nvSpPr>
        <p:spPr>
          <a:xfrm>
            <a:off x="3602736" y="4730496"/>
            <a:ext cx="310896" cy="40843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marL="215900" indent="0"/>
            <a:r>
              <a:rPr lang="en-US" sz="550">
                <a:solidFill>
                  <a:srgbClr val="979799"/>
                </a:solidFill>
                <a:latin typeface="Arial"/>
              </a:rPr>
              <a:t>-</a:t>
            </a:r>
          </a:p>
        </p:txBody>
      </p:sp>
      <p:sp>
        <p:nvSpPr>
          <p:cNvPr id="29" name=""/>
          <p:cNvSpPr/>
          <p:nvPr/>
        </p:nvSpPr>
        <p:spPr>
          <a:xfrm>
            <a:off x="8924544" y="4742688"/>
            <a:ext cx="329184" cy="1158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750" spc="-50">
                <a:solidFill>
                  <a:srgbClr val="7E457D"/>
                </a:solidFill>
                <a:latin typeface="Tahoma"/>
              </a:rPr>
              <a:t>tV t: i A</a:t>
            </a:r>
          </a:p>
        </p:txBody>
      </p:sp>
      <p:sp>
        <p:nvSpPr>
          <p:cNvPr id="30" name=""/>
          <p:cNvSpPr/>
          <p:nvPr/>
        </p:nvSpPr>
        <p:spPr>
          <a:xfrm>
            <a:off x="4248912" y="4828032"/>
            <a:ext cx="1822704" cy="2743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1500" spc="-100">
                <a:solidFill>
                  <a:srgbClr val="161B1D"/>
                </a:solidFill>
                <a:latin typeface="Arial"/>
              </a:rPr>
              <a:t>C*U£«.    ^ ^ V</a:t>
            </a:r>
          </a:p>
        </p:txBody>
      </p:sp>
      <p:sp>
        <p:nvSpPr>
          <p:cNvPr id="31" name=""/>
          <p:cNvSpPr/>
          <p:nvPr/>
        </p:nvSpPr>
        <p:spPr>
          <a:xfrm>
            <a:off x="3041904" y="4846320"/>
            <a:ext cx="402336" cy="1402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300" spc="150">
                <a:solidFill>
                  <a:srgbClr val="161B1D"/>
                </a:solidFill>
                <a:latin typeface="Arial"/>
              </a:rPr>
              <a:t>IOcA</a:t>
            </a:r>
          </a:p>
        </p:txBody>
      </p:sp>
      <p:sp>
        <p:nvSpPr>
          <p:cNvPr id="32" name=""/>
          <p:cNvSpPr/>
          <p:nvPr/>
        </p:nvSpPr>
        <p:spPr>
          <a:xfrm>
            <a:off x="10948416" y="5602224"/>
            <a:ext cx="1682496" cy="2194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/>
            <a:r>
              <a:rPr lang="en-US" b="1" sz="3100" spc="-50">
                <a:solidFill>
                  <a:srgbClr val="65999D"/>
                </a:solidFill>
                <a:latin typeface="Arial"/>
              </a:rPr>
              <a:t>iTXusT'CS</a:t>
            </a:r>
          </a:p>
        </p:txBody>
      </p:sp>
      <p:sp>
        <p:nvSpPr>
          <p:cNvPr id="33" name=""/>
          <p:cNvSpPr/>
          <p:nvPr/>
        </p:nvSpPr>
        <p:spPr>
          <a:xfrm>
            <a:off x="11484864" y="6205728"/>
            <a:ext cx="579120" cy="1219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100" spc="100">
                <a:solidFill>
                  <a:srgbClr val="B65E50"/>
                </a:solidFill>
                <a:latin typeface="Arial"/>
              </a:rPr>
              <a:t>5«o»—</a:t>
            </a:r>
          </a:p>
        </p:txBody>
      </p:sp>
      <p:sp>
        <p:nvSpPr>
          <p:cNvPr id="34" name=""/>
          <p:cNvSpPr/>
          <p:nvPr/>
        </p:nvSpPr>
        <p:spPr>
          <a:xfrm>
            <a:off x="11448288" y="6406896"/>
            <a:ext cx="1865376" cy="1828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200">
                <a:solidFill>
                  <a:srgbClr val="6B6670"/>
                </a:solidFill>
                <a:latin typeface="Calibri"/>
              </a:rPr>
              <a:t>L_A^r VfAR. THIS VfAR</a:t>
            </a:r>
          </a:p>
        </p:txBody>
      </p:sp>
      <p:sp>
        <p:nvSpPr>
          <p:cNvPr id="35" name=""/>
          <p:cNvSpPr/>
          <p:nvPr/>
        </p:nvSpPr>
        <p:spPr>
          <a:xfrm>
            <a:off x="11801856" y="6772656"/>
            <a:ext cx="1078992" cy="23164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cap="small" sz="1300" spc="350">
                <a:solidFill>
                  <a:srgbClr val="7E457D"/>
                </a:solidFill>
                <a:latin typeface="Arial"/>
              </a:rPr>
              <a:t>qoalh</a:t>
            </a:r>
            <a:r>
              <a:rPr lang="en-US" b="1" sz="1300" spc="350">
                <a:solidFill>
                  <a:srgbClr val="7E457D"/>
                </a:solidFill>
                <a:latin typeface="Arial"/>
              </a:rPr>
              <a:t>y</a:t>
            </a:r>
          </a:p>
        </p:txBody>
      </p:sp>
      <p:sp>
        <p:nvSpPr>
          <p:cNvPr id="36" name=""/>
          <p:cNvSpPr/>
          <p:nvPr/>
        </p:nvSpPr>
        <p:spPr>
          <a:xfrm>
            <a:off x="10966704" y="7022592"/>
            <a:ext cx="1371600" cy="34137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i="1" sz="1000" spc="50">
                <a:solidFill>
                  <a:srgbClr val="65999D"/>
                </a:solidFill>
                <a:latin typeface="Arial"/>
              </a:rPr>
              <a:t>STKbT€G</a:t>
            </a:r>
            <a:r>
              <a:rPr lang="en-US" i="1" sz="3100">
                <a:solidFill>
                  <a:srgbClr val="65999D"/>
                </a:solidFill>
                <a:latin typeface="Arial"/>
              </a:rPr>
              <a:t>1</a:t>
            </a:r>
            <a:r>
              <a:rPr lang="en-US" b="1" sz="3100" spc="-50">
                <a:solidFill>
                  <a:srgbClr val="65999D"/>
                </a:solidFill>
                <a:latin typeface="Arial"/>
              </a:rPr>
              <a:t> </a:t>
            </a:r>
            <a:r>
              <a:rPr lang="en-US" b="1" sz="3100" spc="-50">
                <a:solidFill>
                  <a:srgbClr val="5C5B52"/>
                </a:solidFill>
                <a:latin typeface="Arial"/>
              </a:rPr>
              <a:t>/</a:t>
            </a:r>
          </a:p>
        </p:txBody>
      </p:sp>
      <p:sp>
        <p:nvSpPr>
          <p:cNvPr id="37" name=""/>
          <p:cNvSpPr/>
          <p:nvPr/>
        </p:nvSpPr>
        <p:spPr>
          <a:xfrm>
            <a:off x="3511296" y="7235952"/>
            <a:ext cx="438912" cy="1645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-50">
                <a:solidFill>
                  <a:srgbClr val="31576F"/>
                </a:solidFill>
                <a:latin typeface="Arial"/>
              </a:rPr>
              <a:t>T»ne</a:t>
            </a:r>
          </a:p>
        </p:txBody>
      </p:sp>
      <p:sp>
        <p:nvSpPr>
          <p:cNvPr id="38" name=""/>
          <p:cNvSpPr/>
          <p:nvPr/>
        </p:nvSpPr>
        <p:spPr>
          <a:xfrm>
            <a:off x="11478768" y="7290816"/>
            <a:ext cx="146304" cy="17678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>
                <a:solidFill>
                  <a:srgbClr val="353841"/>
                </a:solidFill>
                <a:latin typeface="Arial"/>
              </a:rPr>
              <a:t>4</a:t>
            </a:r>
            <a:r>
              <a:rPr lang="en-US" b="1" sz="1300" spc="350">
                <a:solidFill>
                  <a:srgbClr val="353841"/>
                </a:solidFill>
                <a:latin typeface="Arial"/>
              </a:rPr>
              <a:t>r</a:t>
            </a:r>
          </a:p>
        </p:txBody>
      </p:sp>
      <p:sp>
        <p:nvSpPr>
          <p:cNvPr id="39" name=""/>
          <p:cNvSpPr/>
          <p:nvPr/>
        </p:nvSpPr>
        <p:spPr>
          <a:xfrm>
            <a:off x="11283696" y="7412736"/>
            <a:ext cx="1786128" cy="3474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cap="small" sz="3100" spc="-50">
                <a:solidFill>
                  <a:srgbClr val="7E457D"/>
                </a:solidFill>
                <a:latin typeface="Arial"/>
              </a:rPr>
              <a:t>c</a:t>
            </a:r>
            <a:r>
              <a:rPr lang="en-US" sz="1000" spc="150">
                <a:solidFill>
                  <a:srgbClr val="7E457D"/>
                </a:solidFill>
                <a:latin typeface="Arial"/>
              </a:rPr>
              <a:t>50</a:t>
            </a:r>
            <a:r>
              <a:rPr lang="en-US" b="1" sz="3100" spc="-50">
                <a:solidFill>
                  <a:srgbClr val="7E457D"/>
                </a:solidFill>
                <a:latin typeface="Arial"/>
              </a:rPr>
              <a:t>CC£</a:t>
            </a:r>
            <a:r>
              <a:rPr lang="en-US" sz="1000" spc="150">
                <a:solidFill>
                  <a:srgbClr val="7E457D"/>
                </a:solidFill>
                <a:latin typeface="Arial"/>
              </a:rPr>
              <a:t>5</a:t>
            </a:r>
            <a:r>
              <a:rPr lang="en-US" b="1" sz="3100" spc="-50">
                <a:solidFill>
                  <a:srgbClr val="7E457D"/>
                </a:solidFill>
                <a:latin typeface="Arial"/>
              </a:rPr>
              <a:t>S*</a:t>
            </a:r>
          </a:p>
        </p:txBody>
      </p:sp>
      <p:sp>
        <p:nvSpPr>
          <p:cNvPr id="40" name=""/>
          <p:cNvSpPr/>
          <p:nvPr/>
        </p:nvSpPr>
        <p:spPr>
          <a:xfrm>
            <a:off x="9070848" y="7498080"/>
            <a:ext cx="201168" cy="3048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-50">
                <a:solidFill>
                  <a:srgbClr val="7E457D"/>
                </a:solidFill>
                <a:latin typeface="Arial"/>
              </a:rPr>
              <a:t>&gt;</a:t>
            </a:r>
          </a:p>
        </p:txBody>
      </p:sp>
      <p:sp>
        <p:nvSpPr>
          <p:cNvPr id="41" name=""/>
          <p:cNvSpPr/>
          <p:nvPr/>
        </p:nvSpPr>
        <p:spPr>
          <a:xfrm>
            <a:off x="9101328" y="7790688"/>
            <a:ext cx="1956816" cy="3352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 spc="200">
                <a:solidFill>
                  <a:srgbClr val="AB8B62"/>
                </a:solidFill>
                <a:latin typeface="Arial"/>
              </a:rPr>
              <a:t>^ </a:t>
            </a:r>
            <a:r>
              <a:rPr lang="en-US" baseline="-25000" sz="1000" spc="200">
                <a:solidFill>
                  <a:srgbClr val="AB8B62"/>
                </a:solidFill>
                <a:latin typeface="Arial"/>
              </a:rPr>
              <a:t>(WPJ</a:t>
            </a:r>
          </a:p>
        </p:txBody>
      </p:sp>
      <p:sp>
        <p:nvSpPr>
          <p:cNvPr id="42" name=""/>
          <p:cNvSpPr/>
          <p:nvPr/>
        </p:nvSpPr>
        <p:spPr>
          <a:xfrm>
            <a:off x="11125200" y="7979664"/>
            <a:ext cx="780288" cy="15849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 spc="200">
                <a:solidFill>
                  <a:srgbClr val="AB8B62"/>
                </a:solidFill>
                <a:latin typeface="Arial"/>
              </a:rPr>
              <a:t>©v/ATiO</a:t>
            </a:r>
          </a:p>
        </p:txBody>
      </p:sp>
      <p:sp>
        <p:nvSpPr>
          <p:cNvPr id="43" name=""/>
          <p:cNvSpPr/>
          <p:nvPr/>
        </p:nvSpPr>
        <p:spPr>
          <a:xfrm>
            <a:off x="4261104" y="8168640"/>
            <a:ext cx="865632" cy="1828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 spc="300">
                <a:solidFill>
                  <a:srgbClr val="31576F"/>
                </a:solidFill>
                <a:latin typeface="Arial"/>
              </a:rPr>
              <a:t>QOAL’'y</a:t>
            </a:r>
          </a:p>
        </p:txBody>
      </p:sp>
      <p:sp>
        <p:nvSpPr>
          <p:cNvPr id="44" name=""/>
          <p:cNvSpPr/>
          <p:nvPr/>
        </p:nvSpPr>
        <p:spPr>
          <a:xfrm>
            <a:off x="10094976" y="8253984"/>
            <a:ext cx="518160" cy="42062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3200" spc="-400">
                <a:solidFill>
                  <a:srgbClr val="5C5B52"/>
                </a:solidFill>
                <a:latin typeface="Arial"/>
              </a:rPr>
              <a:t>0k</a:t>
            </a:r>
          </a:p>
        </p:txBody>
      </p:sp>
      <p:sp>
        <p:nvSpPr>
          <p:cNvPr id="45" name=""/>
          <p:cNvSpPr/>
          <p:nvPr/>
        </p:nvSpPr>
        <p:spPr>
          <a:xfrm>
            <a:off x="4584192" y="8442960"/>
            <a:ext cx="390144" cy="914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AB8B62"/>
                </a:solidFill>
                <a:latin typeface="Arial"/>
              </a:rPr>
              <a:t>floured</a:t>
            </a:r>
          </a:p>
        </p:txBody>
      </p:sp>
      <p:sp>
        <p:nvSpPr>
          <p:cNvPr id="46" name=""/>
          <p:cNvSpPr/>
          <p:nvPr/>
        </p:nvSpPr>
        <p:spPr>
          <a:xfrm>
            <a:off x="11003280" y="8485632"/>
            <a:ext cx="573024" cy="1219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AB8B62"/>
                </a:solidFill>
                <a:latin typeface="Arial"/>
              </a:rPr>
              <a:t>&gt;00 A V-</a:t>
            </a:r>
          </a:p>
        </p:txBody>
      </p:sp>
      <p:sp>
        <p:nvSpPr>
          <p:cNvPr id="47" name=""/>
          <p:cNvSpPr/>
          <p:nvPr/>
        </p:nvSpPr>
        <p:spPr>
          <a:xfrm>
            <a:off x="9546336" y="8540496"/>
            <a:ext cx="1335024" cy="499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b="1" sz="3100" spc="-50">
                <a:solidFill>
                  <a:srgbClr val="5C5B52"/>
                </a:solidFill>
                <a:latin typeface="Arial"/>
              </a:rPr>
              <a:t>® \S</a:t>
            </a:r>
          </a:p>
        </p:txBody>
      </p:sp>
      <p:sp>
        <p:nvSpPr>
          <p:cNvPr id="48" name=""/>
          <p:cNvSpPr/>
          <p:nvPr/>
        </p:nvSpPr>
        <p:spPr>
          <a:xfrm>
            <a:off x="10899648" y="8613648"/>
            <a:ext cx="755904" cy="1341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550">
                <a:solidFill>
                  <a:srgbClr val="AB8B62"/>
                </a:solidFill>
                <a:latin typeface="Arial"/>
              </a:rPr>
              <a:t>(V-r^oRK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529840" y="1758696"/>
            <a:ext cx="11170920" cy="711098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9704" y="582168"/>
            <a:ext cx="7050024" cy="7010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Some Models are Easy</a:t>
            </a:r>
          </a:p>
        </p:txBody>
      </p:sp>
      <p:sp>
        <p:nvSpPr>
          <p:cNvPr id="4" name=""/>
          <p:cNvSpPr/>
          <p:nvPr/>
        </p:nvSpPr>
        <p:spPr>
          <a:xfrm>
            <a:off x="679704" y="1392936"/>
            <a:ext cx="2526792" cy="2956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Bef>
                <a:spcPts val="1470"/>
              </a:spcBef>
            </a:pPr>
            <a:r>
              <a:rPr lang="en-US" sz="2000">
                <a:solidFill>
                  <a:srgbClr val="979799"/>
                </a:solidFill>
                <a:latin typeface="Arial"/>
              </a:rPr>
              <a:t>Movie Property Graph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573024"/>
            <a:ext cx="16254984" cy="85709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529840" y="1758696"/>
            <a:ext cx="11170920" cy="711098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67512" y="576072"/>
            <a:ext cx="14676120" cy="105765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Some Models are Easy but not for all Questions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Should Roles be their own Node?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0"/>
            <a:ext cx="16254984" cy="9144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2192" y="2072640"/>
            <a:ext cx="16242792" cy="500481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58368" y="582168"/>
            <a:ext cx="9598152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Airports Nodes with Flying To Relationships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2192" y="1792224"/>
            <a:ext cx="16242792" cy="477926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52272" y="493776"/>
            <a:ext cx="9637776" cy="1188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Maybe Flight should be its own Node?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432560" y="1761744"/>
            <a:ext cx="13045440" cy="7211568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9704" y="582168"/>
            <a:ext cx="9576816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Don't we care about Flights only on particular Days?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682496" y="1761744"/>
            <a:ext cx="12825984" cy="723595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64464" y="582168"/>
            <a:ext cx="9592056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What is this trick with the date in the relationship type?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472184" y="2337816"/>
            <a:ext cx="13222224" cy="465429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64464" y="582168"/>
            <a:ext cx="9592056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We don't need Airports if we model this way!</a:t>
            </a:r>
          </a:p>
        </p:txBody>
      </p:sp>
      <p:sp>
        <p:nvSpPr>
          <p:cNvPr id="4" name=""/>
          <p:cNvSpPr/>
          <p:nvPr/>
        </p:nvSpPr>
        <p:spPr>
          <a:xfrm>
            <a:off x="6751320" y="7022592"/>
            <a:ext cx="2179320" cy="15971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660400">
              <a:lnSpc>
                <a:spcPts val="2496"/>
              </a:lnSpc>
            </a:pPr>
            <a:r>
              <a:rPr lang="en-US" b="1" sz="1900">
                <a:latin typeface="Arial"/>
              </a:rPr>
              <a:t>code: string airline: string departure: long arrival: long distance: long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9793224" y="2880360"/>
            <a:ext cx="643128" cy="4968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03504" y="2182368"/>
            <a:ext cx="14441424" cy="683971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3608" y="582168"/>
            <a:ext cx="9582912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Group Destinations together!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005328" y="2020824"/>
            <a:ext cx="11969496" cy="575157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3608" y="582168"/>
            <a:ext cx="9582912" cy="105156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How do you model Flight Data?</a:t>
            </a:r>
          </a:p>
          <a:p>
            <a:pPr algn="just" indent="0"/>
            <a:r>
              <a:rPr lang="en-US" sz="2300" spc="-50">
                <a:solidFill>
                  <a:srgbClr val="979799"/>
                </a:solidFill>
                <a:latin typeface="Calibri"/>
              </a:rPr>
              <a:t>OMG WAT!    _</a:t>
            </a:r>
          </a:p>
        </p:txBody>
      </p:sp>
      <p:sp>
        <p:nvSpPr>
          <p:cNvPr id="4" name=""/>
          <p:cNvSpPr/>
          <p:nvPr/>
        </p:nvSpPr>
        <p:spPr>
          <a:xfrm>
            <a:off x="8830056" y="1712976"/>
            <a:ext cx="1106424" cy="3200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900">
                <a:latin typeface="Arial"/>
              </a:rPr>
              <a:t>id: String</a:t>
            </a:r>
          </a:p>
        </p:txBody>
      </p:sp>
      <p:sp>
        <p:nvSpPr>
          <p:cNvPr id="5" name=""/>
          <p:cNvSpPr/>
          <p:nvPr/>
        </p:nvSpPr>
        <p:spPr>
          <a:xfrm>
            <a:off x="8125968" y="7796784"/>
            <a:ext cx="2133600" cy="128320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419100">
              <a:lnSpc>
                <a:spcPts val="2400"/>
              </a:lnSpc>
            </a:pPr>
            <a:r>
              <a:rPr lang="en-US" b="1" sz="1900">
                <a:latin typeface="Arial"/>
              </a:rPr>
              <a:t>code: String departs: Long arrives: Long distance: Integer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6096" y="2337816"/>
            <a:ext cx="16242792" cy="6797040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97992" y="582168"/>
            <a:ext cx="14636496" cy="7010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Do </a:t>
            </a:r>
            <a:r>
              <a:rPr lang="en-US" b="1" i="1" sz="5000" spc="-350">
                <a:solidFill>
                  <a:srgbClr val="5C5B52"/>
                </a:solidFill>
                <a:latin typeface="Tahoma"/>
              </a:rPr>
              <a:t>not</a:t>
            </a:r>
            <a:r>
              <a:rPr lang="en-US" b="1" sz="5000" spc="-100">
                <a:solidFill>
                  <a:srgbClr val="5C5B52"/>
                </a:solidFill>
                <a:latin typeface="Arial"/>
              </a:rPr>
              <a:t> try and bend the data. That's im</a:t>
            </a:r>
            <a:r>
              <a:rPr lang="en-US" b="1" sz="5000" spc="-100">
                <a:solidFill>
                  <a:srgbClr val="31576F"/>
                </a:solidFill>
                <a:latin typeface="Arial"/>
              </a:rPr>
              <a:t>possible</a:t>
            </a:r>
            <a:r>
              <a:rPr lang="en-US" b="1" sz="5000" spc="-100">
                <a:solidFill>
                  <a:srgbClr val="5C5B52"/>
                </a:solidFill>
                <a:latin typeface="Arial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050792" y="5242560"/>
            <a:ext cx="6288024" cy="3901440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3678936" y="4160520"/>
            <a:ext cx="8948928" cy="1066800"/>
          </a:xfrm>
          <a:prstGeom prst="rect">
            <a:avLst/>
          </a:prstGeom>
          <a:solidFill>
            <a:srgbClr val="70C6BB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7600" spc="-50">
                <a:solidFill>
                  <a:srgbClr val="FFFFFF"/>
                </a:solidFill>
                <a:latin typeface="Tahoma"/>
              </a:rPr>
              <a:t>Modeling Twitter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919472" y="2078736"/>
            <a:ext cx="521208" cy="602589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3608" y="582168"/>
            <a:ext cx="6635496" cy="11064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Building a News Feed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Cloning Twitter</a:t>
            </a:r>
          </a:p>
        </p:txBody>
      </p:sp>
      <p:sp>
        <p:nvSpPr>
          <p:cNvPr id="4" name=""/>
          <p:cNvSpPr/>
          <p:nvPr/>
        </p:nvSpPr>
        <p:spPr>
          <a:xfrm>
            <a:off x="2212848" y="2334768"/>
            <a:ext cx="2542032" cy="102108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000" spc="-100">
                <a:solidFill>
                  <a:srgbClr val="5C5B52"/>
                </a:solidFill>
                <a:latin typeface="Arial"/>
              </a:rPr>
              <a:t>9:00 am</a:t>
            </a:r>
          </a:p>
        </p:txBody>
      </p:sp>
      <p:sp>
        <p:nvSpPr>
          <p:cNvPr id="5" name=""/>
          <p:cNvSpPr/>
          <p:nvPr/>
        </p:nvSpPr>
        <p:spPr>
          <a:xfrm>
            <a:off x="2215896" y="4117848"/>
            <a:ext cx="1932432" cy="4267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000" spc="-100">
                <a:solidFill>
                  <a:srgbClr val="5C5B52"/>
                </a:solidFill>
                <a:latin typeface="Arial"/>
              </a:rPr>
              <a:t>8:30 am</a:t>
            </a:r>
          </a:p>
        </p:txBody>
      </p:sp>
      <p:sp>
        <p:nvSpPr>
          <p:cNvPr id="6" name=""/>
          <p:cNvSpPr/>
          <p:nvPr/>
        </p:nvSpPr>
        <p:spPr>
          <a:xfrm>
            <a:off x="2215896" y="5617464"/>
            <a:ext cx="1932432" cy="4267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000" spc="-100">
                <a:solidFill>
                  <a:srgbClr val="5C5B52"/>
                </a:solidFill>
                <a:latin typeface="Arial"/>
              </a:rPr>
              <a:t>8:12 am</a:t>
            </a:r>
          </a:p>
        </p:txBody>
      </p:sp>
      <p:sp>
        <p:nvSpPr>
          <p:cNvPr id="7" name=""/>
          <p:cNvSpPr/>
          <p:nvPr/>
        </p:nvSpPr>
        <p:spPr>
          <a:xfrm>
            <a:off x="2215896" y="7117080"/>
            <a:ext cx="1932432" cy="4267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000" spc="-100">
                <a:solidFill>
                  <a:srgbClr val="5C5B52"/>
                </a:solidFill>
                <a:latin typeface="Arial"/>
              </a:rPr>
              <a:t>8:03 am</a:t>
            </a:r>
          </a:p>
        </p:txBody>
      </p:sp>
      <p:sp>
        <p:nvSpPr>
          <p:cNvPr id="8" name=""/>
          <p:cNvSpPr/>
          <p:nvPr/>
        </p:nvSpPr>
        <p:spPr>
          <a:xfrm>
            <a:off x="5678424" y="2307336"/>
            <a:ext cx="6272784" cy="7193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b="1" sz="2200">
                <a:solidFill>
                  <a:srgbClr val="5C5B52"/>
                </a:solidFill>
                <a:latin typeface="Arial"/>
              </a:rPr>
              <a:t>@hipster</a:t>
            </a:r>
          </a:p>
          <a:p>
            <a:pPr indent="0"/>
            <a:r>
              <a:rPr lang="en-US" sz="1500">
                <a:solidFill>
                  <a:srgbClr val="5C5B52"/>
                </a:solidFill>
                <a:latin typeface="Arial"/>
              </a:rPr>
              <a:t>This is what I had for breakfast! &lt;Insert Image of squirrel food&gt;</a:t>
            </a:r>
          </a:p>
        </p:txBody>
      </p:sp>
      <p:sp>
        <p:nvSpPr>
          <p:cNvPr id="9" name=""/>
          <p:cNvSpPr/>
          <p:nvPr/>
        </p:nvSpPr>
        <p:spPr>
          <a:xfrm>
            <a:off x="5675376" y="3806952"/>
            <a:ext cx="7720584" cy="7193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260"/>
              </a:spcAft>
            </a:pPr>
            <a:r>
              <a:rPr lang="en-US" b="1" sz="2200">
                <a:solidFill>
                  <a:srgbClr val="5C5B52"/>
                </a:solidFill>
                <a:latin typeface="Arial"/>
              </a:rPr>
              <a:t>@neo4j</a:t>
            </a:r>
          </a:p>
          <a:p>
            <a:pPr indent="0"/>
            <a:r>
              <a:rPr lang="en-US" sz="1500">
                <a:solidFill>
                  <a:srgbClr val="5C5B52"/>
                </a:solidFill>
                <a:latin typeface="Arial"/>
              </a:rPr>
              <a:t>Automated tweet telling me about </a:t>
            </a:r>
            <a:r>
              <a:rPr lang="en-US" b="1" sz="1600">
                <a:solidFill>
                  <a:srgbClr val="5C5B52"/>
                </a:solidFill>
                <a:latin typeface="Arial"/>
              </a:rPr>
              <a:t>Graph Connect 2020 in NYC on Apr 20-22</a:t>
            </a:r>
          </a:p>
        </p:txBody>
      </p:sp>
      <p:sp>
        <p:nvSpPr>
          <p:cNvPr id="10" name=""/>
          <p:cNvSpPr/>
          <p:nvPr/>
        </p:nvSpPr>
        <p:spPr>
          <a:xfrm>
            <a:off x="5681472" y="5303520"/>
            <a:ext cx="2776728" cy="7193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b="1" sz="2200">
                <a:solidFill>
                  <a:srgbClr val="5C5B52"/>
                </a:solidFill>
                <a:latin typeface="Arial"/>
              </a:rPr>
              <a:t>@ex-coworker</a:t>
            </a:r>
          </a:p>
          <a:p>
            <a:pPr indent="0"/>
            <a:r>
              <a:rPr lang="en-US" sz="1500">
                <a:solidFill>
                  <a:srgbClr val="5C5B52"/>
                </a:solidFill>
                <a:latin typeface="Arial"/>
              </a:rPr>
              <a:t>Stuff I no longer care about.</a:t>
            </a:r>
          </a:p>
        </p:txBody>
      </p:sp>
      <p:sp>
        <p:nvSpPr>
          <p:cNvPr id="11" name=""/>
          <p:cNvSpPr/>
          <p:nvPr/>
        </p:nvSpPr>
        <p:spPr>
          <a:xfrm>
            <a:off x="5684520" y="6821424"/>
            <a:ext cx="2968752" cy="7010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b="1" sz="2200">
                <a:solidFill>
                  <a:srgbClr val="5C5B52"/>
                </a:solidFill>
                <a:latin typeface="Arial"/>
              </a:rPr>
              <a:t>@someguy</a:t>
            </a:r>
          </a:p>
          <a:p>
            <a:pPr indent="0"/>
            <a:r>
              <a:rPr lang="en-US" sz="1500">
                <a:solidFill>
                  <a:srgbClr val="5C5B52"/>
                </a:solidFill>
                <a:latin typeface="Arial"/>
              </a:rPr>
              <a:t>Inspirational Quote of the Day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679704" y="582168"/>
            <a:ext cx="4721352" cy="105156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Cloning Twitter</a:t>
            </a:r>
          </a:p>
          <a:p>
            <a:pPr indent="0">
              <a:spcAft>
                <a:spcPts val="3780"/>
              </a:spcAft>
            </a:pPr>
            <a:r>
              <a:rPr lang="en-US" sz="2000">
                <a:solidFill>
                  <a:srgbClr val="979799"/>
                </a:solidFill>
                <a:latin typeface="Arial"/>
              </a:rPr>
              <a:t>How do others do it?</a:t>
            </a:r>
          </a:p>
        </p:txBody>
      </p:sp>
      <p:sp>
        <p:nvSpPr>
          <p:cNvPr id="3" name=""/>
          <p:cNvSpPr/>
          <p:nvPr/>
        </p:nvSpPr>
        <p:spPr>
          <a:xfrm>
            <a:off x="195072" y="2322576"/>
            <a:ext cx="15745968" cy="78638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840"/>
              </a:lnSpc>
              <a:spcBef>
                <a:spcPts val="3780"/>
              </a:spcBef>
              <a:spcAft>
                <a:spcPts val="420"/>
              </a:spcAft>
            </a:pPr>
            <a:r>
              <a:rPr lang="en-US" b="1" sz="2000">
                <a:solidFill>
                  <a:srgbClr val="5C5B52"/>
                </a:solidFill>
                <a:latin typeface="Arial"/>
              </a:rPr>
              <a:t>“After we create a post and we obtain the post ID, we need to LPUSH the ID in the timeline of every user that is following the author of the post” from </a:t>
            </a:r>
            <a:r>
              <a:rPr lang="en-US" b="1" u="sng" sz="2000">
                <a:latin typeface="Arial"/>
              </a:rPr>
              <a:t>Tutorial: Design and implementation of a simple Twitter clone using PHP and the Redis key-value store</a:t>
            </a:r>
          </a:p>
        </p:txBody>
      </p:sp>
      <p:sp>
        <p:nvSpPr>
          <p:cNvPr id="4" name=""/>
          <p:cNvSpPr/>
          <p:nvPr/>
        </p:nvSpPr>
        <p:spPr>
          <a:xfrm>
            <a:off x="487680" y="3456432"/>
            <a:ext cx="161544" cy="8199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376"/>
              </a:lnSpc>
            </a:pPr>
            <a:r>
              <a:rPr lang="en-US" sz="1000" spc="150">
                <a:solidFill>
                  <a:srgbClr val="C4C4C4"/>
                </a:solidFill>
                <a:latin typeface="Arial"/>
              </a:rPr>
              <a:t>1</a:t>
            </a:r>
          </a:p>
          <a:p>
            <a:pPr indent="0">
              <a:lnSpc>
                <a:spcPts val="2376"/>
              </a:lnSpc>
            </a:pPr>
            <a:r>
              <a:rPr lang="en-US" b="1" sz="1900">
                <a:solidFill>
                  <a:srgbClr val="C4C4C4"/>
                </a:solidFill>
                <a:latin typeface="Arial"/>
              </a:rPr>
              <a:t>2</a:t>
            </a:r>
          </a:p>
          <a:p>
            <a:pPr indent="0">
              <a:lnSpc>
                <a:spcPts val="2376"/>
              </a:lnSpc>
            </a:pPr>
            <a:r>
              <a:rPr lang="en-US" sz="2200">
                <a:solidFill>
                  <a:srgbClr val="C4C4C4"/>
                </a:solidFill>
                <a:latin typeface="Calibri"/>
              </a:rPr>
              <a:t>3</a:t>
            </a:r>
          </a:p>
        </p:txBody>
      </p:sp>
      <p:sp>
        <p:nvSpPr>
          <p:cNvPr id="5" name=""/>
          <p:cNvSpPr/>
          <p:nvPr/>
        </p:nvSpPr>
        <p:spPr>
          <a:xfrm>
            <a:off x="1115568" y="3435096"/>
            <a:ext cx="5471160" cy="8961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Bef>
                <a:spcPts val="420"/>
              </a:spcBef>
              <a:spcAft>
                <a:spcPts val="420"/>
              </a:spcAft>
            </a:pPr>
            <a:r>
              <a:rPr lang="en-US" b="1" sz="2200">
                <a:solidFill>
                  <a:srgbClr val="5C5B52"/>
                </a:solidFill>
                <a:latin typeface="Consolas"/>
              </a:rPr>
              <a:t>foreach($followers </a:t>
            </a:r>
            <a:r>
              <a:rPr lang="en-US" b="1" sz="2200">
                <a:solidFill>
                  <a:srgbClr val="06476D"/>
                </a:solidFill>
                <a:latin typeface="Consolas"/>
              </a:rPr>
              <a:t>as </a:t>
            </a:r>
            <a:r>
              <a:rPr lang="en-US" b="1" sz="2200">
                <a:solidFill>
                  <a:srgbClr val="A66D23"/>
                </a:solidFill>
                <a:latin typeface="Consolas"/>
              </a:rPr>
              <a:t>$fid) </a:t>
            </a:r>
            <a:r>
              <a:rPr lang="en-US" b="1" sz="2200">
                <a:latin typeface="Consolas"/>
              </a:rPr>
              <a:t>{</a:t>
            </a:r>
          </a:p>
          <a:p>
            <a:pPr indent="0">
              <a:spcAft>
                <a:spcPts val="420"/>
              </a:spcAft>
            </a:pPr>
            <a:r>
              <a:rPr lang="en-US" b="1" sz="2200">
                <a:solidFill>
                  <a:srgbClr val="161B1D"/>
                </a:solidFill>
                <a:latin typeface="Consolas"/>
              </a:rPr>
              <a:t>$r-&gt;lpush(</a:t>
            </a:r>
            <a:r>
              <a:rPr lang="en-US" b="1" sz="2200">
                <a:solidFill>
                  <a:srgbClr val="0000EE"/>
                </a:solidFill>
                <a:latin typeface="Consolas"/>
              </a:rPr>
              <a:t>"posts:$fid",</a:t>
            </a:r>
            <a:r>
              <a:rPr lang="en-US" b="1" sz="2200">
                <a:solidFill>
                  <a:srgbClr val="A66D23"/>
                </a:solidFill>
                <a:latin typeface="Consolas"/>
              </a:rPr>
              <a:t>$postid);</a:t>
            </a:r>
          </a:p>
          <a:p>
            <a:pPr indent="0">
              <a:spcAft>
                <a:spcPts val="4200"/>
              </a:spcAft>
            </a:pPr>
            <a:r>
              <a:rPr lang="en-US" b="1" sz="3100" spc="-50">
                <a:latin typeface="Arial"/>
              </a:rPr>
              <a:t>}</a:t>
            </a:r>
          </a:p>
        </p:txBody>
      </p:sp>
      <p:sp>
        <p:nvSpPr>
          <p:cNvPr id="6" name=""/>
          <p:cNvSpPr/>
          <p:nvPr/>
        </p:nvSpPr>
        <p:spPr>
          <a:xfrm>
            <a:off x="216408" y="5074920"/>
            <a:ext cx="15840456" cy="12192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3840"/>
              </a:lnSpc>
              <a:spcBef>
                <a:spcPts val="4200"/>
              </a:spcBef>
              <a:spcAft>
                <a:spcPts val="420"/>
              </a:spcAft>
            </a:pPr>
            <a:r>
              <a:rPr lang="en-US" b="1" sz="2000">
                <a:solidFill>
                  <a:srgbClr val="5C5B52"/>
                </a:solidFill>
                <a:latin typeface="Arial"/>
              </a:rPr>
              <a:t>Another example using the document store </a:t>
            </a:r>
            <a:r>
              <a:rPr lang="en-US" b="1" u="sng" sz="2000">
                <a:latin typeface="Arial"/>
              </a:rPr>
              <a:t>Firebase</a:t>
            </a:r>
            <a:r>
              <a:rPr lang="en-US" b="1" sz="2000">
                <a:latin typeface="Arial"/>
              </a:rPr>
              <a:t> </a:t>
            </a:r>
            <a:r>
              <a:rPr lang="en-US" b="1" sz="2000">
                <a:solidFill>
                  <a:srgbClr val="5C5B52"/>
                </a:solidFill>
                <a:latin typeface="Arial"/>
              </a:rPr>
              <a:t>instead uses the same approach: “When a new spark is posted, we’ll [put] it in the global list, and then put its ID in the feed of every user that is following the author.” from </a:t>
            </a:r>
            <a:r>
              <a:rPr lang="en-US" b="1" u="sng" sz="2000">
                <a:latin typeface="Arial"/>
              </a:rPr>
              <a:t>An open source Twitter clone built with Firebase</a:t>
            </a:r>
          </a:p>
        </p:txBody>
      </p:sp>
      <p:sp>
        <p:nvSpPr>
          <p:cNvPr id="7" name=""/>
          <p:cNvSpPr/>
          <p:nvPr/>
        </p:nvSpPr>
        <p:spPr>
          <a:xfrm>
            <a:off x="509016" y="6714744"/>
            <a:ext cx="179832" cy="202387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352"/>
              </a:lnSpc>
            </a:pPr>
            <a:r>
              <a:rPr lang="en-US" sz="1000" spc="150">
                <a:solidFill>
                  <a:srgbClr val="C4C4C4"/>
                </a:solidFill>
                <a:latin typeface="Arial"/>
              </a:rPr>
              <a:t>1</a:t>
            </a:r>
          </a:p>
          <a:p>
            <a:pPr algn="just" indent="0">
              <a:lnSpc>
                <a:spcPts val="2352"/>
              </a:lnSpc>
            </a:pPr>
            <a:r>
              <a:rPr lang="en-US" sz="2200">
                <a:solidFill>
                  <a:srgbClr val="C4C4C4"/>
                </a:solidFill>
                <a:latin typeface="Consolas"/>
              </a:rPr>
              <a:t>2</a:t>
            </a:r>
          </a:p>
          <a:p>
            <a:pPr algn="just" indent="0">
              <a:lnSpc>
                <a:spcPts val="2352"/>
              </a:lnSpc>
            </a:pPr>
            <a:r>
              <a:rPr lang="en-US" sz="2200">
                <a:solidFill>
                  <a:srgbClr val="C4C4C4"/>
                </a:solidFill>
                <a:latin typeface="Calibri"/>
              </a:rPr>
              <a:t>3</a:t>
            </a:r>
          </a:p>
          <a:p>
            <a:pPr algn="just" indent="0">
              <a:lnSpc>
                <a:spcPts val="2352"/>
              </a:lnSpc>
            </a:pPr>
            <a:r>
              <a:rPr lang="en-US" sz="2200">
                <a:solidFill>
                  <a:srgbClr val="C4C4C4"/>
                </a:solidFill>
                <a:latin typeface="Calibri"/>
              </a:rPr>
              <a:t>4</a:t>
            </a:r>
          </a:p>
          <a:p>
            <a:pPr algn="just" indent="0">
              <a:lnSpc>
                <a:spcPts val="2352"/>
              </a:lnSpc>
            </a:pPr>
            <a:r>
              <a:rPr lang="en-US" sz="2200">
                <a:solidFill>
                  <a:srgbClr val="C4C4C4"/>
                </a:solidFill>
                <a:latin typeface="Calibri"/>
              </a:rPr>
              <a:t>5</a:t>
            </a:r>
          </a:p>
          <a:p>
            <a:pPr algn="just" indent="0">
              <a:lnSpc>
                <a:spcPts val="2352"/>
              </a:lnSpc>
            </a:pPr>
            <a:r>
              <a:rPr lang="en-US" sz="2100">
                <a:solidFill>
                  <a:srgbClr val="C4C4C4"/>
                </a:solidFill>
                <a:latin typeface="Consolas"/>
              </a:rPr>
              <a:t>6 </a:t>
            </a:r>
            <a:r>
              <a:rPr lang="en-US" sz="2200">
                <a:solidFill>
                  <a:srgbClr val="C4C4C4"/>
                </a:solidFill>
                <a:latin typeface="Calibri"/>
              </a:rPr>
              <a:t>7</a:t>
            </a:r>
          </a:p>
        </p:txBody>
      </p:sp>
      <p:sp>
        <p:nvSpPr>
          <p:cNvPr id="8" name=""/>
          <p:cNvSpPr/>
          <p:nvPr/>
        </p:nvSpPr>
        <p:spPr>
          <a:xfrm>
            <a:off x="1155192" y="6699504"/>
            <a:ext cx="10098024" cy="209702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2352"/>
              </a:lnSpc>
              <a:spcBef>
                <a:spcPts val="420"/>
              </a:spcBef>
            </a:pPr>
            <a:r>
              <a:rPr lang="en-US" b="1" sz="2200">
                <a:solidFill>
                  <a:srgbClr val="07820A"/>
                </a:solidFill>
                <a:latin typeface="Consolas"/>
              </a:rPr>
              <a:t>// Add spank ID to the feed of everyone following this user. </a:t>
            </a:r>
            <a:r>
              <a:rPr lang="en-US" b="1" sz="2200">
                <a:solidFill>
                  <a:srgbClr val="040366"/>
                </a:solidFill>
                <a:latin typeface="Consolas"/>
              </a:rPr>
              <a:t>currentllser.child("followers").once("value", </a:t>
            </a:r>
            <a:r>
              <a:rPr lang="en-US" b="1" sz="2200">
                <a:solidFill>
                  <a:srgbClr val="06476D"/>
                </a:solidFill>
                <a:latin typeface="Consolas"/>
              </a:rPr>
              <a:t>function(list) </a:t>
            </a:r>
            <a:r>
              <a:rPr lang="en-US" b="1" sz="2200">
                <a:latin typeface="Consolas"/>
              </a:rPr>
              <a:t>{ list.forEach</a:t>
            </a:r>
            <a:r>
              <a:rPr lang="en-US" b="1" sz="2200">
                <a:solidFill>
                  <a:srgbClr val="06476D"/>
                </a:solidFill>
                <a:latin typeface="Consolas"/>
              </a:rPr>
              <a:t>(function</a:t>
            </a:r>
            <a:r>
              <a:rPr lang="en-US" b="1" sz="2200">
                <a:latin typeface="Consolas"/>
              </a:rPr>
              <a:t>(follower) { </a:t>
            </a:r>
            <a:r>
              <a:rPr lang="en-US" b="1" sz="2200">
                <a:solidFill>
                  <a:srgbClr val="06476D"/>
                </a:solidFill>
                <a:latin typeface="Consolas"/>
              </a:rPr>
              <a:t>var </a:t>
            </a:r>
            <a:r>
              <a:rPr lang="en-US" b="1" sz="2200">
                <a:latin typeface="Consolas"/>
              </a:rPr>
              <a:t>childRef = firebase.</a:t>
            </a:r>
            <a:r>
              <a:rPr lang="en-US" b="1" sz="2200">
                <a:solidFill>
                  <a:srgbClr val="040366"/>
                </a:solidFill>
                <a:latin typeface="Consolas"/>
              </a:rPr>
              <a:t>child("users")</a:t>
            </a:r>
            <a:r>
              <a:rPr lang="en-US" b="1" sz="2200">
                <a:latin typeface="Consolas"/>
              </a:rPr>
              <a:t>.child(follower.name()); childRef.child</a:t>
            </a:r>
            <a:r>
              <a:rPr lang="en-US" b="1" sz="2200">
                <a:solidFill>
                  <a:srgbClr val="0000EE"/>
                </a:solidFill>
                <a:latin typeface="Consolas"/>
              </a:rPr>
              <a:t>("feed"</a:t>
            </a:r>
            <a:r>
              <a:rPr lang="en-US" b="1" sz="2200">
                <a:latin typeface="Consolas"/>
              </a:rPr>
              <a:t>).child(sparkRefld).set</a:t>
            </a:r>
            <a:r>
              <a:rPr lang="en-US" b="1" sz="2200">
                <a:solidFill>
                  <a:srgbClr val="06476D"/>
                </a:solidFill>
                <a:latin typeface="Consolas"/>
              </a:rPr>
              <a:t>(true)</a:t>
            </a:r>
            <a:r>
              <a:rPr lang="en-US" b="1" sz="2200">
                <a:latin typeface="Consolas"/>
              </a:rPr>
              <a:t>;</a:t>
            </a:r>
          </a:p>
          <a:p>
            <a:pPr indent="0"/>
            <a:r>
              <a:rPr lang="en-US" b="1" sz="3100" spc="-50">
                <a:latin typeface="Arial"/>
              </a:rPr>
              <a:t>});</a:t>
            </a:r>
          </a:p>
          <a:p>
            <a:pPr indent="0"/>
            <a:r>
              <a:rPr lang="en-US" b="1" sz="3100" spc="-50">
                <a:latin typeface="Arial"/>
              </a:rPr>
              <a:t>});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084832" y="1761744"/>
            <a:ext cx="12088368" cy="738225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0560" y="438912"/>
            <a:ext cx="7479792" cy="835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Modeling a Twitter Feed</a:t>
            </a:r>
          </a:p>
        </p:txBody>
      </p:sp>
      <p:sp>
        <p:nvSpPr>
          <p:cNvPr id="4" name=""/>
          <p:cNvSpPr/>
          <p:nvPr/>
        </p:nvSpPr>
        <p:spPr>
          <a:xfrm>
            <a:off x="633984" y="1353312"/>
            <a:ext cx="1932432" cy="32918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The Wrong Way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036064" y="1761744"/>
            <a:ext cx="12185904" cy="738225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0560" y="438912"/>
            <a:ext cx="7479792" cy="83515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Modeling a Twitter Feed</a:t>
            </a:r>
          </a:p>
        </p:txBody>
      </p:sp>
      <p:sp>
        <p:nvSpPr>
          <p:cNvPr id="4" name=""/>
          <p:cNvSpPr/>
          <p:nvPr/>
        </p:nvSpPr>
        <p:spPr>
          <a:xfrm>
            <a:off x="627888" y="1359408"/>
            <a:ext cx="1591056" cy="32308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A Better Way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310896" y="140208"/>
            <a:ext cx="5638800" cy="719328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3900">
                <a:solidFill>
                  <a:srgbClr val="FFFFFF"/>
                </a:solidFill>
                <a:latin typeface="Tahoma"/>
              </a:rPr>
              <a:t>What we put in cache</a:t>
            </a:r>
          </a:p>
        </p:txBody>
      </p:sp>
      <p:sp>
        <p:nvSpPr>
          <p:cNvPr id="3" name=""/>
          <p:cNvSpPr/>
          <p:nvPr/>
        </p:nvSpPr>
        <p:spPr>
          <a:xfrm>
            <a:off x="3425952" y="1097280"/>
            <a:ext cx="3005328" cy="396240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FFFFFF"/>
                </a:solidFill>
                <a:latin typeface="Arial"/>
              </a:rPr>
              <a:t>Relationship ID refs</a:t>
            </a:r>
          </a:p>
        </p:txBody>
      </p:sp>
      <p:sp>
        <p:nvSpPr>
          <p:cNvPr id="4" name=""/>
          <p:cNvSpPr/>
          <p:nvPr/>
        </p:nvSpPr>
        <p:spPr>
          <a:xfrm>
            <a:off x="640080" y="2938272"/>
            <a:ext cx="1097280" cy="390144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FFFFFF"/>
                </a:solidFill>
                <a:latin typeface="Arial"/>
              </a:rPr>
              <a:t>/Node</a:t>
            </a:r>
          </a:p>
        </p:txBody>
      </p:sp>
      <p:graphicFrame>
        <p:nvGraphicFramePr>
          <p:cNvPr id="5" name=""/>
          <p:cNvGraphicFramePr>
            <a:graphicFrameLocks noGrp="1"/>
          </p:cNvGraphicFramePr>
          <p:nvPr/>
        </p:nvGraphicFramePr>
        <p:xfrm>
          <a:off x="3236976" y="1591056"/>
          <a:ext cx="3322320" cy="1630680"/>
        </p:xfrm>
        <a:graphic>
          <a:graphicData uri="http://schemas.openxmlformats.org/drawingml/2006/table">
            <a:tbl>
              <a:tblPr/>
              <a:tblGrid>
                <a:gridCol w="1335024"/>
                <a:gridCol w="652272"/>
                <a:gridCol w="646176"/>
                <a:gridCol w="688848"/>
              </a:tblGrid>
              <a:tr h="393192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in: R 1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550">
                          <a:solidFill>
                            <a:srgbClr val="B5E6F0"/>
                          </a:solidFill>
                          <a:latin typeface="Arial"/>
                        </a:rPr>
                        <a:t>• • •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</a:tr>
              <a:tr h="423672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" oJr R 1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550">
                          <a:solidFill>
                            <a:srgbClr val="B5E6F0"/>
                          </a:solidFill>
                          <a:latin typeface="Arial"/>
                        </a:rPr>
                        <a:t>• • •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ctr">
                    <a:solidFill>
                      <a:srgbClr val="0E9D9F"/>
                    </a:solidFill>
                  </a:tcPr>
                </a:tc>
              </a:tr>
              <a:tr h="417576">
                <a:tc>
                  <a:txBody>
                    <a:bodyPr lIns="0" tIns="0" rIns="0" bIns="0">
                      <a:noAutofit/>
                    </a:bodyPr>
                    <a:p>
                      <a:pPr marL="2921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ig:*, R 1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2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3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550">
                          <a:solidFill>
                            <a:srgbClr val="B5E6F0"/>
                          </a:solidFill>
                          <a:latin typeface="Arial"/>
                        </a:rPr>
                        <a:t>• • •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</a:tr>
              <a:tr h="396240"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ogu R 1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550">
                          <a:solidFill>
                            <a:srgbClr val="B5E6F0"/>
                          </a:solidFill>
                          <a:latin typeface="Arial"/>
                        </a:rPr>
                        <a:t>• • •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52400" indent="0"/>
                      <a:r>
                        <a:rPr lang="en-US" b="1" sz="1700">
                          <a:solidFill>
                            <a:srgbClr val="B5E6F0"/>
                          </a:solidFill>
                          <a:latin typeface="Arial"/>
                        </a:rPr>
                        <a:t>R n</a:t>
                      </a:r>
                    </a:p>
                  </a:txBody>
                  <a:tcPr marL="0" marR="0" marT="0" marB="0" anchor="b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9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/>
          <p:nvPr/>
        </p:nvSpPr>
        <p:spPr>
          <a:xfrm>
            <a:off x="6626352" y="2505456"/>
            <a:ext cx="426720" cy="225552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1700">
                <a:solidFill>
                  <a:srgbClr val="B5E6F0"/>
                </a:solidFill>
                <a:latin typeface="Arial"/>
              </a:rPr>
              <a:t>R n</a:t>
            </a:r>
          </a:p>
        </p:txBody>
      </p:sp>
      <p:sp>
        <p:nvSpPr>
          <p:cNvPr id="7" name=""/>
          <p:cNvSpPr/>
          <p:nvPr/>
        </p:nvSpPr>
        <p:spPr>
          <a:xfrm>
            <a:off x="1024128" y="3389376"/>
            <a:ext cx="1280160" cy="1658112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>
            <a:noAutofit/>
          </a:bodyPr>
          <a:p>
            <a:pPr algn="r" indent="0">
              <a:lnSpc>
                <a:spcPts val="1056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*</a:t>
            </a:r>
          </a:p>
          <a:p>
            <a:pPr marL="914400" indent="0">
              <a:lnSpc>
                <a:spcPts val="1056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*</a:t>
            </a:r>
          </a:p>
          <a:p>
            <a:pPr marL="774700" indent="0">
              <a:lnSpc>
                <a:spcPts val="1056"/>
              </a:lnSpc>
              <a:spcAft>
                <a:spcPts val="210"/>
              </a:spcAft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*</a:t>
            </a:r>
          </a:p>
          <a:p>
            <a:pPr marL="495300" indent="127000">
              <a:lnSpc>
                <a:spcPts val="1128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' / ' /</a:t>
            </a:r>
          </a:p>
          <a:p>
            <a:pPr marL="266700" indent="101600">
              <a:lnSpc>
                <a:spcPts val="1320"/>
              </a:lnSpc>
            </a:pPr>
            <a:r>
              <a:rPr lang="en-US" b="1" sz="1200">
                <a:solidFill>
                  <a:srgbClr val="FFFFFF"/>
                </a:solidFill>
                <a:latin typeface="Courier New"/>
              </a:rPr>
              <a:t>/ * </a:t>
            </a:r>
            <a:r>
              <a:rPr lang="en-US" b="1" i="1" sz="1300">
                <a:solidFill>
                  <a:srgbClr val="FFFFFF"/>
                </a:solidFill>
                <a:latin typeface="Courier New"/>
              </a:rPr>
              <a:t>i</a:t>
            </a:r>
            <a:r>
              <a:rPr lang="en-US" b="1" sz="1200">
                <a:solidFill>
                  <a:srgbClr val="FFFFFF"/>
                </a:solidFill>
                <a:latin typeface="Courier New"/>
              </a:rPr>
              <a:t> /</a:t>
            </a:r>
          </a:p>
          <a:p>
            <a:pPr marL="177800" indent="0">
              <a:lnSpc>
                <a:spcPts val="1536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# /</a:t>
            </a:r>
          </a:p>
          <a:p>
            <a:pPr indent="0">
              <a:lnSpc>
                <a:spcPts val="1536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# /</a:t>
            </a:r>
          </a:p>
          <a:p>
            <a:pPr indent="0">
              <a:lnSpc>
                <a:spcPts val="1536"/>
              </a:lnSpc>
            </a:pPr>
            <a:r>
              <a:rPr lang="en-US" b="1" sz="1300" spc="350">
                <a:solidFill>
                  <a:srgbClr val="FFFFFF"/>
                </a:solidFill>
                <a:latin typeface="Arial"/>
              </a:rPr>
              <a:t>I *</a:t>
            </a:r>
          </a:p>
        </p:txBody>
      </p:sp>
      <p:sp>
        <p:nvSpPr>
          <p:cNvPr id="8" name=""/>
          <p:cNvSpPr/>
          <p:nvPr/>
        </p:nvSpPr>
        <p:spPr>
          <a:xfrm>
            <a:off x="3553968" y="3340608"/>
            <a:ext cx="2743200" cy="390144"/>
          </a:xfrm>
          <a:prstGeom prst="rect">
            <a:avLst/>
          </a:prstGeom>
          <a:solidFill>
            <a:srgbClr val="424242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FFFFFF"/>
                </a:solidFill>
                <a:latin typeface="Arial"/>
              </a:rPr>
              <a:t>(grouped by type)</a:t>
            </a:r>
          </a:p>
        </p:txBody>
      </p:sp>
      <p:sp>
        <p:nvSpPr>
          <p:cNvPr id="9" name=""/>
          <p:cNvSpPr/>
          <p:nvPr/>
        </p:nvSpPr>
        <p:spPr>
          <a:xfrm>
            <a:off x="2505456" y="4596384"/>
            <a:ext cx="2170176" cy="384048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FFFFFF"/>
                </a:solidFill>
                <a:latin typeface="Arial"/>
              </a:rPr>
              <a:t>Key 1 Key 2</a:t>
            </a:r>
          </a:p>
        </p:txBody>
      </p:sp>
      <p:sp>
        <p:nvSpPr>
          <p:cNvPr id="10" name=""/>
          <p:cNvSpPr/>
          <p:nvPr/>
        </p:nvSpPr>
        <p:spPr>
          <a:xfrm>
            <a:off x="6406896" y="4614672"/>
            <a:ext cx="877824" cy="365760"/>
          </a:xfrm>
          <a:prstGeom prst="rect">
            <a:avLst/>
          </a:prstGeom>
          <a:solidFill>
            <a:srgbClr val="0E9D9F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sz="2500">
                <a:solidFill>
                  <a:srgbClr val="B5E6F0"/>
                </a:solidFill>
                <a:latin typeface="Arial"/>
              </a:rPr>
              <a:t>Key n</a:t>
            </a:r>
          </a:p>
        </p:txBody>
      </p:sp>
      <p:sp>
        <p:nvSpPr>
          <p:cNvPr id="11" name=""/>
          <p:cNvSpPr/>
          <p:nvPr/>
        </p:nvSpPr>
        <p:spPr>
          <a:xfrm>
            <a:off x="7918704" y="201168"/>
            <a:ext cx="6504432" cy="5913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700">
                <a:solidFill>
                  <a:srgbClr val="5C5B52"/>
                </a:solidFill>
                <a:latin typeface="Tahoma"/>
              </a:rPr>
              <a:t>Neo4j Secret Sauce Yet Again</a:t>
            </a:r>
          </a:p>
        </p:txBody>
      </p:sp>
      <p:graphicFrame>
        <p:nvGraphicFramePr>
          <p:cNvPr id="12" name=""/>
          <p:cNvGraphicFramePr>
            <a:graphicFrameLocks noGrp="1"/>
          </p:cNvGraphicFramePr>
          <p:nvPr/>
        </p:nvGraphicFramePr>
        <p:xfrm>
          <a:off x="344424" y="5102352"/>
          <a:ext cx="7159752" cy="3938016"/>
        </p:xfrm>
        <a:graphic>
          <a:graphicData uri="http://schemas.openxmlformats.org/drawingml/2006/table">
            <a:tbl>
              <a:tblPr/>
              <a:tblGrid>
                <a:gridCol w="1953768"/>
                <a:gridCol w="527304"/>
                <a:gridCol w="640080"/>
                <a:gridCol w="685800"/>
                <a:gridCol w="615696"/>
                <a:gridCol w="1956816"/>
                <a:gridCol w="780288"/>
              </a:tblGrid>
              <a:tr h="1322832">
                <a:tc gridSpan="2"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■ • </a:t>
                      </a:r>
                      <a:r>
                        <a:rPr lang="en-US" b="1" i="1" sz="2400">
                          <a:solidFill>
                            <a:srgbClr val="FFFFFF"/>
                          </a:solidFill>
                          <a:latin typeface="Palatino Linotype"/>
                        </a:rPr>
                        <a:t>•</a:t>
                      </a:r>
                    </a:p>
                    <a:p>
                      <a:pPr marL="254000" indent="0"/>
                      <a:r>
                        <a:rPr lang="en-US" b="1" i="1" sz="2400">
                          <a:solidFill>
                            <a:srgbClr val="FFFFFF"/>
                          </a:solidFill>
                          <a:latin typeface="Palatino Linotype"/>
                        </a:rPr>
                        <a:t>\ • •</a:t>
                      </a:r>
                    </a:p>
                    <a:p>
                      <a:pPr marL="254000" indent="0">
                        <a:spcAft>
                          <a:spcPts val="840"/>
                        </a:spcAft>
                      </a:pPr>
                      <a:r>
                        <a:rPr lang="en-US" baseline="30000" sz="1000">
                          <a:solidFill>
                            <a:srgbClr val="FFFFFF"/>
                          </a:solidFill>
                          <a:latin typeface="Arial"/>
                        </a:rPr>
                        <a:t>4</a:t>
                      </a:r>
                      <a:r>
                        <a:rPr lang="en-US" b="1" sz="1200">
                          <a:solidFill>
                            <a:srgbClr val="FFFFFF"/>
                          </a:solidFill>
                          <a:latin typeface="Times New Roman"/>
                        </a:rPr>
                        <a:t> , It</a:t>
                      </a:r>
                    </a:p>
                    <a:p>
                      <a:pPr algn="r" marR="3683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\</a:t>
                      </a:r>
                    </a:p>
                    <a:p>
                      <a:pPr marL="4318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W V \</a:t>
                      </a:r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6300"/>
                    </a:p>
                  </a:txBody>
                  <a:tcPr marL="0" marR="0" marT="0" marB="0"/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52400" indent="0"/>
                      <a:r>
                        <a:rPr lang="en-US" sz="2500">
                          <a:solidFill>
                            <a:srgbClr val="B5E6F0"/>
                          </a:solidFill>
                          <a:latin typeface="Arial"/>
                        </a:rPr>
                        <a:t>Val 1</a:t>
                      </a:r>
                    </a:p>
                  </a:txBody>
                  <a:tcPr marL="0" marR="0" marT="0" marB="0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3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524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Val 2</a:t>
                      </a:r>
                    </a:p>
                  </a:txBody>
                  <a:tcPr marL="0" marR="0" marT="0" marB="0">
                    <a:solidFill>
                      <a:srgbClr val="0E9D9F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3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52400" indent="0"/>
                      <a:r>
                        <a:rPr lang="en-US" sz="2500">
                          <a:solidFill>
                            <a:srgbClr val="B5E6F0"/>
                          </a:solidFill>
                          <a:latin typeface="Arial"/>
                        </a:rPr>
                        <a:t>Val n</a:t>
                      </a:r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  <a:tr h="649224">
                <a:tc>
                  <a:txBody>
                    <a:bodyPr lIns="0" tIns="0" rIns="0" bIns="0">
                      <a:noAutofit/>
                    </a:bodyPr>
                    <a:p>
                      <a:pPr marL="1371600" indent="0">
                        <a:spcAft>
                          <a:spcPts val="210"/>
                        </a:spcAft>
                      </a:pPr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*</a:t>
                      </a:r>
                    </a:p>
                    <a:p>
                      <a:pPr marL="1473200" indent="0">
                        <a:spcAft>
                          <a:spcPts val="840"/>
                        </a:spcAft>
                      </a:pPr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%</a:t>
                      </a:r>
                    </a:p>
                    <a:p>
                      <a:pPr algn="r" indent="0"/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cap="small" sz="2500">
                          <a:solidFill>
                            <a:srgbClr val="FFFFFF"/>
                          </a:solidFill>
                          <a:latin typeface="Arial"/>
                        </a:rPr>
                        <a:t>id'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indent="444500">
                        <a:lnSpc>
                          <a:spcPts val="1536"/>
                        </a:lnSpc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start </a:t>
                      </a:r>
                      <a:r>
                        <a:rPr lang="en-US" sz="2500">
                          <a:solidFill>
                            <a:srgbClr val="FCC878"/>
                          </a:solidFill>
                          <a:latin typeface="Arial"/>
                        </a:rPr>
                        <a:t>, ***_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1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482600" indent="0">
                        <a:spcAft>
                          <a:spcPts val="630"/>
                        </a:spcAft>
                      </a:pPr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end type</a:t>
                      </a:r>
                    </a:p>
                    <a:p>
                      <a:pPr indent="0"/>
                      <a:r>
                        <a:rPr lang="en-US" b="1" sz="1200">
                          <a:solidFill>
                            <a:srgbClr val="A66D23"/>
                          </a:solidFill>
                          <a:latin typeface="Times New Roman"/>
                        </a:rPr>
                        <a:t>II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1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1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</a:tr>
              <a:tr h="329184">
                <a:tc rowSpan="2">
                  <a:txBody>
                    <a:bodyPr lIns="0" tIns="0" rIns="0" bIns="0">
                      <a:noAutofit/>
                    </a:bodyPr>
                    <a:p>
                      <a:pPr marL="139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0" marR="0" marT="0" marB="0" anchor="ctr">
                    <a:solidFill>
                      <a:srgbClr val="A2691B"/>
                    </a:solidFill>
                  </a:tcPr>
                </a:tc>
                <a:tc gridSpan="6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600"/>
                    </a:p>
                  </a:txBody>
                  <a:tcPr marL="0" marR="0" marT="0" marB="0"/>
                </a:tc>
              </a:tr>
              <a:tr h="633984">
                <a:tc v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1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marL="3810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Key 2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 gridSpan="2">
                  <a:txBody>
                    <a:bodyPr lIns="0" tIns="0" rIns="0" bIns="0">
                      <a:noAutofit/>
                    </a:bodyPr>
                    <a:p>
                      <a:pPr algn="r" marR="266700" indent="0"/>
                      <a:r>
                        <a:rPr lang="en-US" sz="2500">
                          <a:solidFill>
                            <a:srgbClr val="F3E2C1"/>
                          </a:solidFill>
                          <a:latin typeface="Arial"/>
                        </a:rPr>
                        <a:t>... Key n</a:t>
                      </a:r>
                    </a:p>
                  </a:txBody>
                  <a:tcPr marL="0" marR="0" marT="0" marB="0" anchor="b">
                    <a:solidFill>
                      <a:srgbClr val="A2691B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</a:tr>
              <a:tr h="1002792">
                <a:tc>
                  <a:txBody>
                    <a:bodyPr lIns="0" tIns="0" rIns="0" bIns="0">
                      <a:noAutofit/>
                    </a:bodyPr>
                    <a:p>
                      <a:endParaRPr sz="48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8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39700" indent="0"/>
                      <a:r>
                        <a:rPr lang="en-US" sz="2500">
                          <a:solidFill>
                            <a:srgbClr val="F3E2C1"/>
                          </a:solidFill>
                          <a:latin typeface="Arial"/>
                        </a:rPr>
                        <a:t>Val 1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8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39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Val 2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800"/>
                    </a:p>
                  </a:txBody>
                  <a:tcPr marL="0" marR="0" marT="0" marB="0">
                    <a:solidFill>
                      <a:srgbClr val="424242"/>
                    </a:solidFill>
                  </a:tcPr>
                </a:tc>
                <a:tc>
                  <a:txBody>
                    <a:bodyPr lIns="0" tIns="0" rIns="0" bIns="0" vert="vert">
                      <a:noAutofit/>
                    </a:bodyPr>
                    <a:p>
                      <a:pPr marL="139700" indent="0"/>
                      <a:r>
                        <a:rPr lang="en-US" sz="2500">
                          <a:solidFill>
                            <a:srgbClr val="FFFFFF"/>
                          </a:solidFill>
                          <a:latin typeface="Arial"/>
                        </a:rPr>
                        <a:t>Val n</a:t>
                      </a:r>
                    </a:p>
                  </a:txBody>
                  <a:tcPr marL="0" marR="0" marT="0" marB="0">
                    <a:solidFill>
                      <a:srgbClr val="A2691B"/>
                    </a:solidFill>
                  </a:tcPr>
                </a:tc>
              </a:tr>
            </a:tbl>
          </a:graphicData>
        </a:graphic>
      </p:graphicFrame>
      <p:sp>
        <p:nvSpPr>
          <p:cNvPr id="13" name=""/>
          <p:cNvSpPr/>
          <p:nvPr/>
        </p:nvSpPr>
        <p:spPr>
          <a:xfrm>
            <a:off x="8369808" y="1024128"/>
            <a:ext cx="865632" cy="68519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4200"/>
              </a:spcAft>
            </a:pPr>
            <a:r>
              <a:rPr lang="en-US" b="1" sz="11500">
                <a:solidFill>
                  <a:srgbClr val="288887"/>
                </a:solidFill>
                <a:latin typeface="Arial"/>
              </a:rPr>
              <a:t>1</a:t>
            </a:r>
          </a:p>
          <a:p>
            <a:pPr indent="0">
              <a:spcAft>
                <a:spcPts val="4200"/>
              </a:spcAft>
            </a:pPr>
            <a:r>
              <a:rPr lang="en-US" b="1" sz="11500">
                <a:solidFill>
                  <a:srgbClr val="288887"/>
                </a:solidFill>
                <a:latin typeface="Arial"/>
              </a:rPr>
              <a:t>2</a:t>
            </a:r>
          </a:p>
          <a:p>
            <a:pPr indent="0">
              <a:spcAft>
                <a:spcPts val="4200"/>
              </a:spcAft>
            </a:pPr>
            <a:r>
              <a:rPr lang="en-US" b="1" sz="11500">
                <a:solidFill>
                  <a:srgbClr val="EF9C2A"/>
                </a:solidFill>
                <a:latin typeface="Arial"/>
              </a:rPr>
              <a:t>3</a:t>
            </a:r>
          </a:p>
          <a:p>
            <a:pPr indent="0"/>
            <a:r>
              <a:rPr lang="en-US" b="1" sz="11500">
                <a:solidFill>
                  <a:srgbClr val="D24132"/>
                </a:solidFill>
                <a:latin typeface="Arial"/>
              </a:rPr>
              <a:t>4</a:t>
            </a:r>
          </a:p>
        </p:txBody>
      </p:sp>
      <p:sp>
        <p:nvSpPr>
          <p:cNvPr id="14" name=""/>
          <p:cNvSpPr/>
          <p:nvPr/>
        </p:nvSpPr>
        <p:spPr>
          <a:xfrm>
            <a:off x="9467088" y="1298448"/>
            <a:ext cx="5181600" cy="49987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-50">
                <a:solidFill>
                  <a:srgbClr val="5C5B52"/>
                </a:solidFill>
                <a:latin typeface="Arial"/>
              </a:rPr>
              <a:t>Pointers instead of Lookups</a:t>
            </a:r>
          </a:p>
        </p:txBody>
      </p:sp>
      <p:sp>
        <p:nvSpPr>
          <p:cNvPr id="15" name=""/>
          <p:cNvSpPr/>
          <p:nvPr/>
        </p:nvSpPr>
        <p:spPr>
          <a:xfrm>
            <a:off x="9460992" y="3182112"/>
            <a:ext cx="3755136" cy="3901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-50">
                <a:solidFill>
                  <a:srgbClr val="5C5B52"/>
                </a:solidFill>
                <a:latin typeface="Arial"/>
              </a:rPr>
              <a:t>Fixed Sized Records</a:t>
            </a:r>
          </a:p>
        </p:txBody>
      </p:sp>
      <p:sp>
        <p:nvSpPr>
          <p:cNvPr id="16" name=""/>
          <p:cNvSpPr/>
          <p:nvPr/>
        </p:nvSpPr>
        <p:spPr>
          <a:xfrm>
            <a:off x="9460992" y="5029200"/>
            <a:ext cx="3596640" cy="3962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3100" spc="-50">
                <a:solidFill>
                  <a:srgbClr val="5C5B52"/>
                </a:solidFill>
                <a:latin typeface="Arial"/>
              </a:rPr>
              <a:t>"Joins" on Creation</a:t>
            </a:r>
          </a:p>
        </p:txBody>
      </p:sp>
      <p:sp>
        <p:nvSpPr>
          <p:cNvPr id="17" name=""/>
          <p:cNvSpPr/>
          <p:nvPr/>
        </p:nvSpPr>
        <p:spPr>
          <a:xfrm>
            <a:off x="9448800" y="6876288"/>
            <a:ext cx="5023104" cy="81076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3240"/>
              </a:lnSpc>
            </a:pPr>
            <a:r>
              <a:rPr lang="en-US" b="1" sz="3100" spc="-50">
                <a:solidFill>
                  <a:srgbClr val="5C5B52"/>
                </a:solidFill>
                <a:latin typeface="Arial"/>
              </a:rPr>
              <a:t>Spin Spin Spin through this data structure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225040" y="1490472"/>
            <a:ext cx="11597640" cy="57912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3730752" y="509016"/>
            <a:ext cx="8817864" cy="7437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Make the Queries Scale</a:t>
            </a:r>
          </a:p>
        </p:txBody>
      </p:sp>
      <p:sp>
        <p:nvSpPr>
          <p:cNvPr id="5" name=""/>
          <p:cNvSpPr/>
          <p:nvPr/>
        </p:nvSpPr>
        <p:spPr>
          <a:xfrm>
            <a:off x="3602736" y="7583424"/>
            <a:ext cx="7760208" cy="82905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marL="1130300" indent="0">
              <a:spcAft>
                <a:spcPts val="840"/>
              </a:spcAft>
            </a:pPr>
            <a:r>
              <a:rPr lang="en-US" sz="2600">
                <a:solidFill>
                  <a:srgbClr val="5C5B52"/>
                </a:solidFill>
                <a:latin typeface="Arial"/>
              </a:rPr>
              <a:t>.. .and the database scales with them.</a:t>
            </a:r>
          </a:p>
          <a:p>
            <a:pPr indent="0"/>
            <a:r>
              <a:rPr lang="en-US" sz="2600">
                <a:solidFill>
                  <a:srgbClr val="5C5B52"/>
                </a:solidFill>
                <a:latin typeface="Arial"/>
              </a:rPr>
              <a:t>. .and that’s why </a:t>
            </a:r>
            <a:r>
              <a:rPr lang="en-US" b="1" sz="2600">
                <a:solidFill>
                  <a:srgbClr val="5C5B52"/>
                </a:solidFill>
                <a:latin typeface="Tahoma"/>
              </a:rPr>
              <a:t>we don’t make any money.</a:t>
            </a:r>
          </a:p>
        </p:txBody>
      </p:sp>
      <p:sp>
        <p:nvSpPr>
          <p:cNvPr id="6" name=""/>
          <p:cNvSpPr/>
          <p:nvPr/>
        </p:nvSpPr>
        <p:spPr>
          <a:xfrm>
            <a:off x="15163800" y="8385048"/>
            <a:ext cx="841248" cy="2926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 spc="-50">
                <a:solidFill>
                  <a:srgbClr val="979799"/>
                </a:solidFill>
                <a:latin typeface="Arial"/>
              </a:rPr>
              <a:t>neozj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1240536" y="1136904"/>
            <a:ext cx="5775960" cy="1542288"/>
          </a:xfrm>
          <a:prstGeom prst="rect">
            <a:avLst/>
          </a:prstGeom>
          <a:solidFill>
            <a:srgbClr val="DADFE5"/>
          </a:solidFill>
        </p:spPr>
        <p:txBody>
          <a:bodyPr lIns="0" tIns="0" rIns="0" bIns="0">
            <a:noAutofit/>
          </a:bodyPr>
          <a:p>
            <a:pPr algn="ctr" indent="0">
              <a:lnSpc>
                <a:spcPts val="7488"/>
              </a:lnSpc>
              <a:spcAft>
                <a:spcPts val="7560"/>
              </a:spcAft>
            </a:pPr>
            <a:r>
              <a:rPr lang="en-US" sz="6000" spc="-150">
                <a:solidFill>
                  <a:srgbClr val="5C5B52"/>
                </a:solidFill>
                <a:latin typeface="Arial"/>
              </a:rPr>
              <a:t>SCALING OUT IS IN </a:t>
            </a:r>
            <a:r>
              <a:rPr lang="en-US" b="1" sz="6500">
                <a:solidFill>
                  <a:srgbClr val="5C5B52"/>
                </a:solidFill>
                <a:latin typeface="Palatino Linotype"/>
              </a:rPr>
              <a:t>FASHION</a:t>
            </a:r>
          </a:p>
        </p:txBody>
      </p:sp>
      <p:sp>
        <p:nvSpPr>
          <p:cNvPr id="3" name=""/>
          <p:cNvSpPr/>
          <p:nvPr/>
        </p:nvSpPr>
        <p:spPr>
          <a:xfrm>
            <a:off x="853440" y="4709160"/>
            <a:ext cx="6595872" cy="8900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ctr" indent="0">
              <a:lnSpc>
                <a:spcPts val="3792"/>
              </a:lnSpc>
              <a:spcBef>
                <a:spcPts val="7560"/>
              </a:spcBef>
            </a:pPr>
            <a:r>
              <a:rPr lang="en-US" sz="2600">
                <a:solidFill>
                  <a:srgbClr val="5C5B52"/>
                </a:solidFill>
                <a:latin typeface="Arial"/>
              </a:rPr>
              <a:t>But when your </a:t>
            </a:r>
            <a:r>
              <a:rPr lang="en-US" b="1" sz="2600">
                <a:solidFill>
                  <a:srgbClr val="5C5B52"/>
                </a:solidFill>
                <a:latin typeface="Tahoma"/>
              </a:rPr>
              <a:t>model </a:t>
            </a:r>
            <a:r>
              <a:rPr lang="en-US" sz="2600">
                <a:solidFill>
                  <a:srgbClr val="5C5B52"/>
                </a:solidFill>
                <a:latin typeface="Arial"/>
              </a:rPr>
              <a:t>and your </a:t>
            </a:r>
            <a:r>
              <a:rPr lang="en-US" b="1" sz="2600">
                <a:solidFill>
                  <a:srgbClr val="5C5B52"/>
                </a:solidFill>
                <a:latin typeface="Tahoma"/>
              </a:rPr>
              <a:t>query match </a:t>
            </a:r>
            <a:r>
              <a:rPr lang="en-US" sz="2600">
                <a:solidFill>
                  <a:srgbClr val="5C5B52"/>
                </a:solidFill>
                <a:latin typeface="Arial"/>
              </a:rPr>
              <a:t>you don’t have to.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51104" y="914400"/>
            <a:ext cx="6486144" cy="72847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0439400" y="652272"/>
            <a:ext cx="2337816" cy="352653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3520440" y="5242560"/>
            <a:ext cx="7598664" cy="390144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4011168" y="4160520"/>
            <a:ext cx="8278368" cy="10668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7600" spc="-50">
                <a:solidFill>
                  <a:srgbClr val="FFFFFF"/>
                </a:solidFill>
                <a:latin typeface="Tahoma"/>
              </a:rPr>
              <a:t>Modeling Forms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1438656"/>
            <a:ext cx="16254984" cy="663549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1267968" y="509016"/>
            <a:ext cx="4943856" cy="6217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800">
                <a:latin typeface="Tahoma"/>
              </a:rPr>
              <a:t>Fluid Schema</a:t>
            </a:r>
          </a:p>
        </p:txBody>
      </p:sp>
      <p:sp>
        <p:nvSpPr>
          <p:cNvPr id="4" name=""/>
          <p:cNvSpPr/>
          <p:nvPr/>
        </p:nvSpPr>
        <p:spPr>
          <a:xfrm>
            <a:off x="3145536" y="8327136"/>
            <a:ext cx="12862560" cy="4693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3200">
                <a:solidFill>
                  <a:srgbClr val="979799"/>
                </a:solidFill>
                <a:latin typeface="Arial"/>
              </a:rPr>
              <a:t>How many </a:t>
            </a:r>
            <a:r>
              <a:rPr lang="en-US" b="1" sz="3100" spc="-50">
                <a:solidFill>
                  <a:srgbClr val="979799"/>
                </a:solidFill>
                <a:latin typeface="Arial"/>
              </a:rPr>
              <a:t>arms </a:t>
            </a:r>
            <a:r>
              <a:rPr lang="en-US" sz="3200">
                <a:solidFill>
                  <a:srgbClr val="979799"/>
                </a:solidFill>
                <a:latin typeface="Arial"/>
              </a:rPr>
              <a:t>does the T1000 have in this picture?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54864" y="1676400"/>
            <a:ext cx="11082528" cy="7382256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670560" y="426720"/>
            <a:ext cx="12441936" cy="8473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5000" spc="-100">
                <a:solidFill>
                  <a:srgbClr val="5C5B52"/>
                </a:solidFill>
                <a:latin typeface="Arial"/>
              </a:rPr>
              <a:t>No more "Wall Sized" Schema Diagrams</a:t>
            </a:r>
          </a:p>
        </p:txBody>
      </p:sp>
      <p:sp>
        <p:nvSpPr>
          <p:cNvPr id="4" name=""/>
          <p:cNvSpPr/>
          <p:nvPr/>
        </p:nvSpPr>
        <p:spPr>
          <a:xfrm>
            <a:off x="30480" y="1682496"/>
            <a:ext cx="591312" cy="128016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r" indent="0"/>
            <a:r>
              <a:rPr lang="en-US" b="1" sz="450">
                <a:latin typeface="Arial"/>
              </a:rPr>
              <a:t>menu Jinks</a:t>
            </a:r>
          </a:p>
        </p:txBody>
      </p:sp>
      <p:sp>
        <p:nvSpPr>
          <p:cNvPr id="5" name=""/>
          <p:cNvSpPr/>
          <p:nvPr/>
        </p:nvSpPr>
        <p:spPr>
          <a:xfrm>
            <a:off x="82296" y="1847088"/>
            <a:ext cx="832104" cy="1676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menu name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 </a:t>
            </a:r>
            <a:r>
              <a:rPr lang="en-US" b="1" sz="450">
                <a:solidFill>
                  <a:srgbClr val="EF9C2A"/>
                </a:solidFill>
                <a:latin typeface="Arial"/>
              </a:rPr>
              <a:t>t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ml id INT(10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)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un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 </a:t>
            </a:r>
            <a:r>
              <a:rPr lang="en-US" b="1" cap="small" sz="450">
                <a:solidFill>
                  <a:srgbClr val="6B6670"/>
                </a:solidFill>
                <a:latin typeface="Arial"/>
              </a:rPr>
              <a:t>nna.</a:t>
            </a:r>
          </a:p>
        </p:txBody>
      </p:sp>
      <p:sp>
        <p:nvSpPr>
          <p:cNvPr id="6" name=""/>
          <p:cNvSpPr/>
          <p:nvPr/>
        </p:nvSpPr>
        <p:spPr>
          <a:xfrm>
            <a:off x="82296" y="2069592"/>
            <a:ext cx="643128" cy="579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Ouuid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</a:t>
            </a:r>
          </a:p>
        </p:txBody>
      </p:sp>
      <p:sp>
        <p:nvSpPr>
          <p:cNvPr id="7" name=""/>
          <p:cNvSpPr/>
          <p:nvPr/>
        </p:nvSpPr>
        <p:spPr>
          <a:xfrm>
            <a:off x="82296" y="2182368"/>
            <a:ext cx="905256" cy="284378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Oplid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(10)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NN </a:t>
            </a:r>
            <a:r>
              <a:rPr lang="en-US" i="1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link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_path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DC976B"/>
                </a:solidFill>
                <a:latin typeface="Arial"/>
              </a:rPr>
              <a:t>♦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router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path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, </a:t>
            </a:r>
            <a:r>
              <a:rPr lang="en-US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sz="450">
                <a:solidFill>
                  <a:srgbClr val="6B6670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link title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options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BLOB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^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module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VARCHAR(50)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hidden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SMALLINT{6)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external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sz="450">
                <a:solidFill>
                  <a:srgbClr val="353841"/>
                </a:solidFill>
                <a:latin typeface="Arial"/>
              </a:rPr>
              <a:t>has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children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expanded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&lt;&gt;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weight INT(11)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depth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customized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&lt;»p1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</a:t>
            </a:r>
            <a:r>
              <a:rPr lang="en-US" b="1" cap="small" sz="450">
                <a:solidFill>
                  <a:srgbClr val="353841"/>
                </a:solidFill>
                <a:latin typeface="Arial"/>
              </a:rPr>
              <a:t>)</a:t>
            </a:r>
            <a:r>
              <a:rPr lang="en-US" b="1" baseline="-25000" cap="small" sz="450">
                <a:solidFill>
                  <a:srgbClr val="353841"/>
                </a:solidFill>
                <a:latin typeface="Arial"/>
              </a:rPr>
              <a:t>un 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cap="small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p2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&lt;»p3INT(10)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Op4INT(10)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Op5INT(10)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^p€INT(10)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p7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&lt;»p8INT(10)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Op9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updated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SMALLINT(6)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 name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 parameters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LONGBLOB</a:t>
            </a:r>
          </a:p>
        </p:txBody>
      </p:sp>
      <p:sp>
        <p:nvSpPr>
          <p:cNvPr id="8" name=""/>
          <p:cNvSpPr/>
          <p:nvPr/>
        </p:nvSpPr>
        <p:spPr>
          <a:xfrm>
            <a:off x="1188720" y="1950720"/>
            <a:ext cx="621792" cy="103632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24FC4"/>
                </a:solidFill>
                <a:latin typeface="Arial"/>
              </a:rPr>
              <a:t>3]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menu router</a:t>
            </a:r>
          </a:p>
        </p:txBody>
      </p:sp>
      <p:sp>
        <p:nvSpPr>
          <p:cNvPr id="9" name=""/>
          <p:cNvSpPr/>
          <p:nvPr/>
        </p:nvSpPr>
        <p:spPr>
          <a:xfrm>
            <a:off x="1176528" y="2090928"/>
            <a:ext cx="1103376" cy="8382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latin typeface="Arial"/>
              </a:rPr>
              <a:t>-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path VARCHAR(255)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i="1" sz="450">
                <a:solidFill>
                  <a:srgbClr val="89BDBD"/>
                </a:solidFill>
                <a:latin typeface="Arial"/>
              </a:rPr>
              <a:t>Q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load Junctions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BLOB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to.arg Junctions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BLOB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access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callback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access_arguments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BLOB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&lt;*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page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cal back 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page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arguments BLOB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OfitlNT(11)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10" name=""/>
          <p:cNvSpPr/>
          <p:nvPr/>
        </p:nvSpPr>
        <p:spPr>
          <a:xfrm>
            <a:off x="1225296" y="2983992"/>
            <a:ext cx="1194816" cy="18440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i="1" sz="450">
                <a:solidFill>
                  <a:srgbClr val="89BDBD"/>
                </a:solidFill>
                <a:latin typeface="Arial"/>
              </a:rPr>
              <a:t>Q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number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parts SMALLINT(6)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context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</a:t>
            </a:r>
            <a:r>
              <a:rPr lang="en-US" b="1" cap="small" sz="450">
                <a:solidFill>
                  <a:srgbClr val="353841"/>
                </a:solidFill>
                <a:latin typeface="Arial"/>
              </a:rPr>
              <a:t>)</a:t>
            </a:r>
            <a:r>
              <a:rPr lang="en-US" b="1" baseline="-25000" cap="small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b="1" cap="small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tab_parent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i="1" sz="450">
                <a:solidFill>
                  <a:srgbClr val="89BDBD"/>
                </a:solidFill>
                <a:latin typeface="Arial"/>
              </a:rPr>
              <a:t>4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tab_root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Otitic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title.callback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title arguments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theme cal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back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theme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arguments 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Otype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description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TEXT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description_calback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descript ion.arguments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position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weight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include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Jile MEDIUMTEXT </a:t>
            </a:r>
            <a:r>
              <a:rPr lang="en-US" sz="5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route.name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</a:t>
            </a:r>
          </a:p>
        </p:txBody>
      </p:sp>
      <p:sp>
        <p:nvSpPr>
          <p:cNvPr id="11" name=""/>
          <p:cNvSpPr/>
          <p:nvPr/>
        </p:nvSpPr>
        <p:spPr>
          <a:xfrm>
            <a:off x="3096768" y="1670304"/>
            <a:ext cx="1060704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b="1" sz="450">
                <a:solidFill>
                  <a:srgbClr val="48599B"/>
                </a:solidFill>
                <a:latin typeface="Arial"/>
              </a:rPr>
              <a:t>3I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r»ode_revision__field tags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▼</a:t>
            </a:r>
          </a:p>
        </p:txBody>
      </p:sp>
      <p:sp>
        <p:nvSpPr>
          <p:cNvPr id="12" name=""/>
          <p:cNvSpPr/>
          <p:nvPr/>
        </p:nvSpPr>
        <p:spPr>
          <a:xfrm>
            <a:off x="3084576" y="1804416"/>
            <a:ext cx="853440" cy="7559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V bundle VARCHAR(128)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deleted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TINYINT(4)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entity_id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i="1" sz="450">
                <a:solidFill>
                  <a:srgbClr val="5C5B52"/>
                </a:solidFill>
                <a:latin typeface="Arial"/>
              </a:rPr>
              <a:t>I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revision id 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delta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&gt; field Jag s_target_id INT(10)</a:t>
            </a:r>
          </a:p>
        </p:txBody>
      </p:sp>
      <p:sp>
        <p:nvSpPr>
          <p:cNvPr id="13" name=""/>
          <p:cNvSpPr/>
          <p:nvPr/>
        </p:nvSpPr>
        <p:spPr>
          <a:xfrm>
            <a:off x="4858512" y="1652016"/>
            <a:ext cx="914400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node .revision, body </a:t>
            </a:r>
            <a:r>
              <a:rPr lang="en-US" i="1" sz="450">
                <a:solidFill>
                  <a:srgbClr val="6B6670"/>
                </a:solidFill>
                <a:latin typeface="Arial"/>
              </a:rPr>
              <a:t>t</a:t>
            </a:r>
          </a:p>
        </p:txBody>
      </p:sp>
      <p:sp>
        <p:nvSpPr>
          <p:cNvPr id="14" name=""/>
          <p:cNvSpPr/>
          <p:nvPr/>
        </p:nvSpPr>
        <p:spPr>
          <a:xfrm>
            <a:off x="4846320" y="1786128"/>
            <a:ext cx="908304" cy="97536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y bundle VARCHAR(128)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deleted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TINYINT(4)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entity.id 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revision_id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delta 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v body value LONGTEXT y body summary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body .format VARCHAR(255)</a:t>
            </a:r>
          </a:p>
        </p:txBody>
      </p:sp>
      <p:graphicFrame>
        <p:nvGraphicFramePr>
          <p:cNvPr id="15" name=""/>
          <p:cNvGraphicFramePr>
            <a:graphicFrameLocks noGrp="1"/>
          </p:cNvGraphicFramePr>
          <p:nvPr/>
        </p:nvGraphicFramePr>
        <p:xfrm>
          <a:off x="6013704" y="1588008"/>
          <a:ext cx="1988312" cy="1286256"/>
        </p:xfrm>
        <a:graphic>
          <a:graphicData uri="http://schemas.openxmlformats.org/drawingml/2006/table">
            <a:tbl>
              <a:tblPr/>
              <a:tblGrid>
                <a:gridCol w="826008"/>
                <a:gridCol w="208280"/>
                <a:gridCol w="954024"/>
              </a:tblGrid>
              <a:tr h="134112">
                <a:tc gridSpan="2"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_| </a:t>
                      </a:r>
                      <a:r>
                        <a:rPr lang="en-US" b="1" sz="450">
                          <a:latin typeface="Arial"/>
                        </a:rPr>
                        <a:t>taxonomy term data </a:t>
                      </a:r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</a:tr>
              <a:tr h="109728">
                <a:tc gridSpan="2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Mid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INT( </a:t>
                      </a:r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10) </a:t>
                      </a:r>
                      <a:r>
                        <a:rPr lang="en-US" sz="400">
                          <a:solidFill>
                            <a:srgbClr val="5C5B52"/>
                          </a:solidFill>
                          <a:latin typeface="Arial"/>
                        </a:rPr>
                        <a:t>UN NN AI</a:t>
                      </a:r>
                    </a:p>
                  </a:txBody>
                  <a:tcPr marL="0" marR="0" marT="0" marB="0" anchor="b"/>
                </a:tc>
              </a:tr>
              <a:tr h="121920">
                <a:tc gridSpan="2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Ouuid VARCHAR(128)</a:t>
                      </a:r>
                    </a:p>
                  </a:txBody>
                  <a:tcPr marL="0" marR="0" marT="0" marB="0"/>
                </a:tc>
              </a:tr>
              <a:tr h="128016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latin typeface="Arial"/>
                        </a:rPr>
                        <a:t>_</a:t>
                      </a:r>
                    </a:p>
                    <a:p>
                      <a:pPr algn="just" indent="0"/>
                      <a:r>
                        <a:rPr lang="en-US" b="1" sz="450">
                          <a:solidFill>
                            <a:srgbClr val="31576F"/>
                          </a:solidFill>
                          <a:latin typeface="Arial"/>
                        </a:rPr>
                        <a:t>_|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file usage</a:t>
                      </a:r>
                    </a:p>
                  </a:txBody>
                  <a:tcPr marL="0" marR="0" marT="0" marB="0" anchor="ctr">
                    <a:solidFill>
                      <a:srgbClr val="A7C4E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Ovid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VARCHAR(255)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 anchor="ctr"/>
                </a:tc>
              </a:tr>
              <a:tr h="88392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fid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INT(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10) </a:t>
                      </a:r>
                      <a:r>
                        <a:rPr lang="en-US" cap="small" sz="400">
                          <a:solidFill>
                            <a:srgbClr val="6B6670"/>
                          </a:solidFill>
                          <a:latin typeface="Arial"/>
                        </a:rPr>
                        <a:t>un nn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latin typeface="Arial"/>
                        </a:rPr>
                        <a:t>—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y langcode VARCHAR(12)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</a:tr>
              <a:tr h="121920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module VARCHAR(50)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y name VARCHAR(255)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 anchor="b"/>
                </a:tc>
              </a:tr>
              <a:tr h="112776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type VARCHAR(64) </a:t>
                      </a:r>
                      <a:r>
                        <a:rPr lang="en-US" b="1" baseline="-25000" sz="450">
                          <a:solidFill>
                            <a:srgbClr val="6B6670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sz="400">
                          <a:solidFill>
                            <a:srgbClr val="5C5B52"/>
                          </a:solidFill>
                          <a:latin typeface="Arial"/>
                        </a:rPr>
                        <a:t>y </a:t>
                      </a:r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description LONGTEXT</a:t>
                      </a:r>
                    </a:p>
                  </a:txBody>
                  <a:tcPr marL="0" marR="0" marT="0" marB="0"/>
                </a:tc>
              </a:tr>
              <a:tr h="109728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id VARCHAR(64)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y format VARCHAR(255)</a:t>
                      </a:r>
                    </a:p>
                  </a:txBody>
                  <a:tcPr marL="0" marR="0" marT="0" marB="0"/>
                </a:tc>
              </a:tr>
              <a:tr h="124968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&gt; count INT{10) </a:t>
                      </a:r>
                      <a:r>
                        <a:rPr lang="en-US" cap="small" sz="400">
                          <a:solidFill>
                            <a:srgbClr val="353841"/>
                          </a:solidFill>
                          <a:latin typeface="Arial"/>
                        </a:rPr>
                        <a:t>un 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y weight INT(11) </a:t>
                      </a:r>
                      <a:r>
                        <a:rPr lang="en-US" b="1" baseline="-25000" sz="450">
                          <a:solidFill>
                            <a:srgbClr val="353841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</a:tr>
              <a:tr h="82296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FFFFFF"/>
                          </a:solidFill>
                          <a:latin typeface="Arial"/>
                        </a:rPr>
                        <a:t>Indexes</a:t>
                      </a:r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/ changed INT(11) </a:t>
                      </a:r>
                      <a:r>
                        <a:rPr lang="en-US" b="1" cap="small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</a:tr>
              <a:tr h="64008">
                <a:tc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  <a:tc gridSpan="2"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/>
                </a:tc>
              </a:tr>
              <a:tr h="88392">
                <a:tc gridSpan="2"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750">
                          <a:latin typeface="Calibri"/>
                        </a:rPr>
                        <a:t>I</a:t>
                      </a:r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</a:tr>
            </a:tbl>
          </a:graphicData>
        </a:graphic>
      </p:graphicFrame>
      <p:sp>
        <p:nvSpPr>
          <p:cNvPr id="16" name=""/>
          <p:cNvSpPr/>
          <p:nvPr/>
        </p:nvSpPr>
        <p:spPr>
          <a:xfrm>
            <a:off x="8357616" y="1566672"/>
            <a:ext cx="59740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file managed</a:t>
            </a:r>
          </a:p>
        </p:txBody>
      </p:sp>
      <p:sp>
        <p:nvSpPr>
          <p:cNvPr id="17" name=""/>
          <p:cNvSpPr/>
          <p:nvPr/>
        </p:nvSpPr>
        <p:spPr>
          <a:xfrm>
            <a:off x="8345424" y="1700784"/>
            <a:ext cx="816864" cy="109118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353841"/>
                </a:solidFill>
                <a:latin typeface="Arial"/>
              </a:rPr>
              <a:t>fid INT(10)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nn a.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yuuid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OuidlNT(10)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filename VARCHAR(255) </a:t>
            </a:r>
            <a:r>
              <a:rPr lang="en-US" i="1" baseline="-25000" sz="450">
                <a:solidFill>
                  <a:srgbClr val="5C5B52"/>
                </a:solidFill>
                <a:latin typeface="Arial"/>
              </a:rPr>
              <a:t>h </a:t>
            </a:r>
            <a:r>
              <a:rPr lang="en-US" sz="45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uri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VARCHAR(12) </a:t>
            </a:r>
            <a:r>
              <a:rPr lang="en-US" baseline="-25000" sz="400" spc="-50">
                <a:solidFill>
                  <a:srgbClr val="5C5B52"/>
                </a:solidFill>
                <a:latin typeface="Arial"/>
              </a:rPr>
              <a:t>N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i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filemime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files ize BIGINT{20)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UN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O status TINYI NT(4)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timestamp 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</a:t>
            </a:r>
          </a:p>
        </p:txBody>
      </p:sp>
      <p:sp>
        <p:nvSpPr>
          <p:cNvPr id="18" name=""/>
          <p:cNvSpPr/>
          <p:nvPr/>
        </p:nvSpPr>
        <p:spPr>
          <a:xfrm>
            <a:off x="9625584" y="1560576"/>
            <a:ext cx="524256" cy="128016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b="1" sz="450">
                <a:solidFill>
                  <a:srgbClr val="6B6670"/>
                </a:solidFill>
                <a:latin typeface="Arial"/>
              </a:rPr>
              <a:t>_| </a:t>
            </a:r>
            <a:r>
              <a:rPr lang="en-US" b="1" sz="450">
                <a:latin typeface="Arial"/>
              </a:rPr>
              <a:t>watchdog</a:t>
            </a:r>
          </a:p>
        </p:txBody>
      </p:sp>
      <p:sp>
        <p:nvSpPr>
          <p:cNvPr id="19" name=""/>
          <p:cNvSpPr/>
          <p:nvPr/>
        </p:nvSpPr>
        <p:spPr>
          <a:xfrm>
            <a:off x="9649968" y="1712976"/>
            <a:ext cx="859536" cy="12009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wid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 </a:t>
            </a:r>
            <a:r>
              <a:rPr lang="en-US" cap="small" sz="400">
                <a:solidFill>
                  <a:srgbClr val="353841"/>
                </a:solidFill>
                <a:latin typeface="Arial"/>
              </a:rPr>
              <a:t>11)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nn ai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&gt;uid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sz="45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type VARCHAR(64)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message LONGTEXT 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353841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variables LONGBLOB </a:t>
            </a:r>
            <a:r>
              <a:rPr lang="en-US" baseline="-25000" cap="small" sz="400">
                <a:solidFill>
                  <a:srgbClr val="353841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353841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severity TINYINT(3)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0N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50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ink VARCHAR(255)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location TEXT 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y refererTEXT</a:t>
            </a:r>
          </a:p>
          <a:p>
            <a:pPr algn="just"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y hostname VARCHAR(128)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timestamp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</a:t>
            </a:r>
          </a:p>
        </p:txBody>
      </p:sp>
      <p:graphicFrame>
        <p:nvGraphicFramePr>
          <p:cNvPr id="20" name=""/>
          <p:cNvGraphicFramePr>
            <a:graphicFrameLocks noGrp="1"/>
          </p:cNvGraphicFramePr>
          <p:nvPr/>
        </p:nvGraphicFramePr>
        <p:xfrm>
          <a:off x="9649968" y="3127248"/>
          <a:ext cx="963168" cy="539496"/>
        </p:xfrm>
        <a:graphic>
          <a:graphicData uri="http://schemas.openxmlformats.org/drawingml/2006/table">
            <a:tbl>
              <a:tblPr/>
              <a:tblGrid>
                <a:gridCol w="719328"/>
                <a:gridCol w="243840"/>
              </a:tblGrid>
              <a:tr h="131064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sz="1000">
                          <a:solidFill>
                            <a:srgbClr val="424FC4"/>
                          </a:solidFill>
                          <a:latin typeface="Arial"/>
                        </a:rPr>
                        <a:t>__</a:t>
                      </a:r>
                    </a:p>
                    <a:p>
                      <a:pPr algn="just" indent="0"/>
                      <a:r>
                        <a:rPr lang="en-US" b="1" sz="450">
                          <a:solidFill>
                            <a:srgbClr val="31576F"/>
                          </a:solidFill>
                          <a:latin typeface="Arial"/>
                        </a:rPr>
                        <a:t>_|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users roles</a:t>
                      </a:r>
                    </a:p>
                  </a:txBody>
                  <a:tcPr marL="0" marR="0" marT="0" marB="0" anchor="ctr">
                    <a:solidFill>
                      <a:srgbClr val="A7C4E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▼ </a:t>
                      </a:r>
                      <a:r>
                        <a:rPr lang="en-US" b="1" baseline="30000" sz="450">
                          <a:solidFill>
                            <a:srgbClr val="6B6670"/>
                          </a:solidFill>
                          <a:latin typeface="Arial"/>
                        </a:rPr>
                        <a:t>V</a:t>
                      </a:r>
                    </a:p>
                  </a:txBody>
                  <a:tcPr marL="0" marR="0" marT="0" marB="0" anchor="ctr">
                    <a:solidFill>
                      <a:srgbClr val="A7C4E7"/>
                    </a:solidFill>
                  </a:tcPr>
                </a:tc>
              </a:tr>
              <a:tr h="112776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fuid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INT( 10) </a:t>
                      </a:r>
                      <a:r>
                        <a:rPr lang="en-US" sz="400">
                          <a:solidFill>
                            <a:srgbClr val="6B6670"/>
                          </a:solidFill>
                          <a:latin typeface="Arial"/>
                        </a:rPr>
                        <a:t>UN NN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latin typeface="Arial"/>
                        </a:rPr>
                        <a:t>-</a:t>
                      </a:r>
                    </a:p>
                  </a:txBody>
                  <a:tcPr marL="0" marR="0" marT="0" marB="0"/>
                </a:tc>
              </a:tr>
              <a:tr h="143256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rid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VARCHAR(64)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</a:tr>
              <a:tr h="88392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solidFill>
                            <a:srgbClr val="FFFFFF"/>
                          </a:solidFill>
                          <a:latin typeface="Arial"/>
                        </a:rPr>
                        <a:t>Indexes</a:t>
                      </a:r>
                    </a:p>
                  </a:txBody>
                  <a:tcPr marL="0" marR="0" marT="0" marB="0" anchor="ctr">
                    <a:solidFill>
                      <a:srgbClr val="C5C5C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►</a:t>
                      </a:r>
                    </a:p>
                  </a:txBody>
                  <a:tcPr marL="0" marR="0" marT="0" marB="0" anchor="ctr">
                    <a:solidFill>
                      <a:srgbClr val="C5C5C5"/>
                    </a:solidFill>
                  </a:tcPr>
                </a:tc>
              </a:tr>
              <a:tr h="64008">
                <a:tc>
                  <a:txBody>
                    <a:bodyPr lIns="0" tIns="0" rIns="0" bIns="0">
                      <a:noAutofit/>
                    </a:bodyPr>
                    <a:p>
                      <a:pPr algn="just" indent="0"/>
                      <a:r>
                        <a:rPr lang="en-US" b="1" sz="450">
                          <a:latin typeface="Arial"/>
                        </a:rPr>
                        <a:t>t.....</a:t>
                      </a:r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"/>
          <p:cNvGraphicFramePr>
            <a:graphicFrameLocks noGrp="1"/>
          </p:cNvGraphicFramePr>
          <p:nvPr/>
        </p:nvGraphicFramePr>
        <p:xfrm>
          <a:off x="9528048" y="3782568"/>
          <a:ext cx="1322832" cy="1213104"/>
        </p:xfrm>
        <a:graphic>
          <a:graphicData uri="http://schemas.openxmlformats.org/drawingml/2006/table">
            <a:tbl>
              <a:tblPr/>
              <a:tblGrid>
                <a:gridCol w="1011936"/>
                <a:gridCol w="310896"/>
              </a:tblGrid>
              <a:tr h="17068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48599B"/>
                          </a:solidFill>
                          <a:latin typeface="Arial"/>
                        </a:rPr>
                        <a:t>3)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users data</a:t>
                      </a:r>
                    </a:p>
                  </a:txBody>
                  <a:tcPr marL="0" marR="0" marT="0" marB="0" anchor="ctr">
                    <a:solidFill>
                      <a:srgbClr val="A7C4E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▼</a:t>
                      </a:r>
                    </a:p>
                  </a:txBody>
                  <a:tcPr marL="0" marR="0" marT="0" marB="0" anchor="ctr">
                    <a:solidFill>
                      <a:srgbClr val="A7C4E7"/>
                    </a:solidFill>
                  </a:tcPr>
                </a:tc>
              </a:tr>
              <a:tr h="10972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i="1" sz="450">
                          <a:solidFill>
                            <a:srgbClr val="353841"/>
                          </a:solidFill>
                          <a:latin typeface="Arial"/>
                        </a:rPr>
                        <a:t>t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 Uid INT(10) </a:t>
                      </a:r>
                      <a:r>
                        <a:rPr lang="en-US" sz="400">
                          <a:solidFill>
                            <a:srgbClr val="353841"/>
                          </a:solidFill>
                          <a:latin typeface="Arial"/>
                        </a:rPr>
                        <a:t>UN 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</a:tr>
              <a:tr h="112776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module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VARCHAR(50)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</a:tr>
              <a:tr h="109728">
                <a:tc>
                  <a:txBody>
                    <a:bodyPr lIns="0" tIns="0" rIns="0" bIns="0">
                      <a:noAutofit/>
                    </a:bodyPr>
                    <a:p>
                      <a:pPr marL="101600"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name VARCHAR(128) </a:t>
                      </a:r>
                      <a:r>
                        <a:rPr lang="en-US" b="1" baseline="-25000" cap="small" sz="450">
                          <a:solidFill>
                            <a:srgbClr val="6B6670"/>
                          </a:solidFill>
                          <a:latin typeface="Arial"/>
                        </a:rPr>
                        <a:t>N</a:t>
                      </a:r>
                      <a:r>
                        <a:rPr lang="en-US" b="1" cap="small" sz="450">
                          <a:solidFill>
                            <a:srgbClr val="6B6670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</a:tr>
              <a:tr h="10972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0 value LONGBLOB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</a:tr>
              <a:tr h="448056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y serialized T1NYINT(3)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UN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200"/>
                    </a:p>
                  </a:txBody>
                  <a:tcPr marL="0" marR="0" marT="0" marB="0"/>
                </a:tc>
              </a:tr>
              <a:tr h="88392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FFFFFF"/>
                          </a:solidFill>
                          <a:latin typeface="Arial"/>
                        </a:rPr>
                        <a:t>Indexes</a:t>
                      </a:r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500"/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</a:tr>
              <a:tr h="64008">
                <a:tc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400"/>
                    </a:p>
                  </a:txBody>
                  <a:tcPr marL="0" marR="0" marT="0" marB="0">
                    <a:solidFill>
                      <a:srgbClr val="A7C4E7"/>
                    </a:solidFill>
                  </a:tcPr>
                </a:tc>
              </a:tr>
            </a:tbl>
          </a:graphicData>
        </a:graphic>
      </p:graphicFrame>
      <p:sp>
        <p:nvSpPr>
          <p:cNvPr id="22" name=""/>
          <p:cNvSpPr/>
          <p:nvPr/>
        </p:nvSpPr>
        <p:spPr>
          <a:xfrm>
            <a:off x="11131296" y="1645920"/>
            <a:ext cx="1139952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user revision, user picture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▼</a:t>
            </a:r>
          </a:p>
        </p:txBody>
      </p:sp>
      <p:sp>
        <p:nvSpPr>
          <p:cNvPr id="23" name=""/>
          <p:cNvSpPr/>
          <p:nvPr/>
        </p:nvSpPr>
        <p:spPr>
          <a:xfrm>
            <a:off x="10930128" y="3316224"/>
            <a:ext cx="18288" cy="579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/>
            <a:r>
              <a:rPr lang="en-US" sz="400">
                <a:solidFill>
                  <a:srgbClr val="5C5B52"/>
                </a:solidFill>
                <a:latin typeface="Arial"/>
              </a:rPr>
              <a:t>\</a:t>
            </a:r>
          </a:p>
        </p:txBody>
      </p:sp>
      <p:sp>
        <p:nvSpPr>
          <p:cNvPr id="24" name=""/>
          <p:cNvSpPr/>
          <p:nvPr/>
        </p:nvSpPr>
        <p:spPr>
          <a:xfrm>
            <a:off x="10808208" y="3392424"/>
            <a:ext cx="179832" cy="762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550">
                <a:solidFill>
                  <a:srgbClr val="5C5B52"/>
                </a:solidFill>
                <a:latin typeface="Arial"/>
              </a:rPr>
              <a:t>^1</a:t>
            </a:r>
          </a:p>
        </p:txBody>
      </p:sp>
      <p:sp>
        <p:nvSpPr>
          <p:cNvPr id="25" name=""/>
          <p:cNvSpPr/>
          <p:nvPr/>
        </p:nvSpPr>
        <p:spPr>
          <a:xfrm>
            <a:off x="11119104" y="1780032"/>
            <a:ext cx="1121664" cy="120091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bundle VARCHAR(128)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deleted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TINYINT(4)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entity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revision.id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delta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user, picture .target.id 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00">
                <a:solidFill>
                  <a:srgbClr val="5C5B52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user, picture .alt VARCHAR(512)</a:t>
            </a:r>
          </a:p>
          <a:p>
            <a:pPr indent="0">
              <a:lnSpc>
                <a:spcPts val="864"/>
              </a:lnSpc>
            </a:pPr>
            <a:r>
              <a:rPr lang="en-US" sz="50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user, picture .title VARCHAR(1024)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user, picture width INT(10)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un </a:t>
            </a:r>
            <a:r>
              <a:rPr lang="en-US" b="1" sz="400">
                <a:solidFill>
                  <a:srgbClr val="5C5B52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user.picture.height INT(10)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un</a:t>
            </a:r>
          </a:p>
        </p:txBody>
      </p:sp>
      <p:sp>
        <p:nvSpPr>
          <p:cNvPr id="26" name=""/>
          <p:cNvSpPr/>
          <p:nvPr/>
        </p:nvSpPr>
        <p:spPr>
          <a:xfrm>
            <a:off x="11070336" y="3328416"/>
            <a:ext cx="353568" cy="103632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24FC4"/>
                </a:solidFill>
                <a:latin typeface="Arial"/>
              </a:rPr>
              <a:t>3)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users</a:t>
            </a:r>
          </a:p>
        </p:txBody>
      </p:sp>
      <p:sp>
        <p:nvSpPr>
          <p:cNvPr id="27" name=""/>
          <p:cNvSpPr/>
          <p:nvPr/>
        </p:nvSpPr>
        <p:spPr>
          <a:xfrm>
            <a:off x="11079480" y="3468624"/>
            <a:ext cx="643128" cy="1706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ctr"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Ouuid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</a:t>
            </a:r>
          </a:p>
        </p:txBody>
      </p:sp>
      <p:sp>
        <p:nvSpPr>
          <p:cNvPr id="28" name=""/>
          <p:cNvSpPr/>
          <p:nvPr/>
        </p:nvSpPr>
        <p:spPr>
          <a:xfrm>
            <a:off x="11079480" y="3694176"/>
            <a:ext cx="826008" cy="39014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name VARCHAR(60)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pass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mail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VARCHAR(254)</a:t>
            </a:r>
          </a:p>
        </p:txBody>
      </p:sp>
      <p:sp>
        <p:nvSpPr>
          <p:cNvPr id="29" name=""/>
          <p:cNvSpPr/>
          <p:nvPr/>
        </p:nvSpPr>
        <p:spPr>
          <a:xfrm>
            <a:off x="11079480" y="4139184"/>
            <a:ext cx="981456" cy="28346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theme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VARCHAR(50)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cap="small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signature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signature.format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</a:t>
            </a:r>
          </a:p>
        </p:txBody>
      </p:sp>
      <p:sp>
        <p:nvSpPr>
          <p:cNvPr id="30" name=""/>
          <p:cNvSpPr/>
          <p:nvPr/>
        </p:nvSpPr>
        <p:spPr>
          <a:xfrm>
            <a:off x="11079480" y="4474464"/>
            <a:ext cx="737616" cy="5029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89BDBD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access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cap="small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login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status TINYI NT(4)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timezone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</a:t>
            </a:r>
          </a:p>
        </p:txBody>
      </p:sp>
      <p:sp>
        <p:nvSpPr>
          <p:cNvPr id="31" name=""/>
          <p:cNvSpPr/>
          <p:nvPr/>
        </p:nvSpPr>
        <p:spPr>
          <a:xfrm>
            <a:off x="11079480" y="5032248"/>
            <a:ext cx="1271016" cy="2804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preferred 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VARCHAR( 1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2)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Opreferred.admin.langcode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in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VARCHAR(254)</a:t>
            </a:r>
          </a:p>
        </p:txBody>
      </p:sp>
      <p:sp>
        <p:nvSpPr>
          <p:cNvPr id="32" name=""/>
          <p:cNvSpPr/>
          <p:nvPr/>
        </p:nvSpPr>
        <p:spPr>
          <a:xfrm>
            <a:off x="11253216" y="5907024"/>
            <a:ext cx="365760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router</a:t>
            </a:r>
          </a:p>
        </p:txBody>
      </p:sp>
      <p:sp>
        <p:nvSpPr>
          <p:cNvPr id="33" name=""/>
          <p:cNvSpPr/>
          <p:nvPr/>
        </p:nvSpPr>
        <p:spPr>
          <a:xfrm>
            <a:off x="11241024" y="6041136"/>
            <a:ext cx="993648" cy="7559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name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path VARCHAR(255)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pattern outline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route.set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Ofit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INT(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11)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50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route TEXT</a:t>
            </a:r>
          </a:p>
          <a:p>
            <a:pPr indent="0">
              <a:lnSpc>
                <a:spcPts val="864"/>
              </a:lnSpc>
            </a:pP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number_parts SMALLINT(6)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</a:t>
            </a:r>
          </a:p>
        </p:txBody>
      </p:sp>
      <p:sp>
        <p:nvSpPr>
          <p:cNvPr id="34" name=""/>
          <p:cNvSpPr/>
          <p:nvPr/>
        </p:nvSpPr>
        <p:spPr>
          <a:xfrm>
            <a:off x="11436096" y="7046976"/>
            <a:ext cx="390144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24FC4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history</a:t>
            </a:r>
          </a:p>
        </p:txBody>
      </p:sp>
      <p:sp>
        <p:nvSpPr>
          <p:cNvPr id="35" name=""/>
          <p:cNvSpPr/>
          <p:nvPr/>
        </p:nvSpPr>
        <p:spPr>
          <a:xfrm>
            <a:off x="11423904" y="7181088"/>
            <a:ext cx="688848" cy="3048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353841"/>
                </a:solidFill>
                <a:latin typeface="Arial"/>
              </a:rPr>
              <a:t>uidlNT(11) 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nid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timestamp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36" name=""/>
          <p:cNvSpPr/>
          <p:nvPr/>
        </p:nvSpPr>
        <p:spPr>
          <a:xfrm>
            <a:off x="94488" y="8299704"/>
            <a:ext cx="579120" cy="28346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DC976B"/>
                </a:solidFill>
                <a:latin typeface="Arial"/>
              </a:rPr>
              <a:t>►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revision.id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tog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LONGTEXT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</a:p>
        </p:txBody>
      </p:sp>
      <p:sp>
        <p:nvSpPr>
          <p:cNvPr id="37" name=""/>
          <p:cNvSpPr/>
          <p:nvPr/>
        </p:nvSpPr>
        <p:spPr>
          <a:xfrm>
            <a:off x="94488" y="8634984"/>
            <a:ext cx="624840" cy="17068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info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 </a:t>
            </a:r>
            <a:r>
              <a:rPr lang="en-US" b="1" sz="450">
                <a:solidFill>
                  <a:srgbClr val="89BDBD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changed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graphicFrame>
        <p:nvGraphicFramePr>
          <p:cNvPr id="38" name=""/>
          <p:cNvGraphicFramePr>
            <a:graphicFrameLocks noGrp="1"/>
          </p:cNvGraphicFramePr>
          <p:nvPr/>
        </p:nvGraphicFramePr>
        <p:xfrm>
          <a:off x="10259568" y="7958328"/>
          <a:ext cx="2066544" cy="771144"/>
        </p:xfrm>
        <a:graphic>
          <a:graphicData uri="http://schemas.openxmlformats.org/drawingml/2006/table">
            <a:tbl>
              <a:tblPr/>
              <a:tblGrid>
                <a:gridCol w="923544"/>
                <a:gridCol w="216408"/>
                <a:gridCol w="926592"/>
              </a:tblGrid>
              <a:tr h="146304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_]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key value expire </a:t>
                      </a:r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▼</a:t>
                      </a:r>
                    </a:p>
                  </a:txBody>
                  <a:tcPr marL="0" marR="0" marT="0" marB="0" anchor="b">
                    <a:solidFill>
                      <a:srgbClr val="A7C4E7"/>
                    </a:solidFill>
                  </a:tcPr>
                </a:tc>
                <a:tc rowSpan="2"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31576F"/>
                          </a:solidFill>
                          <a:latin typeface="Arial"/>
                        </a:rPr>
                        <a:t>_] </a:t>
                      </a:r>
                      <a:r>
                        <a:rPr lang="en-US" b="1" sz="450">
                          <a:solidFill>
                            <a:srgbClr val="161B1D"/>
                          </a:solidFill>
                          <a:latin typeface="Arial"/>
                        </a:rPr>
                        <a:t>key value</a:t>
                      </a:r>
                    </a:p>
                  </a:txBody>
                  <a:tcPr marL="0" marR="0" marT="0" marB="0" anchor="b">
                    <a:solidFill>
                      <a:srgbClr val="A7C4E7"/>
                    </a:solidFill>
                  </a:tcPr>
                </a:tc>
              </a:tr>
              <a:tr h="106680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00">
                          <a:solidFill>
                            <a:srgbClr val="5C5B52"/>
                          </a:solidFill>
                          <a:latin typeface="Arial"/>
                        </a:rPr>
                        <a:t>colection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VARCHAR(128)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00">
                          <a:solidFill>
                            <a:srgbClr val="5C5B52"/>
                          </a:solidFill>
                          <a:latin typeface="Arial"/>
                        </a:rPr>
                        <a:t>collection </a:t>
                      </a:r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VARCHAR(128) </a:t>
                      </a:r>
                      <a:r>
                        <a:rPr lang="en-US" b="1" baseline="-25000" cap="small" sz="400">
                          <a:solidFill>
                            <a:srgbClr val="5C5B52"/>
                          </a:solidFill>
                          <a:latin typeface="Arial"/>
                        </a:rPr>
                        <a:t>N</a:t>
                      </a:r>
                      <a:r>
                        <a:rPr lang="en-US" b="1" cap="small" sz="400">
                          <a:solidFill>
                            <a:srgbClr val="5C5B52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0" marR="0" marT="0" marB="0"/>
                </a:tc>
              </a:tr>
              <a:tr h="112776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00">
                          <a:solidFill>
                            <a:srgbClr val="353841"/>
                          </a:solidFill>
                          <a:latin typeface="Arial"/>
                        </a:rPr>
                        <a:t>' name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VARCHAR(128) </a:t>
                      </a:r>
                      <a:r>
                        <a:rPr lang="en-US" b="1" baseline="-25000" cap="small" sz="400">
                          <a:solidFill>
                            <a:srgbClr val="353841"/>
                          </a:solidFill>
                          <a:latin typeface="Arial"/>
                        </a:rPr>
                        <a:t>N</a:t>
                      </a:r>
                      <a:r>
                        <a:rPr lang="en-US" b="1" cap="small" sz="400">
                          <a:solidFill>
                            <a:srgbClr val="353841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name VARCHAR(128) </a:t>
                      </a:r>
                      <a:r>
                        <a:rPr lang="en-US" b="1" baseline="-25000" sz="450">
                          <a:solidFill>
                            <a:srgbClr val="6B6670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 anchor="b"/>
                </a:tc>
              </a:tr>
              <a:tr h="10668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400">
                          <a:solidFill>
                            <a:srgbClr val="353841"/>
                          </a:solidFill>
                          <a:latin typeface="Arial"/>
                        </a:rPr>
                        <a:t>y </a:t>
                      </a:r>
                      <a:r>
                        <a:rPr lang="en-US" b="1" sz="400">
                          <a:solidFill>
                            <a:srgbClr val="353841"/>
                          </a:solidFill>
                          <a:latin typeface="Arial"/>
                        </a:rPr>
                        <a:t>value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LONGBLOB </a:t>
                      </a:r>
                      <a:r>
                        <a:rPr lang="en-US" b="1" baseline="-25000" cap="small" sz="400">
                          <a:solidFill>
                            <a:srgbClr val="353841"/>
                          </a:solidFill>
                          <a:latin typeface="Arial"/>
                        </a:rPr>
                        <a:t>N</a:t>
                      </a:r>
                      <a:r>
                        <a:rPr lang="en-US" b="1" cap="small" sz="400">
                          <a:solidFill>
                            <a:srgbClr val="353841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400">
                          <a:solidFill>
                            <a:srgbClr val="353841"/>
                          </a:solidFill>
                          <a:latin typeface="Arial"/>
                        </a:rPr>
                        <a:t>y </a:t>
                      </a:r>
                      <a:r>
                        <a:rPr lang="en-US" b="1" sz="400">
                          <a:solidFill>
                            <a:srgbClr val="353841"/>
                          </a:solidFill>
                          <a:latin typeface="Arial"/>
                        </a:rPr>
                        <a:t>value </a:t>
                      </a:r>
                      <a:r>
                        <a:rPr lang="en-US" b="1" sz="450">
                          <a:solidFill>
                            <a:srgbClr val="353841"/>
                          </a:solidFill>
                          <a:latin typeface="Arial"/>
                        </a:rPr>
                        <a:t>LONGBLOB </a:t>
                      </a:r>
                      <a:r>
                        <a:rPr lang="en-US" b="1" baseline="-25000" sz="450">
                          <a:solidFill>
                            <a:srgbClr val="353841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</a:tr>
              <a:tr h="131064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400">
                          <a:solidFill>
                            <a:srgbClr val="5C5B52"/>
                          </a:solidFill>
                          <a:latin typeface="Arial"/>
                        </a:rPr>
                        <a:t>y </a:t>
                      </a:r>
                      <a:r>
                        <a:rPr lang="en-US" b="1" sz="450">
                          <a:solidFill>
                            <a:srgbClr val="5C5B52"/>
                          </a:solidFill>
                          <a:latin typeface="Arial"/>
                        </a:rPr>
                        <a:t>expire INT(11) </a:t>
                      </a:r>
                      <a:r>
                        <a:rPr lang="en-US" b="1" baseline="-25000" sz="450">
                          <a:solidFill>
                            <a:srgbClr val="5C5B52"/>
                          </a:solidFill>
                          <a:latin typeface="Arial"/>
                        </a:rPr>
                        <a:t>NN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7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450">
                          <a:solidFill>
                            <a:srgbClr val="FFFFFF"/>
                          </a:solidFill>
                          <a:latin typeface="Arial"/>
                        </a:rPr>
                        <a:t>Indexes</a:t>
                      </a:r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</a:tr>
              <a:tr h="167640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b="1" sz="450">
                          <a:solidFill>
                            <a:srgbClr val="6B6670"/>
                          </a:solidFill>
                          <a:latin typeface="Arial"/>
                        </a:rPr>
                        <a:t>►</a:t>
                      </a:r>
                    </a:p>
                  </a:txBody>
                  <a:tcPr marL="0" marR="0" marT="0" marB="0">
                    <a:solidFill>
                      <a:srgbClr val="C5C5C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8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9" name=""/>
          <p:cNvSpPr/>
          <p:nvPr/>
        </p:nvSpPr>
        <p:spPr>
          <a:xfrm>
            <a:off x="12697968" y="1810512"/>
            <a:ext cx="829056" cy="103632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24FC4"/>
                </a:solidFill>
                <a:latin typeface="Arial"/>
              </a:rPr>
              <a:t>3)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user..user picture</a:t>
            </a:r>
          </a:p>
        </p:txBody>
      </p:sp>
      <p:sp>
        <p:nvSpPr>
          <p:cNvPr id="40" name=""/>
          <p:cNvSpPr/>
          <p:nvPr/>
        </p:nvSpPr>
        <p:spPr>
          <a:xfrm>
            <a:off x="12734544" y="1953768"/>
            <a:ext cx="829056" cy="61264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bundle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VARCHAR( 128)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deleted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TINYINT(4)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entity.id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un nn </a:t>
            </a:r>
            <a:r>
              <a:rPr lang="en-US" sz="50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revision.id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aseline="-25000" cap="small" sz="400">
                <a:solidFill>
                  <a:srgbClr val="6B6670"/>
                </a:solidFill>
                <a:latin typeface="Arial"/>
              </a:rPr>
              <a:t>U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EF9C2A"/>
                </a:solidFill>
                <a:latin typeface="Arial"/>
              </a:rPr>
              <a:t>)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langcode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VARCHAR(32)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delta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UN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 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nn</a:t>
            </a:r>
          </a:p>
        </p:txBody>
      </p:sp>
      <p:sp>
        <p:nvSpPr>
          <p:cNvPr id="41" name=""/>
          <p:cNvSpPr/>
          <p:nvPr/>
        </p:nvSpPr>
        <p:spPr>
          <a:xfrm>
            <a:off x="12737592" y="2621280"/>
            <a:ext cx="1066800" cy="16764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Ouser.ptcture.target.id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un nn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Ouser.pcture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alt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VARCHAR(512)</a:t>
            </a:r>
          </a:p>
        </p:txBody>
      </p:sp>
      <p:sp>
        <p:nvSpPr>
          <p:cNvPr id="42" name=""/>
          <p:cNvSpPr/>
          <p:nvPr/>
        </p:nvSpPr>
        <p:spPr>
          <a:xfrm>
            <a:off x="12734544" y="2843784"/>
            <a:ext cx="1030224" cy="28346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sz="50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user.pcture.title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VARCHAR(1024) </a:t>
            </a:r>
            <a:r>
              <a:rPr lang="en-US" sz="500">
                <a:solidFill>
                  <a:srgbClr val="89BDBD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user picture width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cap="small" sz="450">
                <a:solidFill>
                  <a:srgbClr val="6B6670"/>
                </a:solidFill>
                <a:latin typeface="Arial"/>
              </a:rPr>
              <a:t>un O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user.picture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height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b="1" cap="small" sz="450">
                <a:solidFill>
                  <a:srgbClr val="6B6670"/>
                </a:solidFill>
                <a:latin typeface="Arial"/>
              </a:rPr>
              <a:t>un</a:t>
            </a:r>
          </a:p>
        </p:txBody>
      </p:sp>
      <p:sp>
        <p:nvSpPr>
          <p:cNvPr id="43" name=""/>
          <p:cNvSpPr/>
          <p:nvPr/>
        </p:nvSpPr>
        <p:spPr>
          <a:xfrm>
            <a:off x="14404848" y="1664208"/>
            <a:ext cx="35356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batch</a:t>
            </a:r>
          </a:p>
        </p:txBody>
      </p:sp>
      <p:sp>
        <p:nvSpPr>
          <p:cNvPr id="44" name=""/>
          <p:cNvSpPr/>
          <p:nvPr/>
        </p:nvSpPr>
        <p:spPr>
          <a:xfrm>
            <a:off x="14392656" y="1798320"/>
            <a:ext cx="719328" cy="414528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bid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10) </a:t>
            </a:r>
            <a:r>
              <a:rPr lang="en-US" sz="400">
                <a:solidFill>
                  <a:srgbClr val="6B6670"/>
                </a:solidFill>
                <a:latin typeface="Arial"/>
              </a:rPr>
              <a:t>UN 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token VARCHAR(64)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timestamp INT(11)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sz="50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batch LONGBLOB</a:t>
            </a:r>
          </a:p>
        </p:txBody>
      </p:sp>
      <p:sp>
        <p:nvSpPr>
          <p:cNvPr id="45" name=""/>
          <p:cNvSpPr/>
          <p:nvPr/>
        </p:nvSpPr>
        <p:spPr>
          <a:xfrm>
            <a:off x="15294864" y="1670304"/>
            <a:ext cx="371856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3) </a:t>
            </a:r>
            <a:r>
              <a:rPr lang="en-US" b="1" sz="450">
                <a:latin typeface="Arial"/>
              </a:rPr>
              <a:t>queue</a:t>
            </a:r>
          </a:p>
        </p:txBody>
      </p:sp>
      <p:sp>
        <p:nvSpPr>
          <p:cNvPr id="46" name=""/>
          <p:cNvSpPr/>
          <p:nvPr/>
        </p:nvSpPr>
        <p:spPr>
          <a:xfrm>
            <a:off x="15282672" y="1804416"/>
            <a:ext cx="737616" cy="5303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item.id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ai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name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h </a:t>
            </a:r>
            <a:r>
              <a:rPr lang="en-US" b="1" sz="400">
                <a:solidFill>
                  <a:srgbClr val="5C5B52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47" name=""/>
          <p:cNvSpPr/>
          <p:nvPr/>
        </p:nvSpPr>
        <p:spPr>
          <a:xfrm>
            <a:off x="14392656" y="2493264"/>
            <a:ext cx="530352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semaphore</a:t>
            </a:r>
          </a:p>
        </p:txBody>
      </p:sp>
      <p:sp>
        <p:nvSpPr>
          <p:cNvPr id="48" name=""/>
          <p:cNvSpPr/>
          <p:nvPr/>
        </p:nvSpPr>
        <p:spPr>
          <a:xfrm>
            <a:off x="14459712" y="2639568"/>
            <a:ext cx="664464" cy="2804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864"/>
              </a:lnSpc>
            </a:pPr>
            <a:r>
              <a:rPr lang="en-US" b="1" sz="450">
                <a:solidFill>
                  <a:srgbClr val="353841"/>
                </a:solidFill>
                <a:latin typeface="Arial"/>
              </a:rPr>
              <a:t>name 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value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 expire DOUBLE </a:t>
            </a:r>
            <a:r>
              <a:rPr lang="en-US" baseline="-25000" cap="small" sz="400">
                <a:solidFill>
                  <a:srgbClr val="6B6670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6B6670"/>
                </a:solidFill>
                <a:latin typeface="Arial"/>
              </a:rPr>
              <a:t>n</a:t>
            </a:r>
          </a:p>
        </p:txBody>
      </p:sp>
      <p:sp>
        <p:nvSpPr>
          <p:cNvPr id="49" name=""/>
          <p:cNvSpPr/>
          <p:nvPr/>
        </p:nvSpPr>
        <p:spPr>
          <a:xfrm>
            <a:off x="14368272" y="2941320"/>
            <a:ext cx="755904" cy="9448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i="1" sz="1000" spc="-150">
                <a:solidFill>
                  <a:srgbClr val="C4C4C4"/>
                </a:solidFill>
                <a:latin typeface="Arial"/>
              </a:rPr>
              <a:t>CZ</a:t>
            </a:r>
            <a:r>
              <a:rPr lang="en-US" sz="550">
                <a:solidFill>
                  <a:srgbClr val="C4C4C4"/>
                </a:solidFill>
                <a:latin typeface="Arial"/>
              </a:rPr>
              <a:t>    </a:t>
            </a:r>
            <a:r>
              <a:rPr lang="en-US" sz="550">
                <a:solidFill>
                  <a:srgbClr val="6B6670"/>
                </a:solidFill>
                <a:latin typeface="Arial"/>
              </a:rPr>
              <a:t>-</a:t>
            </a:r>
          </a:p>
        </p:txBody>
      </p:sp>
      <p:sp>
        <p:nvSpPr>
          <p:cNvPr id="50" name=""/>
          <p:cNvSpPr/>
          <p:nvPr/>
        </p:nvSpPr>
        <p:spPr>
          <a:xfrm>
            <a:off x="14374368" y="3230880"/>
            <a:ext cx="707136" cy="121920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6B6670"/>
                </a:solidFill>
                <a:latin typeface="Arial"/>
              </a:rPr>
              <a:t>_J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sequences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▼</a:t>
            </a:r>
          </a:p>
        </p:txBody>
      </p:sp>
      <p:sp>
        <p:nvSpPr>
          <p:cNvPr id="51" name=""/>
          <p:cNvSpPr/>
          <p:nvPr/>
        </p:nvSpPr>
        <p:spPr>
          <a:xfrm>
            <a:off x="12868656" y="3718560"/>
            <a:ext cx="786384" cy="103632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24FC4"/>
                </a:solidFill>
                <a:latin typeface="Arial"/>
              </a:rPr>
              <a:t>3) </a:t>
            </a:r>
            <a:r>
              <a:rPr lang="en-US" b="1" sz="450">
                <a:latin typeface="Arial"/>
              </a:rPr>
              <a:t>shortcut.set users</a:t>
            </a:r>
          </a:p>
        </p:txBody>
      </p:sp>
      <p:sp>
        <p:nvSpPr>
          <p:cNvPr id="52" name=""/>
          <p:cNvSpPr/>
          <p:nvPr/>
        </p:nvSpPr>
        <p:spPr>
          <a:xfrm>
            <a:off x="12856464" y="3852672"/>
            <a:ext cx="822960" cy="18897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40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uid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10) 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un nn </a:t>
            </a:r>
            <a:r>
              <a:rPr lang="en-US" sz="45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set name VARCHAR(32)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</a:t>
            </a:r>
          </a:p>
        </p:txBody>
      </p:sp>
      <p:sp>
        <p:nvSpPr>
          <p:cNvPr id="53" name=""/>
          <p:cNvSpPr/>
          <p:nvPr/>
        </p:nvSpPr>
        <p:spPr>
          <a:xfrm>
            <a:off x="12661392" y="4834128"/>
            <a:ext cx="396240" cy="128016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3]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cache</a:t>
            </a:r>
          </a:p>
        </p:txBody>
      </p:sp>
      <p:sp>
        <p:nvSpPr>
          <p:cNvPr id="54" name=""/>
          <p:cNvSpPr/>
          <p:nvPr/>
        </p:nvSpPr>
        <p:spPr>
          <a:xfrm>
            <a:off x="12685776" y="4986528"/>
            <a:ext cx="999744" cy="8656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- cid VARCHAR(255) </a:t>
            </a:r>
            <a:r>
              <a:rPr lang="en-US" b="1" baseline="-25000" sz="450">
                <a:solidFill>
                  <a:srgbClr val="6B6670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checksum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55" name=""/>
          <p:cNvSpPr/>
          <p:nvPr/>
        </p:nvSpPr>
        <p:spPr>
          <a:xfrm>
            <a:off x="12697968" y="6156960"/>
            <a:ext cx="707136" cy="103632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3] </a:t>
            </a:r>
            <a:r>
              <a:rPr lang="en-US" b="1" sz="450">
                <a:latin typeface="Arial"/>
              </a:rPr>
              <a:t>cache bootstrap</a:t>
            </a:r>
          </a:p>
        </p:txBody>
      </p:sp>
      <p:sp>
        <p:nvSpPr>
          <p:cNvPr id="56" name=""/>
          <p:cNvSpPr/>
          <p:nvPr/>
        </p:nvSpPr>
        <p:spPr>
          <a:xfrm>
            <a:off x="12685776" y="6291072"/>
            <a:ext cx="999744" cy="8595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' cid VARCHAR(255) </a:t>
            </a:r>
            <a:r>
              <a:rPr lang="en-US" i="1" baseline="-25000" sz="450">
                <a:solidFill>
                  <a:srgbClr val="5C5B52"/>
                </a:solidFill>
                <a:latin typeface="Arial"/>
              </a:rPr>
              <a:t>m </a:t>
            </a:r>
            <a:r>
              <a:rPr lang="en-US" i="1" sz="450">
                <a:solidFill>
                  <a:srgbClr val="353841"/>
                </a:solidFill>
                <a:latin typeface="Arial"/>
              </a:rPr>
              <a:t>O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 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INT{11)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57" name=""/>
          <p:cNvSpPr/>
          <p:nvPr/>
        </p:nvSpPr>
        <p:spPr>
          <a:xfrm>
            <a:off x="12710160" y="7504176"/>
            <a:ext cx="573024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cache block</a:t>
            </a:r>
          </a:p>
        </p:txBody>
      </p:sp>
      <p:sp>
        <p:nvSpPr>
          <p:cNvPr id="58" name=""/>
          <p:cNvSpPr/>
          <p:nvPr/>
        </p:nvSpPr>
        <p:spPr>
          <a:xfrm>
            <a:off x="12697968" y="7638288"/>
            <a:ext cx="999744" cy="8656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cid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i="1" baseline="-25000" sz="450">
                <a:solidFill>
                  <a:srgbClr val="5C5B52"/>
                </a:solidFill>
                <a:latin typeface="Arial"/>
              </a:rPr>
              <a:t>m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y data LONGBLOB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aseline="-25000" cap="small" sz="400">
                <a:solidFill>
                  <a:srgbClr val="5C5B52"/>
                </a:solidFill>
                <a:latin typeface="Arial"/>
              </a:rPr>
              <a:t>N</a:t>
            </a:r>
            <a:r>
              <a:rPr lang="en-US" cap="small" sz="40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y 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 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59" name=""/>
          <p:cNvSpPr/>
          <p:nvPr/>
        </p:nvSpPr>
        <p:spPr>
          <a:xfrm>
            <a:off x="14478000" y="3392424"/>
            <a:ext cx="420624" cy="5791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r" indent="0"/>
            <a:r>
              <a:rPr lang="en-US" b="1" sz="450">
                <a:solidFill>
                  <a:srgbClr val="5C5B52"/>
                </a:solidFill>
                <a:latin typeface="Arial"/>
              </a:rPr>
              <a:t>value I </a:t>
            </a:r>
            <a:r>
              <a:rPr lang="en-US" b="1" sz="450">
                <a:solidFill>
                  <a:srgbClr val="161B1D"/>
                </a:solidFill>
                <a:latin typeface="Arial"/>
              </a:rPr>
              <a:t>NT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(10) </a:t>
            </a:r>
            <a:r>
              <a:rPr lang="en-US" b="1" sz="450">
                <a:solidFill>
                  <a:srgbClr val="979799"/>
                </a:solidFill>
                <a:latin typeface="Arial"/>
              </a:rPr>
              <a:t>u</a:t>
            </a:r>
          </a:p>
        </p:txBody>
      </p:sp>
      <p:sp>
        <p:nvSpPr>
          <p:cNvPr id="60" name=""/>
          <p:cNvSpPr/>
          <p:nvPr/>
        </p:nvSpPr>
        <p:spPr>
          <a:xfrm>
            <a:off x="14435328" y="3755136"/>
            <a:ext cx="426720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variable</a:t>
            </a:r>
          </a:p>
        </p:txBody>
      </p:sp>
      <p:sp>
        <p:nvSpPr>
          <p:cNvPr id="61" name=""/>
          <p:cNvSpPr/>
          <p:nvPr/>
        </p:nvSpPr>
        <p:spPr>
          <a:xfrm>
            <a:off x="14423136" y="3889248"/>
            <a:ext cx="737616" cy="18897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88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name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VARCHAR(128) </a:t>
            </a:r>
            <a:r>
              <a:rPr lang="en-US" b="1" sz="450">
                <a:solidFill>
                  <a:srgbClr val="6B6670"/>
                </a:solidFill>
                <a:latin typeface="Arial"/>
              </a:rPr>
              <a:t>i&gt;, </a:t>
            </a:r>
            <a:r>
              <a:rPr lang="en-US" sz="400" spc="-50">
                <a:solidFill>
                  <a:srgbClr val="353841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value LONGBLOB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</a:t>
            </a:r>
          </a:p>
        </p:txBody>
      </p:sp>
      <p:sp>
        <p:nvSpPr>
          <p:cNvPr id="62" name=""/>
          <p:cNvSpPr/>
          <p:nvPr/>
        </p:nvSpPr>
        <p:spPr>
          <a:xfrm>
            <a:off x="13868400" y="4882896"/>
            <a:ext cx="59740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r" indent="0"/>
            <a:r>
              <a:rPr lang="en-US" b="1" sz="450">
                <a:latin typeface="Arial"/>
              </a:rPr>
              <a:t>cache config</a:t>
            </a:r>
          </a:p>
        </p:txBody>
      </p:sp>
      <p:sp>
        <p:nvSpPr>
          <p:cNvPr id="63" name=""/>
          <p:cNvSpPr/>
          <p:nvPr/>
        </p:nvSpPr>
        <p:spPr>
          <a:xfrm>
            <a:off x="13862304" y="5017008"/>
            <a:ext cx="999744" cy="8595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cid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500">
                <a:solidFill>
                  <a:srgbClr val="353841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)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00">
                <a:solidFill>
                  <a:srgbClr val="353841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checksum.deletions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64" name=""/>
          <p:cNvSpPr/>
          <p:nvPr/>
        </p:nvSpPr>
        <p:spPr>
          <a:xfrm>
            <a:off x="15069312" y="4876800"/>
            <a:ext cx="780288" cy="121920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just" indent="0"/>
            <a:r>
              <a:rPr lang="en-US" b="1" sz="450">
                <a:solidFill>
                  <a:srgbClr val="161B1D"/>
                </a:solidFill>
                <a:latin typeface="Arial"/>
              </a:rPr>
              <a:t>_| cache views.info</a:t>
            </a:r>
          </a:p>
        </p:txBody>
      </p:sp>
      <p:sp>
        <p:nvSpPr>
          <p:cNvPr id="65" name=""/>
          <p:cNvSpPr/>
          <p:nvPr/>
        </p:nvSpPr>
        <p:spPr>
          <a:xfrm>
            <a:off x="15099792" y="5029200"/>
            <a:ext cx="999744" cy="8595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i="1" sz="450">
                <a:solidFill>
                  <a:srgbClr val="5C5B52"/>
                </a:solidFill>
                <a:latin typeface="Arial"/>
              </a:rPr>
              <a:t>t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 cid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00">
                <a:solidFill>
                  <a:srgbClr val="353841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data LONGBLOB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353841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sz="400">
                <a:solidFill>
                  <a:srgbClr val="353841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353841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i="1" baseline="-25000" sz="450">
                <a:solidFill>
                  <a:srgbClr val="5C5B52"/>
                </a:solidFill>
                <a:latin typeface="Arial"/>
              </a:rPr>
              <a:t>H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 checksum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66" name=""/>
          <p:cNvSpPr/>
          <p:nvPr/>
        </p:nvSpPr>
        <p:spPr>
          <a:xfrm>
            <a:off x="13868400" y="6187440"/>
            <a:ext cx="62788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3) </a:t>
            </a:r>
            <a:r>
              <a:rPr lang="en-US" b="1" sz="450">
                <a:latin typeface="Arial"/>
              </a:rPr>
              <a:t>cache toolbar</a:t>
            </a:r>
          </a:p>
        </p:txBody>
      </p:sp>
      <p:sp>
        <p:nvSpPr>
          <p:cNvPr id="67" name=""/>
          <p:cNvSpPr/>
          <p:nvPr/>
        </p:nvSpPr>
        <p:spPr>
          <a:xfrm>
            <a:off x="13862304" y="6321552"/>
            <a:ext cx="999744" cy="8656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cid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00">
                <a:solidFill>
                  <a:srgbClr val="5C5B52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data LONGBLOB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y tags LONGTEXT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68" name=""/>
          <p:cNvSpPr/>
          <p:nvPr/>
        </p:nvSpPr>
        <p:spPr>
          <a:xfrm>
            <a:off x="15130272" y="6199632"/>
            <a:ext cx="359664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r" indent="0"/>
            <a:r>
              <a:rPr lang="en-US" b="1" sz="450">
                <a:latin typeface="Arial"/>
              </a:rPr>
              <a:t>cache i</a:t>
            </a:r>
          </a:p>
        </p:txBody>
      </p:sp>
      <p:sp>
        <p:nvSpPr>
          <p:cNvPr id="69" name=""/>
          <p:cNvSpPr/>
          <p:nvPr/>
        </p:nvSpPr>
        <p:spPr>
          <a:xfrm>
            <a:off x="15118080" y="6333744"/>
            <a:ext cx="1005840" cy="8595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6B6670"/>
                </a:solidFill>
                <a:latin typeface="Arial"/>
              </a:rPr>
              <a:t>cid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VARCHAR{255)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500">
                <a:solidFill>
                  <a:srgbClr val="5C5B52"/>
                </a:solidFill>
                <a:latin typeface="Arial"/>
              </a:rPr>
              <a:t>O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&gt; 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invalidations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checksum 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70" name=""/>
          <p:cNvSpPr/>
          <p:nvPr/>
        </p:nvSpPr>
        <p:spPr>
          <a:xfrm>
            <a:off x="14075664" y="7540752"/>
            <a:ext cx="53644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48599B"/>
                </a:solidFill>
                <a:latin typeface="Arial"/>
              </a:rPr>
              <a:t>^ </a:t>
            </a:r>
            <a:r>
              <a:rPr lang="en-US" b="1" sz="450">
                <a:latin typeface="Arial"/>
              </a:rPr>
              <a:t>cache tags</a:t>
            </a:r>
          </a:p>
        </p:txBody>
      </p:sp>
      <p:sp>
        <p:nvSpPr>
          <p:cNvPr id="71" name=""/>
          <p:cNvSpPr/>
          <p:nvPr/>
        </p:nvSpPr>
        <p:spPr>
          <a:xfrm>
            <a:off x="14063472" y="7674864"/>
            <a:ext cx="688848" cy="31089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864"/>
              </a:lnSpc>
            </a:pPr>
            <a:r>
              <a:rPr lang="en-US" b="1" sz="450">
                <a:solidFill>
                  <a:srgbClr val="353841"/>
                </a:solidFill>
                <a:latin typeface="Arial"/>
              </a:rPr>
              <a:t>tag 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, </a:t>
            </a:r>
            <a:r>
              <a:rPr lang="en-US" sz="400" spc="-5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invalidations INT(11</a:t>
            </a:r>
            <a:r>
              <a:rPr lang="en-US" b="1" cap="small" sz="450">
                <a:solidFill>
                  <a:srgbClr val="5C5B52"/>
                </a:solidFill>
                <a:latin typeface="Arial"/>
              </a:rPr>
              <a:t>)</a:t>
            </a:r>
            <a:r>
              <a:rPr lang="en-US" b="1" baseline="-25000" cap="small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deletions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  <p:sp>
        <p:nvSpPr>
          <p:cNvPr id="72" name=""/>
          <p:cNvSpPr/>
          <p:nvPr/>
        </p:nvSpPr>
        <p:spPr>
          <a:xfrm>
            <a:off x="15154656" y="7516368"/>
            <a:ext cx="536448" cy="109728"/>
          </a:xfrm>
          <a:prstGeom prst="rect">
            <a:avLst/>
          </a:prstGeom>
          <a:solidFill>
            <a:srgbClr val="A7C4E7"/>
          </a:solidFill>
        </p:spPr>
        <p:txBody>
          <a:bodyPr lIns="0" tIns="0" rIns="0" bIns="0" wrap="none">
            <a:noAutofit/>
          </a:bodyPr>
          <a:p>
            <a:pPr algn="r" indent="0"/>
            <a:r>
              <a:rPr lang="en-US" b="1" sz="450">
                <a:latin typeface="Arial"/>
              </a:rPr>
              <a:t>cache field</a:t>
            </a:r>
          </a:p>
        </p:txBody>
      </p:sp>
      <p:sp>
        <p:nvSpPr>
          <p:cNvPr id="73" name=""/>
          <p:cNvSpPr/>
          <p:nvPr/>
        </p:nvSpPr>
        <p:spPr>
          <a:xfrm>
            <a:off x="15142464" y="7650480"/>
            <a:ext cx="999744" cy="8595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864"/>
              </a:lnSpc>
            </a:pPr>
            <a:r>
              <a:rPr lang="en-US" b="1" sz="450">
                <a:solidFill>
                  <a:srgbClr val="5C5B52"/>
                </a:solidFill>
                <a:latin typeface="Arial"/>
              </a:rPr>
              <a:t>cid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VARCHAR(255)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00">
                <a:solidFill>
                  <a:srgbClr val="5C5B52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data LONGBLOB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expire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created INT(11)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serialized SMALLINT(6)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 </a:t>
            </a:r>
            <a:r>
              <a:rPr lang="en-US" b="1" sz="400">
                <a:solidFill>
                  <a:srgbClr val="353841"/>
                </a:solidFill>
                <a:latin typeface="Courier New"/>
              </a:rPr>
              <a:t>y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tags LONGTEXT </a:t>
            </a:r>
            <a:r>
              <a:rPr lang="en-US" sz="400">
                <a:solidFill>
                  <a:srgbClr val="5C5B52"/>
                </a:solidFill>
                <a:latin typeface="Arial"/>
              </a:rPr>
              <a:t>y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check sum. invalidations INT (11)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 </a:t>
            </a:r>
            <a:r>
              <a:rPr lang="en-US" b="1" sz="450">
                <a:solidFill>
                  <a:srgbClr val="5C5B52"/>
                </a:solidFill>
                <a:latin typeface="Arial"/>
              </a:rPr>
              <a:t>ychecksum deletions </a:t>
            </a:r>
            <a:r>
              <a:rPr lang="en-US" b="1" sz="450">
                <a:solidFill>
                  <a:srgbClr val="353841"/>
                </a:solidFill>
                <a:latin typeface="Arial"/>
              </a:rPr>
              <a:t>INT( 11) </a:t>
            </a:r>
            <a:r>
              <a:rPr lang="en-US" b="1" baseline="-25000" sz="450">
                <a:solidFill>
                  <a:srgbClr val="5C5B52"/>
                </a:solidFill>
                <a:latin typeface="Arial"/>
              </a:rPr>
              <a:t>NN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429000" y="1865376"/>
            <a:ext cx="3069336" cy="657453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6565392" y="1990344"/>
            <a:ext cx="6321552" cy="679704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658368" y="609600"/>
            <a:ext cx="5663184" cy="107899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Any Form</a:t>
            </a:r>
          </a:p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For all forms, all fields, all values you'll ever need.</a:t>
            </a:r>
          </a:p>
        </p:txBody>
      </p:sp>
      <p:sp>
        <p:nvSpPr>
          <p:cNvPr id="5" name=""/>
          <p:cNvSpPr/>
          <p:nvPr/>
        </p:nvSpPr>
        <p:spPr>
          <a:xfrm>
            <a:off x="3425952" y="8446008"/>
            <a:ext cx="1554480" cy="44805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marL="114300" indent="0"/>
            <a:r>
              <a:rPr lang="en-US" b="1" u="sng" sz="2300">
                <a:latin typeface="Tahoma"/>
              </a:rPr>
              <a:t>id: String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8951976"/>
            <a:ext cx="11704320" cy="19202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3655040" y="8951976"/>
            <a:ext cx="2599944" cy="192024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1200912" y="1447800"/>
            <a:ext cx="5367528" cy="6217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5250"/>
              </a:spcAft>
            </a:pPr>
            <a:r>
              <a:rPr lang="en-US" b="1" sz="5800">
                <a:latin typeface="Tahoma"/>
              </a:rPr>
              <a:t>Wait a minute</a:t>
            </a:r>
          </a:p>
        </p:txBody>
      </p:sp>
      <p:sp>
        <p:nvSpPr>
          <p:cNvPr id="6" name=""/>
          <p:cNvSpPr/>
          <p:nvPr/>
        </p:nvSpPr>
        <p:spPr>
          <a:xfrm>
            <a:off x="1237488" y="3029712"/>
            <a:ext cx="10692384" cy="269138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688"/>
              </a:lnSpc>
              <a:spcBef>
                <a:spcPts val="5250"/>
              </a:spcBef>
            </a:pPr>
            <a:r>
              <a:rPr lang="en-US" b="1" sz="2200">
                <a:solidFill>
                  <a:srgbClr val="5C5B52"/>
                </a:solidFill>
                <a:latin typeface="Calibri"/>
              </a:rPr>
              <a:t>•    </a:t>
            </a:r>
            <a:r>
              <a:rPr lang="en-US" b="1" i="1" sz="4000">
                <a:solidFill>
                  <a:srgbClr val="5C5B52"/>
                </a:solidFill>
                <a:latin typeface="Calibri"/>
              </a:rPr>
              <a:t>What if they fill out lots of forms?</a:t>
            </a:r>
          </a:p>
          <a:p>
            <a:pPr algn="just" indent="0">
              <a:lnSpc>
                <a:spcPts val="5688"/>
              </a:lnSpc>
            </a:pPr>
            <a:r>
              <a:rPr lang="en-US" b="1" i="1" sz="4000">
                <a:solidFill>
                  <a:srgbClr val="5C5B52"/>
                </a:solidFill>
                <a:latin typeface="Calibri"/>
              </a:rPr>
              <a:t>•    What if they respond to the same form twice?</a:t>
            </a:r>
          </a:p>
          <a:p>
            <a:pPr algn="just" indent="0">
              <a:lnSpc>
                <a:spcPts val="5688"/>
              </a:lnSpc>
            </a:pPr>
            <a:r>
              <a:rPr lang="en-US" b="1" i="1" sz="4000">
                <a:solidFill>
                  <a:srgbClr val="5C5B52"/>
                </a:solidFill>
                <a:latin typeface="Calibri"/>
              </a:rPr>
              <a:t>•    What if responses to forms are linked together?</a:t>
            </a:r>
          </a:p>
          <a:p>
            <a:pPr algn="just" indent="0">
              <a:lnSpc>
                <a:spcPts val="5688"/>
              </a:lnSpc>
            </a:pPr>
            <a:r>
              <a:rPr lang="en-US" b="1" i="1" sz="4000">
                <a:solidFill>
                  <a:srgbClr val="5C5B52"/>
                </a:solidFill>
                <a:latin typeface="Calibri"/>
              </a:rPr>
              <a:t>•    Are we missing a concept?</a:t>
            </a:r>
          </a:p>
        </p:txBody>
      </p:sp>
      <p:sp>
        <p:nvSpPr>
          <p:cNvPr id="7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60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443984" y="164592"/>
            <a:ext cx="11740896" cy="8924544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713232" y="627888"/>
            <a:ext cx="6278880" cy="63398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1470"/>
              </a:spcAft>
            </a:pPr>
            <a:r>
              <a:rPr lang="en-US" b="1" sz="5000" spc="-100">
                <a:solidFill>
                  <a:srgbClr val="5C5B52"/>
                </a:solidFill>
                <a:latin typeface="Arial"/>
              </a:rPr>
              <a:t>Responses to Forms</a:t>
            </a:r>
          </a:p>
        </p:txBody>
      </p:sp>
      <p:sp>
        <p:nvSpPr>
          <p:cNvPr id="4" name=""/>
          <p:cNvSpPr/>
          <p:nvPr/>
        </p:nvSpPr>
        <p:spPr>
          <a:xfrm>
            <a:off x="697992" y="1411224"/>
            <a:ext cx="5608320" cy="2621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000">
                <a:solidFill>
                  <a:srgbClr val="979799"/>
                </a:solidFill>
                <a:latin typeface="Arial"/>
              </a:rPr>
              <a:t>For all forms, all fields, all values you'll ever need.</a:t>
            </a:r>
          </a:p>
        </p:txBody>
      </p:sp>
      <p:sp>
        <p:nvSpPr>
          <p:cNvPr id="5" name=""/>
          <p:cNvSpPr/>
          <p:nvPr/>
        </p:nvSpPr>
        <p:spPr>
          <a:xfrm>
            <a:off x="13648944" y="8570976"/>
            <a:ext cx="512064" cy="22250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1700">
                <a:solidFill>
                  <a:srgbClr val="353841"/>
                </a:solidFill>
                <a:latin typeface="Arial"/>
              </a:rPr>
              <a:t>Field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12192"/>
            <a:ext cx="16254984" cy="913180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2062913" y="1526827"/>
            <a:ext cx="719305" cy="26465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2083271" y="6161597"/>
            <a:ext cx="678590" cy="773592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3396342" y="2157916"/>
            <a:ext cx="12438555" cy="1801656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>
          <a:blip r:embed="rPictId3"/>
          <a:stretch>
            <a:fillRect/>
          </a:stretch>
        </p:blipFill>
        <p:spPr>
          <a:xfrm>
            <a:off x="5666226" y="4441371"/>
            <a:ext cx="3375985" cy="763414"/>
          </a:xfrm>
          <a:prstGeom prst="rect">
            <a:avLst/>
          </a:prstGeom>
        </p:spPr>
      </p:pic>
      <p:pic>
        <p:nvPicPr>
          <p:cNvPr id="6" name=""/>
          <p:cNvPicPr>
            <a:picLocks noChangeAspect="1"/>
          </p:cNvPicPr>
          <p:nvPr/>
        </p:nvPicPr>
        <p:blipFill>
          <a:blip r:embed="rPictId4"/>
          <a:stretch>
            <a:fillRect/>
          </a:stretch>
        </p:blipFill>
        <p:spPr>
          <a:xfrm>
            <a:off x="4865490" y="6226063"/>
            <a:ext cx="3311519" cy="1170567"/>
          </a:xfrm>
          <a:prstGeom prst="rect">
            <a:avLst/>
          </a:prstGeom>
        </p:spPr>
      </p:pic>
      <p:pic>
        <p:nvPicPr>
          <p:cNvPr id="7" name=""/>
          <p:cNvPicPr>
            <a:picLocks noChangeAspect="1"/>
          </p:cNvPicPr>
          <p:nvPr/>
        </p:nvPicPr>
        <p:blipFill>
          <a:blip r:embed="rPictId5"/>
          <a:stretch>
            <a:fillRect/>
          </a:stretch>
        </p:blipFill>
        <p:spPr>
          <a:xfrm>
            <a:off x="8462017" y="6317672"/>
            <a:ext cx="468227" cy="156076"/>
          </a:xfrm>
          <a:prstGeom prst="rect">
            <a:avLst/>
          </a:prstGeom>
        </p:spPr>
      </p:pic>
      <p:pic>
        <p:nvPicPr>
          <p:cNvPr id="8" name=""/>
          <p:cNvPicPr>
            <a:picLocks noChangeAspect="1"/>
          </p:cNvPicPr>
          <p:nvPr/>
        </p:nvPicPr>
        <p:blipFill>
          <a:blip r:embed="rPictId6"/>
          <a:stretch>
            <a:fillRect/>
          </a:stretch>
        </p:blipFill>
        <p:spPr>
          <a:xfrm>
            <a:off x="8462017" y="6986083"/>
            <a:ext cx="1360572" cy="424119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PictId7"/>
          <a:stretch>
            <a:fillRect/>
          </a:stretch>
        </p:blipFill>
        <p:spPr>
          <a:xfrm>
            <a:off x="10046524" y="5506757"/>
            <a:ext cx="1333429" cy="2025591"/>
          </a:xfrm>
          <a:prstGeom prst="rect">
            <a:avLst/>
          </a:prstGeom>
        </p:spPr>
      </p:pic>
      <p:sp>
        <p:nvSpPr>
          <p:cNvPr id="10" name=""/>
          <p:cNvSpPr/>
          <p:nvPr/>
        </p:nvSpPr>
        <p:spPr>
          <a:xfrm>
            <a:off x="1659152" y="2402208"/>
            <a:ext cx="1547185" cy="19000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10353"/>
              </a:lnSpc>
            </a:pPr>
            <a:r>
              <a:rPr lang="en-US" b="1" sz="2000" spc="-50">
                <a:latin typeface="Arial"/>
              </a:rPr>
              <a:t>Card Issuer</a:t>
            </a:r>
          </a:p>
          <a:p>
            <a:pPr marL="406400" indent="0">
              <a:lnSpc>
                <a:spcPts val="10353"/>
              </a:lnSpc>
            </a:pPr>
            <a:r>
              <a:rPr lang="en-US" b="1" sz="5000" spc="-100">
                <a:latin typeface="Arial"/>
              </a:rPr>
              <a:t>&amp;</a:t>
            </a:r>
          </a:p>
          <a:p>
            <a:pPr indent="0"/>
            <a:r>
              <a:rPr lang="en-US" b="1" sz="2000" spc="-50">
                <a:latin typeface="Arial"/>
              </a:rPr>
              <a:t>Card Holder</a:t>
            </a:r>
          </a:p>
        </p:txBody>
      </p:sp>
      <p:sp>
        <p:nvSpPr>
          <p:cNvPr id="11" name=""/>
          <p:cNvSpPr/>
          <p:nvPr/>
        </p:nvSpPr>
        <p:spPr>
          <a:xfrm>
            <a:off x="1805049" y="7104837"/>
            <a:ext cx="1241820" cy="234113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2000" spc="-50">
                <a:latin typeface="Arial"/>
              </a:rPr>
              <a:t>Fraudster</a:t>
            </a:r>
          </a:p>
        </p:txBody>
      </p:sp>
      <p:sp>
        <p:nvSpPr>
          <p:cNvPr id="12" name=""/>
          <p:cNvSpPr/>
          <p:nvPr/>
        </p:nvSpPr>
        <p:spPr>
          <a:xfrm>
            <a:off x="4356547" y="6640002"/>
            <a:ext cx="403761" cy="19000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latin typeface="Arial"/>
              </a:rPr>
              <a:t>USE</a:t>
            </a:r>
          </a:p>
        </p:txBody>
      </p:sp>
      <p:sp>
        <p:nvSpPr>
          <p:cNvPr id="13" name=""/>
          <p:cNvSpPr/>
          <p:nvPr/>
        </p:nvSpPr>
        <p:spPr>
          <a:xfrm>
            <a:off x="5611939" y="5262465"/>
            <a:ext cx="3501524" cy="390189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1590"/>
              </a:lnSpc>
            </a:pPr>
            <a:r>
              <a:rPr lang="en-US" b="1" sz="1200">
                <a:latin typeface="Arial"/>
              </a:rPr>
              <a:t>Terminal    ATM-    Data Breach</a:t>
            </a:r>
          </a:p>
          <a:p>
            <a:pPr marL="1257300" indent="0">
              <a:lnSpc>
                <a:spcPts val="1590"/>
              </a:lnSpc>
            </a:pPr>
            <a:r>
              <a:rPr lang="en-US" b="1" sz="1200">
                <a:latin typeface="Arial"/>
              </a:rPr>
              <a:t>skimming</a:t>
            </a:r>
          </a:p>
        </p:txBody>
      </p:sp>
      <p:sp>
        <p:nvSpPr>
          <p:cNvPr id="14" name=""/>
          <p:cNvSpPr/>
          <p:nvPr/>
        </p:nvSpPr>
        <p:spPr>
          <a:xfrm>
            <a:off x="8448445" y="6640002"/>
            <a:ext cx="1394502" cy="19000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/>
            <a:r>
              <a:rPr lang="en-US" sz="1500">
                <a:latin typeface="Arial"/>
              </a:rPr>
              <a:t>- MAKES</a:t>
            </a:r>
          </a:p>
        </p:txBody>
      </p:sp>
      <p:sp>
        <p:nvSpPr>
          <p:cNvPr id="15" name=""/>
          <p:cNvSpPr/>
          <p:nvPr/>
        </p:nvSpPr>
        <p:spPr>
          <a:xfrm>
            <a:off x="10579217" y="4946920"/>
            <a:ext cx="943240" cy="28500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2000" spc="-50">
                <a:solidFill>
                  <a:srgbClr val="BD0F06"/>
                </a:solidFill>
                <a:latin typeface="Arial"/>
              </a:rPr>
              <a:t>Testing</a:t>
            </a:r>
          </a:p>
        </p:txBody>
      </p:sp>
      <p:sp>
        <p:nvSpPr>
          <p:cNvPr id="16" name=""/>
          <p:cNvSpPr/>
          <p:nvPr/>
        </p:nvSpPr>
        <p:spPr>
          <a:xfrm>
            <a:off x="14338606" y="4353154"/>
            <a:ext cx="183219" cy="80073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840"/>
              </a:spcAft>
            </a:pPr>
            <a:r>
              <a:rPr lang="en-US" b="1" sz="3100" spc="-50">
                <a:solidFill>
                  <a:srgbClr val="5C5B52"/>
                </a:solidFill>
                <a:latin typeface="Arial"/>
              </a:rPr>
              <a:t>t</a:t>
            </a:r>
          </a:p>
          <a:p>
            <a:pPr indent="0"/>
            <a:r>
              <a:rPr lang="en-US" sz="550">
                <a:latin typeface="Arial"/>
              </a:rPr>
              <a:t>i—</a:t>
            </a:r>
          </a:p>
        </p:txBody>
      </p:sp>
      <p:sp>
        <p:nvSpPr>
          <p:cNvPr id="17" name=""/>
          <p:cNvSpPr/>
          <p:nvPr/>
        </p:nvSpPr>
        <p:spPr>
          <a:xfrm>
            <a:off x="12302836" y="6640002"/>
            <a:ext cx="702340" cy="190006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latin typeface="Arial"/>
              </a:rPr>
              <a:t>MAKES</a:t>
            </a:r>
          </a:p>
        </p:txBody>
      </p:sp>
      <p:sp>
        <p:nvSpPr>
          <p:cNvPr id="18" name=""/>
          <p:cNvSpPr/>
          <p:nvPr/>
        </p:nvSpPr>
        <p:spPr>
          <a:xfrm>
            <a:off x="14036633" y="6616252"/>
            <a:ext cx="726092" cy="264650"/>
          </a:xfrm>
          <a:prstGeom prst="rect">
            <a:avLst/>
          </a:prstGeom>
          <a:solidFill>
            <a:srgbClr val="DADFE5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2000" spc="-50">
                <a:solidFill>
                  <a:srgbClr val="5C5B52"/>
                </a:solidFill>
                <a:latin typeface="Arial"/>
              </a:rPr>
              <a:t>$4000</a:t>
            </a:r>
          </a:p>
        </p:txBody>
      </p:sp>
      <p:sp>
        <p:nvSpPr>
          <p:cNvPr id="19" name=""/>
          <p:cNvSpPr/>
          <p:nvPr/>
        </p:nvSpPr>
        <p:spPr>
          <a:xfrm>
            <a:off x="10833689" y="7518776"/>
            <a:ext cx="444476" cy="264651"/>
          </a:xfrm>
          <a:prstGeom prst="rect">
            <a:avLst/>
          </a:prstGeom>
          <a:solidFill>
            <a:srgbClr val="DADFE5"/>
          </a:solidFill>
        </p:spPr>
        <p:txBody>
          <a:bodyPr lIns="0" tIns="0" rIns="0" bIns="0" wrap="none">
            <a:noAutofit/>
          </a:bodyPr>
          <a:p>
            <a:pPr indent="0"/>
            <a:r>
              <a:rPr lang="en-US" b="1" sz="2000" spc="-50">
                <a:solidFill>
                  <a:srgbClr val="5C5B52"/>
                </a:solidFill>
                <a:latin typeface="Arial"/>
              </a:rPr>
              <a:t>$10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300984" y="121920"/>
            <a:ext cx="8702040" cy="5087112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350264" y="5654040"/>
            <a:ext cx="536448" cy="557784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3600176" y="5428488"/>
            <a:ext cx="1146048" cy="981456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646176" y="5830824"/>
            <a:ext cx="457200" cy="1859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latin typeface="Arial"/>
              </a:rPr>
              <a:t>John</a:t>
            </a:r>
          </a:p>
        </p:txBody>
      </p:sp>
      <p:sp>
        <p:nvSpPr>
          <p:cNvPr id="6" name=""/>
          <p:cNvSpPr/>
          <p:nvPr/>
        </p:nvSpPr>
        <p:spPr>
          <a:xfrm>
            <a:off x="3322320" y="5846064"/>
            <a:ext cx="1219200" cy="8382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5232"/>
              </a:lnSpc>
            </a:pPr>
            <a:r>
              <a:rPr lang="en-US" sz="1500">
                <a:solidFill>
                  <a:srgbClr val="C4C4C4"/>
                </a:solidFill>
                <a:latin typeface="Arial"/>
              </a:rPr>
              <a:t>Tx </a:t>
            </a:r>
            <a:r>
              <a:rPr lang="en-US" sz="1500">
                <a:solidFill>
                  <a:srgbClr val="F3E2C1"/>
                </a:solidFill>
                <a:latin typeface="Arial"/>
              </a:rPr>
              <a:t>i | </a:t>
            </a:r>
            <a:r>
              <a:rPr lang="en-US" sz="1500">
                <a:solidFill>
                  <a:srgbClr val="979799"/>
                </a:solidFill>
                <a:latin typeface="Arial"/>
              </a:rPr>
              <a:t>Tx</a:t>
            </a:r>
          </a:p>
          <a:p>
            <a:pPr indent="0">
              <a:lnSpc>
                <a:spcPts val="5232"/>
              </a:lnSpc>
            </a:pPr>
            <a:r>
              <a:rPr lang="en-US" sz="3300">
                <a:solidFill>
                  <a:srgbClr val="B5E580"/>
                </a:solidFill>
                <a:latin typeface="MS Gothic"/>
              </a:rPr>
              <a:t>✓ ✓</a:t>
            </a:r>
          </a:p>
        </p:txBody>
      </p:sp>
      <p:sp>
        <p:nvSpPr>
          <p:cNvPr id="7" name=""/>
          <p:cNvSpPr/>
          <p:nvPr/>
        </p:nvSpPr>
        <p:spPr>
          <a:xfrm>
            <a:off x="4968240" y="5852160"/>
            <a:ext cx="2852928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184"/>
              </a:lnSpc>
            </a:pPr>
            <a:r>
              <a:rPr lang="en-US" sz="1500">
                <a:solidFill>
                  <a:srgbClr val="5C5B52"/>
                </a:solidFill>
                <a:latin typeface="Arial"/>
              </a:rPr>
              <a:t>Tx    Tx Tx    Tx</a:t>
            </a:r>
          </a:p>
          <a:p>
            <a:pPr algn="just" indent="0">
              <a:lnSpc>
                <a:spcPts val="5184"/>
              </a:lnSpc>
            </a:pPr>
            <a:r>
              <a:rPr lang="en-US" sz="3300">
                <a:solidFill>
                  <a:srgbClr val="7ED220"/>
                </a:solidFill>
                <a:latin typeface="MS Gothic"/>
              </a:rPr>
              <a:t>✓    ✓    ✓    ✓</a:t>
            </a:r>
          </a:p>
        </p:txBody>
      </p:sp>
      <p:sp>
        <p:nvSpPr>
          <p:cNvPr id="8" name=""/>
          <p:cNvSpPr/>
          <p:nvPr/>
        </p:nvSpPr>
        <p:spPr>
          <a:xfrm>
            <a:off x="8293608" y="5852160"/>
            <a:ext cx="1234440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184"/>
              </a:lnSpc>
            </a:pPr>
            <a:r>
              <a:rPr lang="en-US" sz="1500">
                <a:solidFill>
                  <a:srgbClr val="5C5B52"/>
                </a:solidFill>
                <a:latin typeface="Arial"/>
              </a:rPr>
              <a:t>Tx    Tx</a:t>
            </a:r>
          </a:p>
          <a:p>
            <a:pPr algn="just" indent="0">
              <a:lnSpc>
                <a:spcPts val="5184"/>
              </a:lnSpc>
            </a:pPr>
            <a:r>
              <a:rPr lang="en-US" sz="3300">
                <a:solidFill>
                  <a:srgbClr val="7ED220"/>
                </a:solidFill>
                <a:latin typeface="MS Gothic"/>
              </a:rPr>
              <a:t>✓    ✓</a:t>
            </a:r>
          </a:p>
        </p:txBody>
      </p:sp>
      <p:sp>
        <p:nvSpPr>
          <p:cNvPr id="9" name=""/>
          <p:cNvSpPr/>
          <p:nvPr/>
        </p:nvSpPr>
        <p:spPr>
          <a:xfrm>
            <a:off x="10012680" y="5852160"/>
            <a:ext cx="414528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680"/>
              </a:spcAft>
            </a:pPr>
            <a:r>
              <a:rPr lang="en-US" sz="1500">
                <a:solidFill>
                  <a:srgbClr val="5C5B52"/>
                </a:solidFill>
                <a:latin typeface="Arial"/>
              </a:rPr>
              <a:t>Tx</a:t>
            </a:r>
          </a:p>
          <a:p>
            <a:pPr indent="0"/>
            <a:r>
              <a:rPr lang="en-US" b="1" sz="3100">
                <a:solidFill>
                  <a:srgbClr val="7ED220"/>
                </a:solidFill>
                <a:latin typeface="Arial"/>
              </a:rPr>
              <a:t>✓</a:t>
            </a:r>
          </a:p>
        </p:txBody>
      </p:sp>
      <p:sp>
        <p:nvSpPr>
          <p:cNvPr id="10" name=""/>
          <p:cNvSpPr/>
          <p:nvPr/>
        </p:nvSpPr>
        <p:spPr>
          <a:xfrm>
            <a:off x="10896600" y="5590032"/>
            <a:ext cx="2267712" cy="10942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aseline="30000" sz="1500">
                <a:solidFill>
                  <a:srgbClr val="5C5B52"/>
                </a:solidFill>
                <a:latin typeface="Arial"/>
              </a:rPr>
              <a:t>Tx Tx</a:t>
            </a:r>
          </a:p>
          <a:p>
            <a:pPr indent="0"/>
            <a:r>
              <a:rPr lang="en-US" b="1" sz="2000" spc="-50">
                <a:solidFill>
                  <a:srgbClr val="7ED220"/>
                </a:solidFill>
                <a:latin typeface="Arial"/>
              </a:rPr>
              <a:t>✓ ✓ </a:t>
            </a:r>
            <a:r>
              <a:rPr lang="en-US" b="1" sz="2000" spc="-50">
                <a:solidFill>
                  <a:srgbClr val="BD0F06"/>
                </a:solidFill>
                <a:latin typeface="Arial"/>
              </a:rPr>
              <a:t>$2000</a:t>
            </a:r>
          </a:p>
        </p:txBody>
      </p:sp>
      <p:sp>
        <p:nvSpPr>
          <p:cNvPr id="11" name=""/>
          <p:cNvSpPr/>
          <p:nvPr/>
        </p:nvSpPr>
        <p:spPr>
          <a:xfrm>
            <a:off x="15002256" y="5696712"/>
            <a:ext cx="911352" cy="4328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Computer</a:t>
            </a:r>
          </a:p>
          <a:p>
            <a:pPr marL="228600" indent="0"/>
            <a:r>
              <a:rPr lang="en-US" sz="1500">
                <a:latin typeface="Arial"/>
              </a:rPr>
              <a:t>Store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304032" y="121920"/>
            <a:ext cx="8692896" cy="508406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350264" y="5654040"/>
            <a:ext cx="536448" cy="548640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13600176" y="5428488"/>
            <a:ext cx="1146048" cy="981456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646176" y="5830824"/>
            <a:ext cx="457200" cy="1859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latin typeface="Arial"/>
              </a:rPr>
              <a:t>John</a:t>
            </a:r>
          </a:p>
        </p:txBody>
      </p:sp>
      <p:sp>
        <p:nvSpPr>
          <p:cNvPr id="6" name=""/>
          <p:cNvSpPr/>
          <p:nvPr/>
        </p:nvSpPr>
        <p:spPr>
          <a:xfrm>
            <a:off x="3322320" y="5846064"/>
            <a:ext cx="1219200" cy="8382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lnSpc>
                <a:spcPts val="5232"/>
              </a:lnSpc>
            </a:pPr>
            <a:r>
              <a:rPr lang="en-US" sz="1500">
                <a:solidFill>
                  <a:srgbClr val="C4C4C4"/>
                </a:solidFill>
                <a:latin typeface="Arial"/>
              </a:rPr>
              <a:t>Tx </a:t>
            </a:r>
            <a:r>
              <a:rPr lang="en-US" sz="1500">
                <a:solidFill>
                  <a:srgbClr val="F3E2C1"/>
                </a:solidFill>
                <a:latin typeface="Arial"/>
              </a:rPr>
              <a:t>i I </a:t>
            </a:r>
            <a:r>
              <a:rPr lang="en-US" sz="1500">
                <a:solidFill>
                  <a:srgbClr val="979799"/>
                </a:solidFill>
                <a:latin typeface="Arial"/>
              </a:rPr>
              <a:t>Tx</a:t>
            </a:r>
          </a:p>
          <a:p>
            <a:pPr indent="0">
              <a:lnSpc>
                <a:spcPts val="5232"/>
              </a:lnSpc>
            </a:pPr>
            <a:r>
              <a:rPr lang="en-US" b="1" sz="3100">
                <a:solidFill>
                  <a:srgbClr val="B5E580"/>
                </a:solidFill>
                <a:latin typeface="Arial"/>
              </a:rPr>
              <a:t>✓ ✓</a:t>
            </a:r>
          </a:p>
        </p:txBody>
      </p:sp>
      <p:sp>
        <p:nvSpPr>
          <p:cNvPr id="7" name=""/>
          <p:cNvSpPr/>
          <p:nvPr/>
        </p:nvSpPr>
        <p:spPr>
          <a:xfrm>
            <a:off x="4968240" y="5852160"/>
            <a:ext cx="2852928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184"/>
              </a:lnSpc>
            </a:pPr>
            <a:r>
              <a:rPr lang="en-US" sz="1500">
                <a:solidFill>
                  <a:srgbClr val="5C5B52"/>
                </a:solidFill>
                <a:latin typeface="Arial"/>
              </a:rPr>
              <a:t>Tx    Tx Tx    Tx</a:t>
            </a:r>
          </a:p>
          <a:p>
            <a:pPr algn="just" indent="0">
              <a:lnSpc>
                <a:spcPts val="5184"/>
              </a:lnSpc>
            </a:pPr>
            <a:r>
              <a:rPr lang="en-US" sz="3300">
                <a:solidFill>
                  <a:srgbClr val="7ED220"/>
                </a:solidFill>
                <a:latin typeface="MS Gothic"/>
              </a:rPr>
              <a:t>✓    ✓    ✓    ✓</a:t>
            </a:r>
          </a:p>
        </p:txBody>
      </p:sp>
      <p:sp>
        <p:nvSpPr>
          <p:cNvPr id="8" name=""/>
          <p:cNvSpPr/>
          <p:nvPr/>
        </p:nvSpPr>
        <p:spPr>
          <a:xfrm>
            <a:off x="8293608" y="5852160"/>
            <a:ext cx="1234440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184"/>
              </a:lnSpc>
            </a:pPr>
            <a:r>
              <a:rPr lang="en-US" sz="1500">
                <a:solidFill>
                  <a:srgbClr val="5C5B52"/>
                </a:solidFill>
                <a:latin typeface="Arial"/>
              </a:rPr>
              <a:t>Tx    Tx</a:t>
            </a:r>
          </a:p>
          <a:p>
            <a:pPr algn="just" indent="0">
              <a:lnSpc>
                <a:spcPts val="5184"/>
              </a:lnSpc>
            </a:pPr>
            <a:r>
              <a:rPr lang="en-US" b="1" sz="3100">
                <a:solidFill>
                  <a:srgbClr val="7ED220"/>
                </a:solidFill>
                <a:latin typeface="Arial"/>
              </a:rPr>
              <a:t>✓    ✓</a:t>
            </a:r>
          </a:p>
        </p:txBody>
      </p:sp>
      <p:sp>
        <p:nvSpPr>
          <p:cNvPr id="9" name=""/>
          <p:cNvSpPr/>
          <p:nvPr/>
        </p:nvSpPr>
        <p:spPr>
          <a:xfrm>
            <a:off x="10012680" y="5852160"/>
            <a:ext cx="414528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680"/>
              </a:spcAft>
            </a:pPr>
            <a:r>
              <a:rPr lang="en-US" sz="1500">
                <a:solidFill>
                  <a:srgbClr val="5C5B52"/>
                </a:solidFill>
                <a:latin typeface="Arial"/>
              </a:rPr>
              <a:t>Tx</a:t>
            </a:r>
          </a:p>
          <a:p>
            <a:pPr indent="0"/>
            <a:r>
              <a:rPr lang="en-US" b="1" sz="3100">
                <a:solidFill>
                  <a:srgbClr val="7ED220"/>
                </a:solidFill>
                <a:latin typeface="Arial"/>
              </a:rPr>
              <a:t>✓</a:t>
            </a:r>
          </a:p>
        </p:txBody>
      </p:sp>
      <p:sp>
        <p:nvSpPr>
          <p:cNvPr id="10" name=""/>
          <p:cNvSpPr/>
          <p:nvPr/>
        </p:nvSpPr>
        <p:spPr>
          <a:xfrm>
            <a:off x="10896600" y="5590032"/>
            <a:ext cx="2267712" cy="10942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aseline="30000" sz="1500">
                <a:solidFill>
                  <a:srgbClr val="5C5B52"/>
                </a:solidFill>
                <a:latin typeface="Arial"/>
              </a:rPr>
              <a:t>Tx Tx</a:t>
            </a:r>
          </a:p>
          <a:p>
            <a:pPr indent="0"/>
            <a:r>
              <a:rPr lang="en-US" b="1" sz="2000" spc="-50">
                <a:solidFill>
                  <a:srgbClr val="7ED220"/>
                </a:solidFill>
                <a:latin typeface="Arial"/>
              </a:rPr>
              <a:t>✓ ✓ </a:t>
            </a:r>
            <a:r>
              <a:rPr lang="en-US" b="1" sz="2000" spc="-50">
                <a:solidFill>
                  <a:srgbClr val="BD0F06"/>
                </a:solidFill>
                <a:latin typeface="Arial"/>
              </a:rPr>
              <a:t>$2000</a:t>
            </a:r>
          </a:p>
        </p:txBody>
      </p:sp>
      <p:sp>
        <p:nvSpPr>
          <p:cNvPr id="11" name=""/>
          <p:cNvSpPr/>
          <p:nvPr/>
        </p:nvSpPr>
        <p:spPr>
          <a:xfrm>
            <a:off x="15002256" y="5696712"/>
            <a:ext cx="911352" cy="4328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Computer</a:t>
            </a:r>
          </a:p>
          <a:p>
            <a:pPr marL="228600" indent="0"/>
            <a:r>
              <a:rPr lang="en-US" sz="1500">
                <a:latin typeface="Arial"/>
              </a:rPr>
              <a:t>Store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350264" y="5654040"/>
            <a:ext cx="536448" cy="557784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13600176" y="5428488"/>
            <a:ext cx="1146048" cy="981456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3419856" y="243840"/>
            <a:ext cx="8442960" cy="17068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algn="just" indent="0">
              <a:lnSpc>
                <a:spcPts val="2784"/>
              </a:lnSpc>
            </a:pPr>
            <a:r>
              <a:rPr lang="en-US" sz="1050">
                <a:solidFill>
                  <a:srgbClr val="979799"/>
                </a:solidFill>
                <a:latin typeface="MS Gothic"/>
              </a:rPr>
              <a:t>$ MATCH p = (fraud:Fraudulent)-[:PREV_TX*]-&gt;(tx) WHERE fraud.date &gt; datetime(... dL </a:t>
            </a:r>
            <a:r>
              <a:rPr lang="en-US" i="1" sz="800" spc="100">
                <a:solidFill>
                  <a:srgbClr val="979799"/>
                </a:solidFill>
                <a:latin typeface="Palatino Linotype"/>
              </a:rPr>
              <a:t>&amp;    **    ^</a:t>
            </a:r>
            <a:r>
              <a:rPr lang="en-US" sz="1050">
                <a:solidFill>
                  <a:srgbClr val="979799"/>
                </a:solidFill>
                <a:latin typeface="MS Gothic"/>
              </a:rPr>
              <a:t> O X</a:t>
            </a:r>
          </a:p>
        </p:txBody>
      </p:sp>
      <p:sp>
        <p:nvSpPr>
          <p:cNvPr id="5" name=""/>
          <p:cNvSpPr/>
          <p:nvPr/>
        </p:nvSpPr>
        <p:spPr>
          <a:xfrm>
            <a:off x="3419856" y="585216"/>
            <a:ext cx="8442960" cy="21336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marL="1130300" indent="0">
              <a:lnSpc>
                <a:spcPts val="2784"/>
              </a:lnSpc>
            </a:pPr>
            <a:r>
              <a:rPr lang="en-US" b="1" sz="900" spc="-50">
                <a:solidFill>
                  <a:srgbClr val="645C22"/>
                </a:solidFill>
                <a:latin typeface="Arial"/>
              </a:rPr>
              <a:t>Transaction(37) </a:t>
            </a:r>
            <a:r>
              <a:rPr lang="en-US" b="1" sz="900" spc="-50">
                <a:solidFill>
                  <a:srgbClr val="F06566"/>
                </a:solidFill>
                <a:latin typeface="Arial"/>
              </a:rPr>
              <a:t>(SBBD</a:t>
            </a:r>
          </a:p>
        </p:txBody>
      </p:sp>
      <p:sp>
        <p:nvSpPr>
          <p:cNvPr id="6" name=""/>
          <p:cNvSpPr/>
          <p:nvPr/>
        </p:nvSpPr>
        <p:spPr>
          <a:xfrm>
            <a:off x="3383280" y="1481328"/>
            <a:ext cx="304800" cy="64617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050"/>
              </a:spcAft>
            </a:pPr>
            <a:r>
              <a:rPr lang="en-US" b="1" sz="600" spc="-50">
                <a:solidFill>
                  <a:srgbClr val="979799"/>
                </a:solidFill>
                <a:latin typeface="Arial"/>
              </a:rPr>
              <a:t>Table</a:t>
            </a:r>
          </a:p>
          <a:p>
            <a:pPr indent="0">
              <a:spcAft>
                <a:spcPts val="210"/>
              </a:spcAft>
            </a:pPr>
            <a:r>
              <a:rPr lang="en-US" sz="1800">
                <a:solidFill>
                  <a:srgbClr val="979799"/>
                </a:solidFill>
                <a:latin typeface="Arial"/>
              </a:rPr>
              <a:t>A</a:t>
            </a:r>
          </a:p>
          <a:p>
            <a:pPr indent="0"/>
            <a:r>
              <a:rPr lang="en-US" sz="600">
                <a:solidFill>
                  <a:srgbClr val="979799"/>
                </a:solidFill>
                <a:latin typeface="Arial"/>
              </a:rPr>
              <a:t>Text</a:t>
            </a:r>
          </a:p>
        </p:txBody>
      </p:sp>
      <p:sp>
        <p:nvSpPr>
          <p:cNvPr id="7" name=""/>
          <p:cNvSpPr/>
          <p:nvPr/>
        </p:nvSpPr>
        <p:spPr>
          <a:xfrm>
            <a:off x="3480816" y="2432304"/>
            <a:ext cx="121920" cy="85344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b="1" sz="450">
                <a:solidFill>
                  <a:srgbClr val="979799"/>
                </a:solidFill>
                <a:latin typeface="Arial"/>
              </a:rPr>
              <a:t>&gt;_</a:t>
            </a:r>
          </a:p>
        </p:txBody>
      </p:sp>
      <p:sp>
        <p:nvSpPr>
          <p:cNvPr id="8" name=""/>
          <p:cNvSpPr/>
          <p:nvPr/>
        </p:nvSpPr>
        <p:spPr>
          <a:xfrm>
            <a:off x="3383280" y="2627376"/>
            <a:ext cx="310896" cy="9144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600">
                <a:solidFill>
                  <a:srgbClr val="979799"/>
                </a:solidFill>
                <a:latin typeface="Arial"/>
              </a:rPr>
              <a:t>Code</a:t>
            </a:r>
          </a:p>
        </p:txBody>
      </p:sp>
      <p:graphicFrame>
        <p:nvGraphicFramePr>
          <p:cNvPr id="9" name=""/>
          <p:cNvGraphicFramePr>
            <a:graphicFrameLocks noGrp="1"/>
          </p:cNvGraphicFramePr>
          <p:nvPr/>
        </p:nvGraphicFramePr>
        <p:xfrm>
          <a:off x="3816096" y="832104"/>
          <a:ext cx="8016240" cy="3968496"/>
        </p:xfrm>
        <a:graphic>
          <a:graphicData uri="http://schemas.openxmlformats.org/drawingml/2006/table">
            <a:tbl>
              <a:tblPr/>
              <a:tblGrid>
                <a:gridCol w="780288"/>
                <a:gridCol w="5123688"/>
                <a:gridCol w="713232"/>
                <a:gridCol w="725424"/>
                <a:gridCol w="673608"/>
              </a:tblGrid>
              <a:tr h="307848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E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5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S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1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 H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</a:tr>
              <a:tr h="1182624">
                <a:tc>
                  <a:txBody>
                    <a:bodyPr lIns="0" tIns="0" rIns="0" bIns="0">
                      <a:noAutofit/>
                    </a:bodyPr>
                    <a:p>
                      <a:endParaRPr sz="56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just" marL="3213100" indent="0"/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*•)■-» &lt;». 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«. </a:t>
                      </a:r>
                      <a:r>
                        <a:rPr lang="en-US" sz="1000">
                          <a:solidFill>
                            <a:srgbClr val="B5E6F0"/>
                          </a:solidFill>
                          <a:latin typeface="Arial"/>
                        </a:rPr>
                        <a:t>-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---, </a:t>
                      </a:r>
                      <a:r>
                        <a:rPr lang="en-US" sz="1000">
                          <a:solidFill>
                            <a:srgbClr val="B5E6F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27000" indent="0"/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( </a:t>
                      </a:r>
                      <a:r>
                        <a:rPr lang="en-US" i="1" sz="1000" spc="-50">
                          <a:solidFill>
                            <a:srgbClr val="7C9D65"/>
                          </a:solidFill>
                          <a:latin typeface="Arial"/>
                        </a:rPr>
                        <a:t>tkM )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000">
                          <a:solidFill>
                            <a:srgbClr val="B5E6F0"/>
                          </a:solidFill>
                          <a:latin typeface="Arial"/>
                        </a:rPr>
                        <a:t>_____ - </a:t>
                      </a:r>
                      <a:r>
                        <a:rPr lang="en-US" sz="1000" spc="-100">
                          <a:solidFill>
                            <a:srgbClr val="979799"/>
                          </a:solidFill>
                          <a:latin typeface="Arial"/>
                        </a:rPr>
                        <a:t>l»«V 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317500" indent="0"/>
                      <a:r>
                        <a:rPr lang="en-US" baseline="30000" sz="1000">
                          <a:solidFill>
                            <a:srgbClr val="F0656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/>
                </a:tc>
              </a:tr>
              <a:tr h="122224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3100">
                          <a:solidFill>
                            <a:srgbClr val="7C9D65"/>
                          </a:solidFill>
                          <a:latin typeface="Arial"/>
                        </a:rPr>
                        <a:t>© </a:t>
                      </a:r>
                      <a:r>
                        <a:rPr lang="en-US" b="1" sz="3100">
                          <a:solidFill>
                            <a:srgbClr val="C4C4C4"/>
                          </a:solidFill>
                          <a:latin typeface="Arial"/>
                        </a:rPr>
                        <a:t>...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630"/>
                        </a:spcAft>
                      </a:pPr>
                      <a:r>
                        <a:rPr lang="en-US" baseline="30000" sz="1000" spc="-100">
                          <a:solidFill>
                            <a:srgbClr val="979799"/>
                          </a:solidFill>
                          <a:latin typeface="Arial"/>
                        </a:rPr>
                        <a:t>(</a:t>
                      </a:r>
                      <a:r>
                        <a:rPr lang="en-US" sz="1000" spc="-100">
                          <a:solidFill>
                            <a:srgbClr val="979799"/>
                          </a:solidFill>
                          <a:latin typeface="Arial"/>
                        </a:rPr>
                        <a:t>w</a:t>
                      </a:r>
                      <a:r>
                        <a:rPr lang="en-US" baseline="30000" sz="1000" spc="-100">
                          <a:solidFill>
                            <a:srgbClr val="979799"/>
                          </a:solidFill>
                          <a:latin typeface="Arial"/>
                        </a:rPr>
                        <a:t>:i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 (-)—*(•“ ^</a:t>
                      </a:r>
                      <a:r>
                        <a:rPr lang="en-US" baseline="-25000" sz="1000">
                          <a:solidFill>
                            <a:srgbClr val="979799"/>
                          </a:solidFill>
                          <a:latin typeface="Arial"/>
                        </a:rPr>
                        <a:t>i: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 ;; </a:t>
                      </a:r>
                      <a:r>
                        <a:rPr lang="en-US" baseline="30000" sz="1000">
                          <a:solidFill>
                            <a:srgbClr val="979799"/>
                          </a:solidFill>
                          <a:latin typeface="Arial"/>
                        </a:rPr>
                        <a:t>(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~' ""</a:t>
                      </a:r>
                    </a:p>
                    <a:p>
                      <a:pPr algn="r" marR="2679700" indent="0"/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\ /</a:t>
                      </a:r>
                    </a:p>
                    <a:p>
                      <a:pPr algn="r" marR="2679700" indent="0"/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-&gt;-#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b="1" sz="3100">
                          <a:solidFill>
                            <a:srgbClr val="7C9D65"/>
                          </a:solidFill>
                          <a:latin typeface="Arial"/>
                        </a:rPr>
                        <a:t>©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- — -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317500" indent="0"/>
                      <a:r>
                        <a:rPr lang="en-US" b="1" sz="3100">
                          <a:solidFill>
                            <a:srgbClr val="F06566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0" marR="0" marT="0" marB="0"/>
                </a:tc>
              </a:tr>
              <a:tr h="1255776"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i="1" sz="1000" spc="-50">
                          <a:solidFill>
                            <a:srgbClr val="979799"/>
                          </a:solidFill>
                          <a:latin typeface="Arial"/>
                        </a:rPr>
                        <a:t>"f.t*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317500" marR="584200" indent="0">
                        <a:lnSpc>
                          <a:spcPts val="1152"/>
                        </a:lnSpc>
                      </a:pPr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.. 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- 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- </a:t>
                      </a:r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© </a:t>
                      </a:r>
                      <a:r>
                        <a:rPr lang="en-US" baseline="30000" sz="1000">
                          <a:solidFill>
                            <a:srgbClr val="89BDBD"/>
                          </a:solidFill>
                          <a:latin typeface="Arial"/>
                        </a:rPr>
                        <a:t>w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 </a:t>
                      </a:r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. </a:t>
                      </a:r>
                      <a:r>
                        <a:rPr lang="en-US" sz="1000">
                          <a:solidFill>
                            <a:srgbClr val="89BDBD"/>
                          </a:solidFill>
                          <a:latin typeface="Arial"/>
                        </a:rPr>
                        <a:t>— </a:t>
                      </a:r>
                      <a:r>
                        <a:rPr lang="en-US" sz="1000">
                          <a:solidFill>
                            <a:srgbClr val="979799"/>
                          </a:solidFill>
                          <a:latin typeface="Arial"/>
                        </a:rPr>
                        <a:t>- </a:t>
                      </a:r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177800" indent="0"/>
                      <a:r>
                        <a:rPr lang="en-US" sz="1000">
                          <a:solidFill>
                            <a:srgbClr val="7C9D65"/>
                          </a:solidFill>
                          <a:latin typeface="Arial"/>
                        </a:rPr>
                        <a:t>-•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6000"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"/>
          <p:cNvSpPr/>
          <p:nvPr/>
        </p:nvSpPr>
        <p:spPr>
          <a:xfrm>
            <a:off x="3962400" y="4925568"/>
            <a:ext cx="2212848" cy="164592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000">
                <a:solidFill>
                  <a:srgbClr val="979799"/>
                </a:solidFill>
                <a:latin typeface="Arial"/>
              </a:rPr>
              <a:t>Displaying 37 nodes, 34 relationships.</a:t>
            </a:r>
          </a:p>
        </p:txBody>
      </p:sp>
      <p:sp>
        <p:nvSpPr>
          <p:cNvPr id="11" name=""/>
          <p:cNvSpPr/>
          <p:nvPr/>
        </p:nvSpPr>
        <p:spPr>
          <a:xfrm>
            <a:off x="646176" y="5830824"/>
            <a:ext cx="457200" cy="1859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1500">
                <a:latin typeface="Arial"/>
              </a:rPr>
              <a:t>John</a:t>
            </a:r>
          </a:p>
        </p:txBody>
      </p:sp>
      <p:sp>
        <p:nvSpPr>
          <p:cNvPr id="12" name=""/>
          <p:cNvSpPr/>
          <p:nvPr/>
        </p:nvSpPr>
        <p:spPr>
          <a:xfrm>
            <a:off x="3322320" y="5846064"/>
            <a:ext cx="2063496" cy="83820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marL="914400" indent="0">
              <a:spcAft>
                <a:spcPts val="1680"/>
              </a:spcAft>
            </a:pPr>
            <a:r>
              <a:rPr lang="en-US" sz="1300" spc="50">
                <a:solidFill>
                  <a:srgbClr val="5C5B52"/>
                </a:solidFill>
                <a:latin typeface="Arial"/>
              </a:rPr>
              <a:t>Tx    </a:t>
            </a:r>
            <a:r>
              <a:rPr lang="en-US" sz="1500">
                <a:solidFill>
                  <a:srgbClr val="5C5B52"/>
                </a:solidFill>
                <a:latin typeface="Arial"/>
              </a:rPr>
              <a:t>Tx</a:t>
            </a:r>
          </a:p>
          <a:p>
            <a:pPr algn="just" indent="0"/>
            <a:r>
              <a:rPr lang="en-US" b="1" sz="3100">
                <a:solidFill>
                  <a:srgbClr val="B5E580"/>
                </a:solidFill>
                <a:latin typeface="Arial"/>
              </a:rPr>
              <a:t>✓ ✓    </a:t>
            </a:r>
            <a:r>
              <a:rPr lang="en-US" b="1" sz="3100">
                <a:solidFill>
                  <a:srgbClr val="7ED220"/>
                </a:solidFill>
                <a:latin typeface="Arial"/>
              </a:rPr>
              <a:t>✓</a:t>
            </a:r>
          </a:p>
        </p:txBody>
      </p:sp>
      <p:sp>
        <p:nvSpPr>
          <p:cNvPr id="13" name=""/>
          <p:cNvSpPr/>
          <p:nvPr/>
        </p:nvSpPr>
        <p:spPr>
          <a:xfrm>
            <a:off x="5769864" y="5852160"/>
            <a:ext cx="2051304" cy="8321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algn="just" indent="0">
              <a:lnSpc>
                <a:spcPts val="5184"/>
              </a:lnSpc>
            </a:pPr>
            <a:r>
              <a:rPr lang="en-US" sz="1500">
                <a:solidFill>
                  <a:srgbClr val="5C5B52"/>
                </a:solidFill>
                <a:latin typeface="Arial"/>
              </a:rPr>
              <a:t>Tx    Tx    Tx</a:t>
            </a:r>
          </a:p>
          <a:p>
            <a:pPr algn="just" indent="0">
              <a:lnSpc>
                <a:spcPts val="5184"/>
              </a:lnSpc>
            </a:pPr>
            <a:r>
              <a:rPr lang="en-US" b="1" sz="3100">
                <a:solidFill>
                  <a:srgbClr val="7ED220"/>
                </a:solidFill>
                <a:latin typeface="Arial"/>
              </a:rPr>
              <a:t>✓    ✓    ✓</a:t>
            </a:r>
          </a:p>
        </p:txBody>
      </p:sp>
      <p:graphicFrame>
        <p:nvGraphicFramePr>
          <p:cNvPr id="14" name=""/>
          <p:cNvGraphicFramePr>
            <a:graphicFrameLocks noGrp="1"/>
          </p:cNvGraphicFramePr>
          <p:nvPr/>
        </p:nvGraphicFramePr>
        <p:xfrm>
          <a:off x="8159496" y="5593080"/>
          <a:ext cx="2404872" cy="1091184"/>
        </p:xfrm>
        <a:graphic>
          <a:graphicData uri="http://schemas.openxmlformats.org/drawingml/2006/table">
            <a:tbl>
              <a:tblPr/>
              <a:tblGrid>
                <a:gridCol w="752856"/>
                <a:gridCol w="856488"/>
                <a:gridCol w="795528"/>
              </a:tblGrid>
              <a:tr h="594360"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1905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</a:tr>
              <a:tr h="496824">
                <a:tc>
                  <a:txBody>
                    <a:bodyPr lIns="0" tIns="0" rIns="0" bIns="0">
                      <a:noAutofit/>
                    </a:bodyPr>
                    <a:p>
                      <a:pPr marL="1905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667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3048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15" name=""/>
          <p:cNvSpPr/>
          <p:nvPr/>
        </p:nvSpPr>
        <p:spPr>
          <a:xfrm>
            <a:off x="10896600" y="5590032"/>
            <a:ext cx="2267712" cy="109423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1470"/>
              </a:spcAft>
            </a:pPr>
            <a:r>
              <a:rPr lang="en-US" baseline="30000" sz="1500">
                <a:solidFill>
                  <a:srgbClr val="5C5B52"/>
                </a:solidFill>
                <a:latin typeface="Arial"/>
              </a:rPr>
              <a:t>Tx Tx</a:t>
            </a:r>
          </a:p>
          <a:p>
            <a:pPr indent="0"/>
            <a:r>
              <a:rPr lang="en-US" b="1" sz="2000" spc="-50">
                <a:solidFill>
                  <a:srgbClr val="7ED220"/>
                </a:solidFill>
                <a:latin typeface="Arial"/>
              </a:rPr>
              <a:t>✓ ✓ </a:t>
            </a:r>
            <a:r>
              <a:rPr lang="en-US" b="1" sz="2000" spc="-50">
                <a:solidFill>
                  <a:srgbClr val="BD0F06"/>
                </a:solidFill>
                <a:latin typeface="Arial"/>
              </a:rPr>
              <a:t>$2000</a:t>
            </a:r>
          </a:p>
        </p:txBody>
      </p:sp>
      <p:sp>
        <p:nvSpPr>
          <p:cNvPr id="16" name=""/>
          <p:cNvSpPr/>
          <p:nvPr/>
        </p:nvSpPr>
        <p:spPr>
          <a:xfrm>
            <a:off x="15002256" y="5696712"/>
            <a:ext cx="911352" cy="4328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Computer</a:t>
            </a:r>
          </a:p>
          <a:p>
            <a:pPr marL="228600" indent="0"/>
            <a:r>
              <a:rPr lang="en-US" sz="1500">
                <a:latin typeface="Arial"/>
              </a:rPr>
              <a:t>Store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0" y="0"/>
            <a:ext cx="16258032" cy="9144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4666488" y="7656576"/>
            <a:ext cx="1011936" cy="545592"/>
          </a:xfrm>
          <a:prstGeom prst="rect">
            <a:avLst/>
          </a:prstGeom>
        </p:spPr>
      </p:pic>
      <p:sp>
        <p:nvSpPr>
          <p:cNvPr id="3" name=""/>
          <p:cNvSpPr/>
          <p:nvPr/>
        </p:nvSpPr>
        <p:spPr>
          <a:xfrm>
            <a:off x="4971288" y="749808"/>
            <a:ext cx="417576" cy="414528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Aft>
                <a:spcPts val="1680"/>
              </a:spcAft>
            </a:pPr>
            <a:r>
              <a:rPr lang="en-US" b="1" sz="4700">
                <a:latin typeface="Candara"/>
              </a:rPr>
              <a:t>©</a:t>
            </a:r>
          </a:p>
        </p:txBody>
      </p:sp>
      <p:graphicFrame>
        <p:nvGraphicFramePr>
          <p:cNvPr id="4" name=""/>
          <p:cNvGraphicFramePr>
            <a:graphicFrameLocks noGrp="1"/>
          </p:cNvGraphicFramePr>
          <p:nvPr/>
        </p:nvGraphicFramePr>
        <p:xfrm>
          <a:off x="566928" y="1469136"/>
          <a:ext cx="7254240" cy="5230368"/>
        </p:xfrm>
        <a:graphic>
          <a:graphicData uri="http://schemas.openxmlformats.org/drawingml/2006/table">
            <a:tbl>
              <a:tblPr/>
              <a:tblGrid>
                <a:gridCol w="688848"/>
                <a:gridCol w="1359408"/>
                <a:gridCol w="1310640"/>
                <a:gridCol w="856488"/>
                <a:gridCol w="1603248"/>
                <a:gridCol w="816864"/>
                <a:gridCol w="618744"/>
              </a:tblGrid>
              <a:tr h="576072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500">
                          <a:latin typeface="Arial"/>
                        </a:rPr>
                        <a:t>Karen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b="1" sz="3100">
                          <a:latin typeface="Arial"/>
                        </a:rPr>
                        <a:t>&amp;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800100" indent="0"/>
                      <a:r>
                        <a:rPr lang="en-US" sz="1500">
                          <a:solidFill>
                            <a:srgbClr val="C4C4C4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979799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54000" indent="0"/>
                      <a:r>
                        <a:rPr lang="en-US" b="1" sz="3100">
                          <a:latin typeface="Arial"/>
                        </a:rPr>
                        <a:t>1 </a:t>
                      </a:r>
                      <a:r>
                        <a:rPr lang="en-US" b="1" baseline="30000" sz="31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b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3100">
                          <a:solidFill>
                            <a:srgbClr val="EF9C2A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0" marR="0" marT="0" marB="0" anchor="ctr">
                    <a:solidFill>
                      <a:srgbClr val="FFE001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</a:tr>
              <a:tr h="682752">
                <a:tc>
                  <a:txBody>
                    <a:bodyPr lIns="0" tIns="0" rIns="0" bIns="0">
                      <a:noAutofit/>
                    </a:bodyPr>
                    <a:p>
                      <a:endParaRPr sz="3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41300" indent="0">
                        <a:spcAft>
                          <a:spcPts val="420"/>
                        </a:spcAft>
                      </a:pPr>
                      <a:r>
                        <a:rPr lang="en-US" b="1" sz="1700">
                          <a:solidFill>
                            <a:srgbClr val="EF9C2A"/>
                          </a:solidFill>
                          <a:latin typeface="Arial"/>
                        </a:rPr>
                        <a:t>$3</a:t>
                      </a:r>
                    </a:p>
                    <a:p>
                      <a:pPr algn="ctr" indent="0">
                        <a:spcAft>
                          <a:spcPts val="210"/>
                        </a:spcAft>
                      </a:pPr>
                      <a:r>
                        <a:rPr lang="en-US" sz="1500">
                          <a:latin typeface="Arial"/>
                        </a:rPr>
                        <a:t>1</a:t>
                      </a:r>
                    </a:p>
                    <a:p>
                      <a:pPr algn="ctr" indent="0"/>
                      <a:r>
                        <a:rPr lang="en-US" sz="1500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1700">
                          <a:solidFill>
                            <a:srgbClr val="EF9C2A"/>
                          </a:solidFill>
                          <a:latin typeface="Arial"/>
                        </a:rPr>
                        <a:t>$8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300"/>
                    </a:p>
                  </a:txBody>
                  <a:tcPr marL="0" marR="0" marT="0" marB="0"/>
                </a:tc>
              </a:tr>
              <a:tr h="688848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500">
                          <a:latin typeface="Arial"/>
                        </a:rPr>
                        <a:t>Robert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b="1" sz="3100">
                          <a:latin typeface="Arial"/>
                        </a:rPr>
                        <a:t>&amp;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700">
                          <a:solidFill>
                            <a:srgbClr val="F3E2C1"/>
                          </a:solidFill>
                          <a:latin typeface="Arial"/>
                        </a:rPr>
                        <a:t>rx I </a:t>
                      </a:r>
                      <a:r>
                        <a:rPr lang="en-US" sz="1500">
                          <a:solidFill>
                            <a:srgbClr val="C4C4C4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979799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>
                        <a:spcAft>
                          <a:spcPts val="210"/>
                        </a:spcAft>
                      </a:pPr>
                      <a:r>
                        <a:rPr lang="en-US" sz="1500">
                          <a:latin typeface="Arial"/>
                        </a:rPr>
                        <a:t>1</a:t>
                      </a:r>
                    </a:p>
                    <a:p>
                      <a:pPr algn="ctr" indent="0">
                        <a:spcAft>
                          <a:spcPts val="210"/>
                        </a:spcAft>
                      </a:pPr>
                      <a:r>
                        <a:rPr lang="en-US" sz="1500">
                          <a:latin typeface="Arial"/>
                        </a:rPr>
                        <a:t>1</a:t>
                      </a:r>
                    </a:p>
                    <a:p>
                      <a:pPr algn="ctr" indent="0">
                        <a:spcAft>
                          <a:spcPts val="210"/>
                        </a:spcAft>
                      </a:pP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 </a:t>
                      </a:r>
                      <a:r>
                        <a:rPr lang="en-US" baseline="30000" sz="1500">
                          <a:latin typeface="Arial"/>
                        </a:rPr>
                        <a:t>1</a:t>
                      </a:r>
                      <a:r>
                        <a:rPr lang="en-US" sz="1500">
                          <a:latin typeface="Arial"/>
                        </a:rPr>
                        <a:t> </a:t>
                      </a: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  <a:p>
                      <a:pPr algn="ctr" indent="0"/>
                      <a:r>
                        <a:rPr lang="en-US" sz="1500">
                          <a:latin typeface="Arial"/>
                        </a:rPr>
                        <a:t>i</a:t>
                      </a:r>
                    </a:p>
                  </a:txBody>
                  <a:tcPr marL="0" marR="0" marT="0" marB="0" anchor="b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</a:tr>
              <a:tr h="728472"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3100">
                          <a:solidFill>
                            <a:srgbClr val="B5E5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54000" indent="0">
                        <a:spcAft>
                          <a:spcPts val="630"/>
                        </a:spcAft>
                      </a:pPr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 </a:t>
                      </a:r>
                      <a:r>
                        <a:rPr lang="en-US" b="1" sz="3100">
                          <a:latin typeface="Arial"/>
                        </a:rPr>
                        <a:t>| </a:t>
                      </a:r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  <a:p>
                      <a:pPr algn="ctr" indent="0"/>
                      <a:r>
                        <a:rPr lang="en-US" sz="1500">
                          <a:latin typeface="Arial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3048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</a:tr>
              <a:tr h="716280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500">
                          <a:latin typeface="Arial"/>
                        </a:rPr>
                        <a:t>Sheila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b="1" sz="3100">
                          <a:latin typeface="Arial"/>
                        </a:rPr>
                        <a:t>&amp;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700">
                          <a:solidFill>
                            <a:srgbClr val="C4C4C4"/>
                          </a:solidFill>
                          <a:latin typeface="Arial"/>
                        </a:rPr>
                        <a:t>rx i </a:t>
                      </a:r>
                      <a:r>
                        <a:rPr lang="en-US" sz="1500">
                          <a:solidFill>
                            <a:srgbClr val="C4C4C4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979799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4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304800" indent="0"/>
                      <a:r>
                        <a:rPr lang="en-US" b="1" sz="3100">
                          <a:solidFill>
                            <a:srgbClr val="EF9C2A"/>
                          </a:solidFill>
                          <a:latin typeface="Arial"/>
                        </a:rPr>
                        <a:t>X</a:t>
                      </a:r>
                    </a:p>
                  </a:txBody>
                  <a:tcPr marL="0" marR="0" marT="0" marB="0" anchor="ctr">
                    <a:solidFill>
                      <a:srgbClr val="FFE001"/>
                    </a:solidFill>
                  </a:tcPr>
                </a:tc>
              </a:tr>
              <a:tr h="624840">
                <a:tc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41300" indent="0">
                        <a:lnSpc>
                          <a:spcPts val="1176"/>
                        </a:lnSpc>
                      </a:pPr>
                      <a:r>
                        <a:rPr lang="en-US" b="1" sz="2400" spc="-100">
                          <a:solidFill>
                            <a:srgbClr val="EF9C2A"/>
                          </a:solidFill>
                          <a:latin typeface="Candara"/>
                        </a:rPr>
                        <a:t>$2</a:t>
                      </a:r>
                      <a:r>
                        <a:rPr lang="en-US" b="1" sz="1700">
                          <a:solidFill>
                            <a:srgbClr val="EF9C2A"/>
                          </a:solidFill>
                          <a:latin typeface="Arial"/>
                        </a:rPr>
                        <a:t> </a:t>
                      </a:r>
                      <a:r>
                        <a:rPr lang="en-US" b="1" sz="3100">
                          <a:latin typeface="Arial"/>
                        </a:rPr>
                        <a:t>:</a:t>
                      </a:r>
                    </a:p>
                    <a:p>
                      <a:pPr algn="ctr" indent="0">
                        <a:lnSpc>
                          <a:spcPts val="1176"/>
                        </a:lnSpc>
                      </a:pPr>
                      <a:r>
                        <a:rPr lang="en-US" sz="1500">
                          <a:latin typeface="Arial"/>
                        </a:rPr>
                        <a:t>i</a:t>
                      </a:r>
                    </a:p>
                    <a:p>
                      <a:pPr algn="ctr" indent="0">
                        <a:lnSpc>
                          <a:spcPts val="1176"/>
                        </a:lnSpc>
                      </a:pPr>
                      <a:r>
                        <a:rPr lang="en-US" sz="1500">
                          <a:latin typeface="Arial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30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304800" indent="0"/>
                      <a:r>
                        <a:rPr lang="en-US" b="1" sz="1700">
                          <a:solidFill>
                            <a:srgbClr val="EF9C2A"/>
                          </a:solidFill>
                          <a:latin typeface="Arial"/>
                        </a:rPr>
                        <a:t>$3</a:t>
                      </a:r>
                    </a:p>
                  </a:txBody>
                  <a:tcPr marL="0" marR="0" marT="0" marB="0"/>
                </a:tc>
              </a:tr>
              <a:tr h="743712"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sz="1500">
                          <a:latin typeface="Arial"/>
                        </a:rPr>
                        <a:t>John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/>
                      <a:r>
                        <a:rPr lang="en-US" b="1" sz="3100">
                          <a:latin typeface="Arial"/>
                        </a:rPr>
                        <a:t>&amp;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1700">
                          <a:solidFill>
                            <a:srgbClr val="F3E2C1"/>
                          </a:solidFill>
                          <a:latin typeface="Arial"/>
                        </a:rPr>
                        <a:t>rx </a:t>
                      </a:r>
                      <a:r>
                        <a:rPr lang="en-US" sz="1500">
                          <a:solidFill>
                            <a:srgbClr val="F3E2C1"/>
                          </a:solidFill>
                          <a:latin typeface="Arial"/>
                        </a:rPr>
                        <a:t>j </a:t>
                      </a:r>
                      <a:r>
                        <a:rPr lang="en-US" sz="1500">
                          <a:solidFill>
                            <a:srgbClr val="C4C4C4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979799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092200" indent="0">
                        <a:spcAft>
                          <a:spcPts val="630"/>
                        </a:spcAft>
                      </a:pP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  <a:p>
                      <a:pPr algn="ctr" indent="0"/>
                      <a:r>
                        <a:rPr lang="en-US" sz="1500">
                          <a:latin typeface="Arial"/>
                        </a:rPr>
                        <a:t>|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</a:tr>
              <a:tr h="469392">
                <a:tc>
                  <a:txBody>
                    <a:bodyPr lIns="0" tIns="0" rIns="0" bIns="0">
                      <a:noAutofit/>
                    </a:bodyPr>
                    <a:p>
                      <a:endParaRPr sz="2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23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en-US" b="1" sz="3100">
                          <a:solidFill>
                            <a:srgbClr val="F3E2C1"/>
                          </a:solidFill>
                          <a:latin typeface="Arial"/>
                        </a:rPr>
                        <a:t>/ </a:t>
                      </a:r>
                      <a:r>
                        <a:rPr lang="en-US" b="1" sz="3100">
                          <a:solidFill>
                            <a:srgbClr val="B5E5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3100">
                          <a:solidFill>
                            <a:srgbClr val="B5E58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54000" indent="0"/>
                      <a:r>
                        <a:rPr lang="en-US" sz="3500" spc="-300">
                          <a:solidFill>
                            <a:srgbClr val="EF9C2A"/>
                          </a:solidFill>
                          <a:latin typeface="Corbel"/>
                        </a:rPr>
                        <a:t>$4</a:t>
                      </a:r>
                      <a:r>
                        <a:rPr lang="en-US" b="1" sz="3100">
                          <a:solidFill>
                            <a:srgbClr val="EF9C2A"/>
                          </a:solidFill>
                          <a:latin typeface="Arial"/>
                        </a:rPr>
                        <a:t> </a:t>
                      </a:r>
                      <a:r>
                        <a:rPr lang="en-US" b="1" sz="3100">
                          <a:latin typeface="Arial"/>
                        </a:rPr>
                        <a:t>; </a:t>
                      </a:r>
                      <a:r>
                        <a:rPr lang="en-US" i="1" sz="1000">
                          <a:solidFill>
                            <a:srgbClr val="7ED220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794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3048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5" name=""/>
          <p:cNvSpPr/>
          <p:nvPr/>
        </p:nvSpPr>
        <p:spPr>
          <a:xfrm>
            <a:off x="4501896" y="8354568"/>
            <a:ext cx="1319784" cy="22860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>
              <a:spcBef>
                <a:spcPts val="840"/>
              </a:spcBef>
            </a:pPr>
            <a:r>
              <a:rPr lang="en-US" sz="1900">
                <a:latin typeface="Arial"/>
              </a:rPr>
              <a:t>Gas Station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5510784" y="1225296"/>
            <a:ext cx="1240536" cy="838200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5522976" y="4090416"/>
            <a:ext cx="1173480" cy="954024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>
          <a:blip r:embed="rPictId2"/>
          <a:stretch>
            <a:fillRect/>
          </a:stretch>
        </p:blipFill>
        <p:spPr>
          <a:xfrm>
            <a:off x="5538216" y="5437632"/>
            <a:ext cx="1124712" cy="954024"/>
          </a:xfrm>
          <a:prstGeom prst="rect">
            <a:avLst/>
          </a:prstGeom>
        </p:spPr>
      </p:pic>
      <p:sp>
        <p:nvSpPr>
          <p:cNvPr id="5" name=""/>
          <p:cNvSpPr/>
          <p:nvPr/>
        </p:nvSpPr>
        <p:spPr>
          <a:xfrm>
            <a:off x="6952488" y="1487424"/>
            <a:ext cx="813816" cy="426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Furniture</a:t>
            </a:r>
          </a:p>
          <a:p>
            <a:pPr marL="177800" indent="0"/>
            <a:r>
              <a:rPr lang="en-US" sz="1500">
                <a:latin typeface="Arial"/>
              </a:rPr>
              <a:t>Store</a:t>
            </a:r>
          </a:p>
        </p:txBody>
      </p:sp>
      <p:graphicFrame>
        <p:nvGraphicFramePr>
          <p:cNvPr id="6" name=""/>
          <p:cNvGraphicFramePr>
            <a:graphicFrameLocks noGrp="1"/>
          </p:cNvGraphicFramePr>
          <p:nvPr/>
        </p:nvGraphicFramePr>
        <p:xfrm>
          <a:off x="67056" y="1402080"/>
          <a:ext cx="5017008" cy="5282184"/>
        </p:xfrm>
        <a:graphic>
          <a:graphicData uri="http://schemas.openxmlformats.org/drawingml/2006/table">
            <a:tbl>
              <a:tblPr/>
              <a:tblGrid>
                <a:gridCol w="774192"/>
                <a:gridCol w="841248"/>
                <a:gridCol w="896112"/>
                <a:gridCol w="941832"/>
                <a:gridCol w="691896"/>
                <a:gridCol w="871728"/>
              </a:tblGrid>
              <a:tr h="1344168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>
                        <a:spcAft>
                          <a:spcPts val="420"/>
                        </a:spcAft>
                      </a:pPr>
                      <a:r>
                        <a:rPr lang="en-US" b="1" sz="3100">
                          <a:solidFill>
                            <a:srgbClr val="EF9C2A"/>
                          </a:solidFill>
                          <a:latin typeface="Arial"/>
                        </a:rPr>
                        <a:t>X</a:t>
                      </a:r>
                    </a:p>
                    <a:p>
                      <a:pPr marL="254000" indent="0"/>
                      <a:r>
                        <a:rPr lang="en-US" b="1" sz="2000" spc="-50">
                          <a:solidFill>
                            <a:srgbClr val="EF9C2A"/>
                          </a:solidFill>
                          <a:latin typeface="Arial"/>
                        </a:rPr>
                        <a:t>$12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03200" indent="0">
                        <a:spcAft>
                          <a:spcPts val="420"/>
                        </a:spcAft>
                      </a:pPr>
                      <a:r>
                        <a:rPr lang="en-US" b="1" sz="5000">
                          <a:solidFill>
                            <a:srgbClr val="BD0F06"/>
                          </a:solidFill>
                          <a:latin typeface="Arial"/>
                        </a:rPr>
                        <a:t>•</a:t>
                      </a:r>
                    </a:p>
                    <a:p>
                      <a:pPr marL="203200" indent="0"/>
                      <a:r>
                        <a:rPr lang="en-US" b="1" sz="2000" spc="-50">
                          <a:solidFill>
                            <a:srgbClr val="BD0F06"/>
                          </a:solidFill>
                          <a:latin typeface="Arial"/>
                        </a:rPr>
                        <a:t>$1500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413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/>
                </a:tc>
              </a:tr>
              <a:tr h="667512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  <a:tc>
                  <a:txBody>
                    <a:bodyPr lIns="0" tIns="0" rIns="0" bIns="0">
                      <a:noAutofit/>
                    </a:bodyPr>
                    <a:p>
                      <a:pPr algn="r" marR="2413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>
                    <a:solidFill>
                      <a:srgbClr val="DADFE5"/>
                    </a:solidFill>
                  </a:tcPr>
                </a:tc>
              </a:tr>
              <a:tr h="667512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3302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032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3683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ctr"/>
                </a:tc>
              </a:tr>
              <a:tr h="1335024"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114300" indent="0">
                        <a:spcAft>
                          <a:spcPts val="210"/>
                        </a:spcAft>
                      </a:pPr>
                      <a:r>
                        <a:rPr lang="en-US" b="1" sz="5000">
                          <a:solidFill>
                            <a:srgbClr val="BD0F06"/>
                          </a:solidFill>
                          <a:latin typeface="Arial"/>
                        </a:rPr>
                        <a:t>•</a:t>
                      </a:r>
                    </a:p>
                    <a:p>
                      <a:pPr marL="114300" indent="0"/>
                      <a:r>
                        <a:rPr lang="en-US" b="1" sz="2000" spc="-50">
                          <a:solidFill>
                            <a:srgbClr val="BD0F06"/>
                          </a:solidFill>
                          <a:latin typeface="Arial"/>
                        </a:rPr>
                        <a:t>$3000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marR="127000" indent="0"/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</a:txBody>
                  <a:tcPr marL="0" marR="0" marT="0" marB="0" anchor="ctr"/>
                </a:tc>
              </a:tr>
              <a:tr h="1267968">
                <a:tc>
                  <a:txBody>
                    <a:bodyPr lIns="0" tIns="0" rIns="0" bIns="0">
                      <a:noAutofit/>
                    </a:bodyPr>
                    <a:p>
                      <a:pPr indent="0">
                        <a:spcAft>
                          <a:spcPts val="840"/>
                        </a:spcAft>
                      </a:pPr>
                      <a:r>
                        <a:rPr lang="en-US" b="1" sz="5000">
                          <a:solidFill>
                            <a:srgbClr val="FDD706"/>
                          </a:solidFill>
                          <a:latin typeface="Arial"/>
                        </a:rPr>
                        <a:t>•</a:t>
                      </a:r>
                    </a:p>
                    <a:p>
                      <a:pPr marL="215900" indent="0"/>
                      <a:r>
                        <a:rPr lang="en-US" b="1" sz="2000" spc="-50">
                          <a:solidFill>
                            <a:srgbClr val="EF9C2A"/>
                          </a:solidFill>
                          <a:latin typeface="Arial"/>
                        </a:rPr>
                        <a:t>$10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54000" indent="0">
                        <a:spcAft>
                          <a:spcPts val="1680"/>
                        </a:spcAft>
                      </a:pP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  <a:p>
                      <a:pPr marL="2540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>
                        <a:spcAft>
                          <a:spcPts val="1680"/>
                        </a:spcAft>
                      </a:pP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  <a:p>
                      <a:pPr marL="3302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342900" indent="0">
                        <a:spcAft>
                          <a:spcPts val="1680"/>
                        </a:spcAft>
                      </a:pPr>
                      <a:r>
                        <a:rPr lang="en-US" b="1" sz="3100">
                          <a:solidFill>
                            <a:srgbClr val="EF9C2A"/>
                          </a:solidFill>
                          <a:latin typeface="Arial"/>
                        </a:rPr>
                        <a:t>X</a:t>
                      </a:r>
                    </a:p>
                    <a:p>
                      <a:pPr marL="203200" indent="0"/>
                      <a:r>
                        <a:rPr lang="en-US" b="1" sz="2000" spc="-50">
                          <a:solidFill>
                            <a:srgbClr val="EF9C2A"/>
                          </a:solidFill>
                          <a:latin typeface="Arial"/>
                        </a:rPr>
                        <a:t>$25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215900" indent="0">
                        <a:spcAft>
                          <a:spcPts val="1680"/>
                        </a:spcAft>
                      </a:pPr>
                      <a:r>
                        <a:rPr lang="en-US" sz="1500">
                          <a:solidFill>
                            <a:srgbClr val="5C5B52"/>
                          </a:solidFill>
                          <a:latin typeface="Arial"/>
                        </a:rPr>
                        <a:t>Tx</a:t>
                      </a:r>
                    </a:p>
                    <a:p>
                      <a:pPr marL="215900" indent="0"/>
                      <a:r>
                        <a:rPr lang="en-US" b="1" sz="3100">
                          <a:solidFill>
                            <a:srgbClr val="7ED220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0" marR="0" marT="0" marB="0" anchor="b"/>
                </a:tc>
                <a:tc>
                  <a:txBody>
                    <a:bodyPr lIns="0" tIns="0" rIns="0" bIns="0">
                      <a:noAutofit/>
                    </a:bodyPr>
                    <a:p>
                      <a:pPr marL="165100" indent="0">
                        <a:spcAft>
                          <a:spcPts val="840"/>
                        </a:spcAft>
                      </a:pPr>
                      <a:r>
                        <a:rPr lang="en-US" b="1" sz="5000">
                          <a:solidFill>
                            <a:srgbClr val="BD0F06"/>
                          </a:solidFill>
                          <a:latin typeface="Arial"/>
                        </a:rPr>
                        <a:t>•</a:t>
                      </a:r>
                    </a:p>
                    <a:p>
                      <a:pPr marL="165100" indent="0"/>
                      <a:r>
                        <a:rPr lang="en-US" b="1" sz="2000" spc="-50">
                          <a:solidFill>
                            <a:srgbClr val="BD0F06"/>
                          </a:solidFill>
                          <a:latin typeface="Arial"/>
                        </a:rPr>
                        <a:t>$2000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7" name=""/>
          <p:cNvSpPr/>
          <p:nvPr/>
        </p:nvSpPr>
        <p:spPr>
          <a:xfrm>
            <a:off x="6992112" y="4306824"/>
            <a:ext cx="722376" cy="426720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Jewelry</a:t>
            </a:r>
          </a:p>
          <a:p>
            <a:pPr marL="139700" indent="0"/>
            <a:r>
              <a:rPr lang="en-US" sz="1500">
                <a:latin typeface="Arial"/>
              </a:rPr>
              <a:t>Store</a:t>
            </a:r>
          </a:p>
        </p:txBody>
      </p:sp>
      <p:sp>
        <p:nvSpPr>
          <p:cNvPr id="8" name=""/>
          <p:cNvSpPr/>
          <p:nvPr/>
        </p:nvSpPr>
        <p:spPr>
          <a:xfrm>
            <a:off x="6909816" y="5696712"/>
            <a:ext cx="923544" cy="43281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210"/>
              </a:spcAft>
            </a:pPr>
            <a:r>
              <a:rPr lang="en-US" sz="1500">
                <a:latin typeface="Arial"/>
              </a:rPr>
              <a:t>Computer</a:t>
            </a:r>
          </a:p>
          <a:p>
            <a:pPr marL="228600" indent="0"/>
            <a:r>
              <a:rPr lang="en-US" sz="1500">
                <a:latin typeface="Arial"/>
              </a:rPr>
              <a:t>Store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127248" y="646176"/>
            <a:ext cx="10884408" cy="84978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14758416" y="8339328"/>
            <a:ext cx="344424" cy="341376"/>
          </a:xfrm>
          <a:prstGeom prst="rect">
            <a:avLst/>
          </a:prstGeom>
        </p:spPr>
      </p:pic>
      <p:pic>
        <p:nvPicPr>
          <p:cNvPr id="3" name=""/>
          <p:cNvPicPr>
            <a:picLocks noChangeAspect="1"/>
          </p:cNvPicPr>
          <p:nvPr/>
        </p:nvPicPr>
        <p:blipFill>
          <a:blip r:embed="rPictId1"/>
          <a:stretch>
            <a:fillRect/>
          </a:stretch>
        </p:blipFill>
        <p:spPr>
          <a:xfrm>
            <a:off x="0" y="8945880"/>
            <a:ext cx="16254984" cy="198120"/>
          </a:xfrm>
          <a:prstGeom prst="rect">
            <a:avLst/>
          </a:prstGeom>
        </p:spPr>
      </p:pic>
      <p:sp>
        <p:nvSpPr>
          <p:cNvPr id="4" name=""/>
          <p:cNvSpPr/>
          <p:nvPr/>
        </p:nvSpPr>
        <p:spPr>
          <a:xfrm>
            <a:off x="1167384" y="1231392"/>
            <a:ext cx="9799320" cy="511454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Aft>
                <a:spcPts val="3780"/>
              </a:spcAft>
            </a:pPr>
            <a:r>
              <a:rPr lang="en-US" b="1" sz="5800">
                <a:latin typeface="Tahoma"/>
              </a:rPr>
              <a:t>Questions</a:t>
            </a:r>
          </a:p>
          <a:p>
            <a:pPr algn="just" indent="0">
              <a:spcAft>
                <a:spcPts val="1890"/>
              </a:spcAft>
            </a:pPr>
            <a:r>
              <a:rPr lang="en-US" sz="3400">
                <a:solidFill>
                  <a:srgbClr val="5C5B52"/>
                </a:solidFill>
                <a:latin typeface="Arial"/>
              </a:rPr>
              <a:t>1.    What is the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Tool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Max uses for Modeling?</a:t>
            </a:r>
          </a:p>
          <a:p>
            <a:pPr algn="just" indent="0">
              <a:spcAft>
                <a:spcPts val="1890"/>
              </a:spcAft>
            </a:pPr>
            <a:r>
              <a:rPr lang="en-US" sz="3400">
                <a:solidFill>
                  <a:srgbClr val="5C5B52"/>
                </a:solidFill>
                <a:latin typeface="Arial"/>
              </a:rPr>
              <a:t>2.    Up to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how many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relationship types can I use?</a:t>
            </a:r>
          </a:p>
          <a:p>
            <a:pPr algn="just" marL="901700" indent="0">
              <a:lnSpc>
                <a:spcPts val="5112"/>
              </a:lnSpc>
            </a:pPr>
            <a:r>
              <a:rPr lang="en-US" i="1" sz="2800">
                <a:solidFill>
                  <a:srgbClr val="5C5B52"/>
                </a:solidFill>
                <a:latin typeface="Arial"/>
              </a:rPr>
              <a:t>A.    8192</a:t>
            </a:r>
          </a:p>
          <a:p>
            <a:pPr algn="just" marL="901700" indent="0">
              <a:lnSpc>
                <a:spcPts val="5112"/>
              </a:lnSpc>
            </a:pPr>
            <a:r>
              <a:rPr lang="en-US" i="1" sz="2800">
                <a:solidFill>
                  <a:srgbClr val="5C5B52"/>
                </a:solidFill>
                <a:latin typeface="Arial"/>
              </a:rPr>
              <a:t>B.    32768</a:t>
            </a:r>
          </a:p>
          <a:p>
            <a:pPr algn="just" marL="901700" indent="0">
              <a:lnSpc>
                <a:spcPts val="5112"/>
              </a:lnSpc>
            </a:pPr>
            <a:r>
              <a:rPr lang="en-US" i="1" sz="2800">
                <a:solidFill>
                  <a:srgbClr val="5C5B52"/>
                </a:solidFill>
                <a:latin typeface="Arial"/>
              </a:rPr>
              <a:t>C.    65536</a:t>
            </a:r>
          </a:p>
          <a:p>
            <a:pPr algn="just" indent="0"/>
            <a:r>
              <a:rPr lang="en-US" sz="3400">
                <a:solidFill>
                  <a:srgbClr val="5C5B52"/>
                </a:solidFill>
                <a:latin typeface="Arial"/>
              </a:rPr>
              <a:t>3.    What is the </a:t>
            </a:r>
            <a:r>
              <a:rPr lang="en-US" b="1" sz="3100">
                <a:solidFill>
                  <a:srgbClr val="5C5B52"/>
                </a:solidFill>
                <a:latin typeface="Arial"/>
              </a:rPr>
              <a:t>secret </a:t>
            </a:r>
            <a:r>
              <a:rPr lang="en-US" sz="3400">
                <a:solidFill>
                  <a:srgbClr val="5C5B52"/>
                </a:solidFill>
                <a:latin typeface="Arial"/>
              </a:rPr>
              <a:t>to Neo4j?</a:t>
            </a:r>
          </a:p>
        </p:txBody>
      </p:sp>
      <p:sp>
        <p:nvSpPr>
          <p:cNvPr id="5" name=""/>
          <p:cNvSpPr/>
          <p:nvPr/>
        </p:nvSpPr>
        <p:spPr>
          <a:xfrm>
            <a:off x="15163800" y="8327136"/>
            <a:ext cx="844296" cy="350520"/>
          </a:xfrm>
          <a:prstGeom prst="rect">
            <a:avLst/>
          </a:prstGeom>
        </p:spPr>
        <p:txBody>
          <a:bodyPr lIns="0" tIns="0" rIns="0" bIns="0" wrap="none">
            <a:noAutofit/>
          </a:bodyPr>
          <a:p>
            <a:pPr indent="0"/>
            <a:r>
              <a:rPr lang="en-US" sz="2700" spc="-50">
                <a:solidFill>
                  <a:srgbClr val="979799"/>
                </a:solidFill>
                <a:latin typeface="Arial"/>
              </a:rPr>
              <a:t>neo/|j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"/>
          <p:cNvPicPr>
            <a:picLocks noChangeAspect="1"/>
          </p:cNvPicPr>
          <p:nvPr/>
        </p:nvPicPr>
        <p:blipFill>
          <a:blip r:embed="rPictId0"/>
          <a:stretch>
            <a:fillRect/>
          </a:stretch>
        </p:blipFill>
        <p:spPr>
          <a:xfrm>
            <a:off x="3136392" y="652272"/>
            <a:ext cx="10875264" cy="849172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>Data Modeling Tricks-pdf</dc:title>
  <dc:subject/>
  <dc:creator/>
  <cp:keywords/>
</cp:coreProperties>
</file>